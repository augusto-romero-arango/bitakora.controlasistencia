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 Fred Brooks, "No Silver Bullet — Essence and Accident in Software Engineering", 1986 (ensayo integrado después a la 2ª ed. de The Mythical Man-Month, 1995). El interrogante del título es intencional: la charla es la demostración. No se adelanta respuesta aquí. Se instala la sentencia de Brooks y se deja la pregunta abierta para que los próximos slides la respondan con el marco accidental/esencial. Tono interno corporativo — no es TEDx ni conferencia pública.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de evaluación. Brooks sigue a Aristóteles: essence and accident. No adelantar conclusión aquí. Solo instalar el marco para los dos slides siguientes. Ritmo: leer con calma. Enfatizar "inherentes" vs "contingentes".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explícito: la IA atacó el accidente con éxito real. Brooks era claro: el accidente sí es atacable. Su argumento era que ya habíamos agotado el jugo. La IA demostró que no del todo. No adelantar la crítica — eso viene en el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Scorecard explícito de las 4 dificultades esenciales contra la IA. No hay tesis de cierre — los puntos hablan solos (decisión explícita del usuario). Citas ya presentes en otras partes del deck: METR, DORA, Karpathy. Ritmo: leer los 4 en secuencia. No enfatizar ninguno. Dejar que el público ate cabos.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"The days of writing code by hand are coming to an end." Meijer dedicó su vida a hacer más fácil escribir código. Que él diga esto no es marketing. Frase hermana: "We are going to be the last generation of developers to write code by hand, so let's have fun doing it." Kim &amp; Yegge abren Vibe Coding con esta cita — anchor narrativo del libro. Ritmo: leer, pausa larga, pasar sin comentar.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"There's a new kind of coding I call 'vibe coding', where you fully give in to the vibes, embrace exponentials, and forget that the code even exists." Tweet "throwaway" un sábado por la noche; 4.5M views; dio nombre al movimiento. Karpathy fundó OpenAI y lideró Autopilot en Tesla. Kim &amp; Yegge tomaron el término y lo convirtieron en disciplina. Ritmo: leer despacio, pausa larga, pasar sin comentar.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"What we are finding is that we're 3 to 6 months from a world where AI is writing 90 percent of the code. And then in 12 months, we may be in a world where AI is writing essentially all of the code." Amodei fue VP of Research en OpenAI (lideró GPT-2 y GPT-3) antes de fundar Anthropic. Habla desde quien construye los modelos. Hoy el timeline no se cumplió al pie de la letra — Daring Fireball publicó un "claim chowder" en marzo 2026. Fuera del slide. Se maneja en Q&amp;A. Seis meses después del primer anuncio Amodei confirmó: "Within Anthropic and within a number of companies that we work with, that is absolutely true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"100% of my code is written by Claude Code. I have not edited a single line by hand since November. Every day I ship 10, 20, 30 pull requests." Cita tomada directamente del transcript del episodio (apertura del podcast, ~0:00). Cherny lidera Claude Code. Es quien construye la herramienta y habla de sí mismo. Otras citas del mismo episodio: - "Coding is largely solved." (min. 9:20 aprox.) - "By the end of the year the title software engineer is going to start to go away and it's just going to be replaced by builder. And it's going to be painful for a lot of people." - "On the Claude Code team, everyone codes. Our product manager codes, our engineering manager codes, our designer codes." Anclaje narrativo: Meijer declara el fin, Karpathy lo nombra, Amodei predice el timeline, Cherny lo vive en primera persona. Ritmo: leer con pausas entre las tres frases. La tercera ("10, 20, 30 pull requests") es el puñetazo — dejar que aterrice.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"Don't fall prey to the tempting work-deferral trap. Saying 'It'll be way faster in 6 months, so I'll just push this work out 6 months' is like saying, 'I'm going to wait until traffic dies down.' Your drive will be shorter, sure. But you will arrive last." Kim &amp; Yegge usan este pasaje en el arranque del libro como anclaje del work-deferral trap. Por qué pega: el líder senior con poca mano en el código es el target exacto del argumento. "Mejor espero a que madure" es la trampa concreta que queremos desmontar. Quién es Yegge: décadas en Amazon, Google, Grab, Sourcegraph. Blogger legendario. Ritmo: leer completo. Pausa larga tras "llegarás de último".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"The focus is throughput: creation and correction at the speed of thought." / "In Gas Town, you let Claude Code do its thing. You are a Product Manager, and Gas Town is an Idea Compiler." Gas Town es un orquestador de agentes que Yegge construyó y liberó en enero 2026. En 12 días: 100+ PRs, ~50 contribuidores, 189k líneas de Go. El punto: ya no es "usar IA para escribir código" — es "orquestar decenas de agentes". Yegge dice que tiene 20-30 Claudes trabajando en paralelo. El oficio cambió. Mencionar al pasar "The AI Vampire" (feb 2026) que cuenta el lado oscuro: fatiga, burnout. Sweet spot del día de trabajo nuevo: 3-4 horas.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transición entre voces de la promesa y voces críticas. Pausa. Cambio de tono. El auditorio necesita saber que no vamos a ignorar el miedo legítimo.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libro "Vibe Coding" (Kim &amp; Yegge, 2025). Cita textual: "I told my team, there will be no vibe coding while I'm on call." Resumen del párrafo: Jessie Young, Principal Engineer en GitLab, traza una línea dura. Entiende que si codificar se vuelve sin fricción, la responsabilidad se puede difuminar demasiado. Pertenece a un grupo central de ingeniería que recibe la página cuando cualquier servicio core de GitLab tiene un outage en producción. Su peor pesadilla es que cada equipo apague el cerebro, empiece a vibe coding con abandono imprudente, empuje código a medio hacer a producción, y la despierten a las 2 a.m. a apagar incendios. Frase hermana del artículo original en IT Revolution: "Tell me we're at least going to test these AI-generated systems before we start taking people's money." Esta es la contravoz legítima. No es tecnofobia: es responsabilidad real sobre producción con SLA. Ritmo: leer la cita dura con fuerza. Pausar. Bajar la voz para el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https://dora.dev/research/2024/dora-report/ y https://dora.dev/ai/gen-ai-report/ El 76 % de los desarrolladores usan IA para alguna tarea diaria. La adopción subió la calidad de la documentación 7.5 %, la calidad del código 3.4 % y la velocidad de revisión 3.1 %. PERO: el throughput de entrega bajó 1.5 % y la estabilidad 7.2 %. Explicación candidata (Vacuum Hypothesis): el tiempo liberado por la IA se absorbe en otras tareas de bajo valor, en vez de traducirse en más delivery valioso. Nathen Harvey (DORA lead, Google Cloud): probablemente el código escrito por IA necesita arreglos antes de producción que consumen el tiempo ganado. DORA es el organismo que define qué es "alto desempeño" en entrega de software. Sus métricas son la referencia de la industria desde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https://metr.org/blog/2025-07-10-early-2025-ai-experienced-os-dev-study/ — Paper: https://arxiv.org/abs/2507.09089 16 devs con 5+ años de experiencia en repos maduros (22k+ estrellas, 1M+ líneas de código). 246 tareas asignadas aleatoriamente a "con IA" o "sin IA". Resultado: con IA, 19 % MÁS LENTOS. Usaban principalmente Cursor Pro con Claude 3.5/3.7 Sonnet (state of the art en ese momento). El dato más perturbador: el "perception gap". Ni antes ni después del estudio los devs reconocieron la lentitud. "Siento que soy más productivo con IA" no es evidencia de nada. Implicación: si no se mide, no se sabe. La intuición no basta. METR corrió el estudio más riguroso hasta la fecha sobre productividad con IA. RCT, no encuesta, no autoreporte.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libro y los autores. Gene Kim: autor de The Phoenix Project y The DevOps Handbook. Steve Yegge: décadas en Amazon, Google, Grab, Sourcegraph. Blogger legendario. Editorial: IT Revolution,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FAAFO desplaza a "debugging" como loop mental dominante. Antes se preguntaba "¿cómo encuentro el bug?"; ahora se pregunta "¿qué tan rápido puedo iterar entre FAAFO?". Ambitious: atacar problemas que antes no se intentaban. Autonomous: delegar al agente con supervisión ligera. Optionality: probar 3 caminos donde antes solo se podía probar 1. Fuente: libro Vibe Coding + review de Mike Hadlow.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Inner loop: ocurre en el editor. La métrica natural es "¿cuánto tardo en aceptar o rechazar una sugerencia?". Casi todos están aquí. Pero quedarse solo aquí es subexplotar el agente. Middle loop: donde se construye la disciplina de orquestación. ADRs, planes persistidos, notas para el agente, repos de prompts. Harness engineering vive aquí. Outer loop: el que diferencia a los equipos que crecen con IA de los que se ahogan. Aquí vive todo lo que sigue: arquitectura que favorece agentes, capa 3 de la organización, DORA como espejo. Fuente: https://itrevolution.com/articles/the-three-developer-loops-a-new-framework-for-ai-assisted-coding/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externo (6 pasos, agéntico): 1. Separar subtarea del trabajo grande. 2. Iniciar conversación con la IA. 3. Crear el plan junto con la IA. 4. Dejar que la IA ejecute el plan &lt;- aquí vive el loop interno tradicional. 5. Probar y verificar el resultado. 6. Refinar e iterar -&gt; vuelve a 1. Loop interno (5 sub-pasos, tradicional): A. Escribir código. B. Compilar. C. Ejecutar. D. Probar. E. Depurar -&gt; vuelve a A (o sale a 4/5). El punto narrativo: el inner loop (lo que siempre hicimos) se colapsa dentro de UN paso del outer loop. La IA reduce el inner, pero introduce un bucle externo nuevo donde vive el oficio del desarrollador (descomponer, conversar, planear, verificar, iterar). Fuente: Vibe Coding, capítulo 12 aprox. (pág. 177 de la edición impresa).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6 principios que hacen que el outer loop funcione, tomados del libro (cap. 12, "Key practices to remember as you set out"). Este slide y el siguiente los presentan en dos tandas de tres. Metáfora de cocina del autor: tu cocina, tu toque (gorro de chef), aprendiz, sous chef, team lead. Mantenerla al narrar — es el anclaje del libro. Ritmo al leer: rápido, sin detenerse. No son para memorizar. La imagen que queda: dirigir una IA es un oficio nuevo que se aprende haciéndolo, no ES "usar IA". Hacer notar FAAFO en el último punto: Fast, Ambitious, Autonomous, Fun, Optionality.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6 principios que hacen que el outer loop funcione, tomados del libro (cap. 12, "Key practices to remember as you set out"). Este slide y el siguiente los presentan en dos tandas de tres. Metáfora de cocina del autor: tu cocina, tu toque (gorro de chef), aprendiz, sous chef, team lead. Mantenerla al narrar — es el anclaje del libro. Ritmo al leer: rápido, sin detenerse. No son para memorizar. La imagen que queda: dirigir una IA es un oficio nuevo que se aprende haciéndolo, no ES "usar IA". Hacer notar FAAFO en el último punto: Fast, Ambitious, Autonomous, Fun, Optionality.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textuales del libro. Nada inventado. - Piloto que escaló de 500 a 700 devs en un año. El más grande del espacio enterprise. - Outcomes oficiales: 91 % satisfacción, 20-30 % ganancias de productividad, 82 % engagement diario. - Happy Time promedio: 47 % (estudio 2018 de Adidas) vs 65 % (2024, post vibe coding). +18 puntos porcentuales. - Adidas ya partía arriba de la media Gartner (20-25 % en IDE). Llegaban a 36 % en "coding and testing" por su inversión previa en plataformas. - Happy Time = trabajo valioso (coding, testing, analysis, design, docs). Annoying Time = troubleshooting de envs, wrestling legacy, permisos, meetings innecesarias, fricción organizacional. - Narrativa: el número global se ve bien, pero oculta dos realidades. Esa es la transición al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slide del caso Adidas. Aquí aterriza el "asterisco crítico" del slide anterior. Números textuales del libro (pág. 278): - Equipos loosely coupled (e-commerce): hasta 80 % Happy Time, uno llegaba a 70 % solo en el IDE. - Equipos tightly coupled al ERP corporativo: solo 30 % Happy Time, 70 % perdido en fricción. Diferenciador: capa 3 (arquitectura organizacional/técnica), no capa 1 (skill del dev) ni capa 2 (tooling de IA). Cita de Fernando literal del libro (pág. 279, traducida). Theory of Constraints (Goldratt, The Goal): "any improvement not made at the constraint is an illusion". El libro lo compara con optimizar el prep station mientras el horno está roto. Punto narrativo: bisagra hacia el acto III. La IA amplifica la arquitectura que ya tienes. Si es buena, FAAFO. Si es legacy + testing manual + deploys semestrales, la IA ni se nota — o incluso frustra.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6 habilidades del capítulo 19 del libro, presentadas en dos tandas de tres: 1. Code Reading — ser speed-reader con ojo para anomalías. El humano es backstop. 2. Precise and Articulate Communication — "Writing is thinking" (David McCullough). 3. Concentration — varios agentes en paralelo, problemas grandes en la cabeza. 4. Version control discipline + merge expertise — múltiples fuentes humanas y de IA. 5. Software Modularity and Architecture — diseñar sistemas grandes es lo central, no memorizar sintaxis. 6. Entrepreneurial Awareness — conocer business models, pitchear, colaborar cross-discipline. La bajada viene del párrafo "What Skills to Learn": los principios tradicionales no se devaluaron — se volvieron MÁS importantes porque las herramientas cambian rápido. Ritmo: leer los títulos, no las descripciones. El detalle lo discutimos después si preguntan. Punto narrativo para líderes: su experiencia no se devaluó. Se volvió la palanca dominante.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6 habilidades del capítulo 19 del libro, presentadas en dos tandas de tres: 1. Code Reading — ser speed-reader con ojo para anomalías. El humano es backstop. 2. Precise and Articulate Communication — "Writing is thinking" (David McCullough). 3. Concentration — varios agentes en paralelo, problemas grandes en la cabeza. 4. Version control discipline + merge expertise — múltiples fuentes humanas y de IA. 5. Software Modularity and Architecture — diseñar sistemas grandes es lo central, no memorizar sintaxis. 6. Entrepreneurial Awareness — conocer business models, pitchear, colaborar cross-discipline. La bajada viene del párrafo "What Skills to Learn": los principios tradicionales no se devaluaron — se volvieron MÁS importantes porque las herramientas cambian rápido. Ritmo: leer los títulos, no las descripciones. El detalle lo discutimos después si preguntan. Punto narrativo para líderes: su experiencia no se devaluó. Se volvió la palanca dominante.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consejos accionables extraídos del capítulo de conclusión del libro (pág. 311). Imperativo exhortativo en primera plural. 1. Start small, start today. "By the tenth iteration you'll notice the conversation feels less like tooling and more like leading." 2. Pager test. "Document your kitchen rules, keep the repo immaculate, and remember the pager test: If an agent-authored commit can wake someone at 2 a.m., the owner's name had better be crystal clear." Conecta con Jessie Young. 3. Make curiosity contagious. "Put a token-burn leaderboard on the wall, host a lunchtime demo, file a pull request to the team prompt catalog. The fastest way to raise quality is to make curiosity contagious." 4. Mindset &gt; feature matrix. "Your advantage is not memorizing these feature matrices; it's the mindset you carry forward: modularity, feedback, judgment." BISAGRA al acto siguiente: modularidad = EDA/Serverless, feedback = DORA, juicio = arquitectura. Este slide cierra "Vibe coding como oficio" y abre "Arquitectura que favorece al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Enlaza con Adidas: el Happy Time fue mayor en arquitecturas desacopladas. Cada componente resuelve una fricción específica. La sección cierra con DORA como espejo (instrumento de verificación). Mensaje: no es agenda arquitectónica impuesta — son atributos que ya se eligieron en ControlAsistencia y que se ven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Fricción real hoy: coordinar entre módulos acoplados. EDA permite volumen de cambios asistidos por IA sin que el sistema se parta. Si el agente produce 10x o 100x más cambios, el costo de coordinar cada cambio tiene que ser ~cero. EDA lo logra. Contrasta con monolitos con stored procs compartidos y tablas compartidas entre equipos: un agente ahí no puede moverse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verdad vive en los eventos (append-only). El estado se proyecta desde ahí. Persistencia sin migraciones traumáticas; historia completa para IA y para trazabilidad legal. Marten solo se menciona en la pasada, no aparece en el slide. Cambios de diseño = nuevas proyecciones, no ALTER TABLE con downtime. El historial completo es contexto para el agente. Cuando un incidente pasa, el agente puede reconstruir qué pasó y cuándo.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la IA: los agentes escriben código a volumen; si el código es pasivo, hay que ser deliberados. Sirve de puente al slide de IaC. Reframe tomado de "The Value Flywheel Effect" (cap. de conclusión — "code is a liability"). Cita: "Un enfoque serverless-first asegura carga operativa baja y ciclos de retroalimentación rápidos." PENDIENTE visual: portada del libro al lado de la 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Clickops rompe la cadena automatización -&gt; repetibilidad; la IA no navega portales gráficos. En la pasada se amplía: HCL = HashiCorp Configuration Language, el lenguaje declarativo de Terraform para describir recursos en la nube. Junto con serverless habilitan que un agente levante un dominio completo (infraestructura + código) desde un prompt hasta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convierte "estamos vibe coding" en afirmación verificable. Es el instrumento que confirma si los cuatro componentes previos están aterrizando o no. Si el lead time es de semanas, la arquitectura no está habilitando vibe coding en serio. Si el deploy frequency es una vez por sprint, no hay volumen de cambios. Si el MTTR es de horas, el agente no puede experimentar sin miedo. Si el change failure rate es alto, la IA amplifica lo roto. La GenAI Anomaly 2024 se menciona solo en la pasada (conexión con la primera sección).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Metáfora que conecta todo el arco. La IA es una capacidad que cada líder dirige. La amplificación depende de cómo se ejerce. Sin remate. El silencio trabaja. Primera persona del plural inclusiva — cada uno de los presentes, el speaker incluido.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original: Kim + Spear, 10 años de investigación, MIT Sloan, Toyota Production System como inspiración. "Arquitectura de la organización" es la traducción operativa de "organizational wiring". Decisión de lenguaje: "arquitectura de la organización" (no "cableado"). Siempre "capa 3" en español, nunca "L3" ni "Layer 3". Aclarar en la pasada que es más que arquitectura de software — incluye procesos, comunicación, normas, diseño de equipos. NUMMI Toyota/GM Fremont: misma capa 1, misma capa 2, solo cambiaron la capa 3, y la fábrica pasó de peor a mejor de 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Aterrizar la capa 3 concretamente antes de decir "es nuestra obligación". Incluye arquitectura de software — Conway la documentó hace 50 años. La capa 3 es organización en el sentido amplio, no solo "arquitectura de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pasada se nombra el término del libro "capa 3 de capa 3" (Layer 3 of Layer 3) como nomenclatura de los autores; no aparece en el slide. Paráfrasis de "managing your own team of AI agents is the new individual Layer 3". Transferencia del cuello de botella a producto/diseño/QA. DevOps como precedente (shift left, you build it you run it). Lenguaje: siempre capa 3 en español, nunca L3 ni Layer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patrones del libro son ocho — se añaden en la pasada: direct agent communication via MCP, task graph discipline, merge strategies. Los cinco del slide son los que ya tienen práctica viva en ControlAsistencia.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líder elige su proyecto ambicioso. No se impone orden ni prioridad. Mensaje: la capacidad instalada cambió — si se sigue proponiendo lo mismo de siempre, se subutiliza a los agentes.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verbos de acción: aprender, aplicar, formalizar. Cada compromiso mapea a una sección previa: el junior -&gt; aprender; accionables del cap. 17 -&gt; aplicar; capa 3 -&gt; formalizar. Harness engineering en el ecosistema Claude Code/Cursor/Aider: diseño deliberado del entorno del agente (herramientas, contexto, guardrails, orquestación) para obtener trabajo confiable. Esta es la nota final. No hay pregunta abierta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URLs reales documentadas aquí para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URLs reales documentadas aquí para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Abierto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AF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305A"/>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11"/>
            <a:ext cx="10566400" cy="3957389"/>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AF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305A"/>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11"/>
            <a:ext cx="10566400" cy="3957389"/>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webp"/><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C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Cosmos">    </p:cNvPr>
          <p:cNvPicPr>
            <a:picLocks noChangeAspect="1"/>
          </p:cNvPicPr>
          <p:nvPr/>
        </p:nvPicPr>
        <p:blipFill>
          <a:blip r:embed="rId2"/>
          <a:srcRect l="0" r="0" t="-676" b="-676"/>
          <a:stretch/>
        </p:blipFill>
        <p:spPr>
          <a:xfrm>
            <a:off x="812800" y="736600"/>
            <a:ext cx="406400" cy="406400"/>
          </a:xfrm>
          <a:prstGeom prst="rect">
            <a:avLst/>
          </a:prstGeom>
        </p:spPr>
      </p:pic>
      <p:pic>
        <p:nvPicPr>
          <p:cNvPr id="4" name="Image 2" descr="cosmos">    </p:cNvPr>
          <p:cNvPicPr>
            <a:picLocks noChangeAspect="1"/>
          </p:cNvPicPr>
          <p:nvPr/>
        </p:nvPicPr>
        <p:blipFill>
          <a:blip r:embed="rId3"/>
          <a:srcRect l="-3019" r="-3019" t="0" b="0"/>
          <a:stretch/>
        </p:blipFill>
        <p:spPr>
          <a:xfrm>
            <a:off x="1371600" y="784225"/>
            <a:ext cx="1905000" cy="311150"/>
          </a:xfrm>
          <a:prstGeom prst="rect">
            <a:avLst/>
          </a:prstGeom>
        </p:spPr>
      </p:pic>
      <p:sp>
        <p:nvSpPr>
          <p:cNvPr id="5" name="Text 0"/>
          <p:cNvSpPr/>
          <p:nvPr>
            <p:ph type="title"/>
          </p:nvPr>
        </p:nvSpPr>
        <p:spPr>
          <a:xfrm>
            <a:off x="812800" y="1584970"/>
            <a:ext cx="5624830" cy="1625600"/>
          </a:xfrm>
          <a:prstGeom prst="rect">
            <a:avLst/>
          </a:prstGeom>
          <a:noFill/>
          <a:ln/>
        </p:spPr>
        <p:txBody>
          <a:bodyPr wrap="square" lIns="0" tIns="0" rIns="0" bIns="0" rtlCol="0" anchor="t">
            <a:normAutofit/>
          </a:bodyPr>
          <a:lstStyle/>
          <a:p>
            <a:pPr algn="l" indent="0" marL="0">
              <a:lnSpc>
                <a:spcPts val="6300"/>
              </a:lnSpc>
              <a:buNone/>
            </a:pPr>
            <a:r>
              <a:rPr lang="en-US" sz="6000" b="1" i="0" spc="-125" kern="0" dirty="0">
                <a:solidFill>
                  <a:srgbClr val="EAF2FB"/>
                </a:solidFill>
                <a:latin typeface="Manrope" pitchFamily="34" charset="0"/>
                <a:ea typeface="Manrope" pitchFamily="34" charset="-122"/>
                <a:cs typeface="Manrope" pitchFamily="34" charset="-120"/>
              </a:rPr>
              <a:t>Codificación agéntica</a:t>
            </a:r>
            <a:endParaRPr lang="en-US" sz="6000" dirty="0"/>
          </a:p>
        </p:txBody>
      </p:sp>
      <p:sp>
        <p:nvSpPr>
          <p:cNvPr id="6" name="Text 1"/>
          <p:cNvSpPr/>
          <p:nvPr/>
        </p:nvSpPr>
        <p:spPr>
          <a:xfrm>
            <a:off x="812800" y="3388370"/>
            <a:ext cx="5624830" cy="528290"/>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7FB2F0"/>
                </a:solidFill>
                <a:latin typeface="Manrope" pitchFamily="34" charset="0"/>
                <a:ea typeface="Manrope" pitchFamily="34" charset="-122"/>
                <a:cs typeface="Manrope" pitchFamily="34" charset="-120"/>
              </a:rPr>
              <a:t>¿el </a:t>
            </a:r>
            <a:r>
              <a:rPr lang="en-US" sz="3600" b="1" i="1" spc="-50" kern="0" dirty="0">
                <a:solidFill>
                  <a:srgbClr val="7FB2F0"/>
                </a:solidFill>
                <a:latin typeface="Manrope" pitchFamily="34" charset="0"/>
                <a:ea typeface="Manrope" pitchFamily="34" charset="-122"/>
                <a:cs typeface="Manrope" pitchFamily="34" charset="-120"/>
              </a:rPr>
              <a:t>Silver Bullet</a:t>
            </a:r>
            <a:r>
              <a:rPr lang="en-US" sz="3600" b="1" spc="-50" kern="0" dirty="0">
                <a:solidFill>
                  <a:srgbClr val="7FB2F0"/>
                </a:solidFill>
                <a:latin typeface="Manrope" pitchFamily="34" charset="0"/>
                <a:ea typeface="Manrope" pitchFamily="34" charset="-122"/>
                <a:cs typeface="Manrope" pitchFamily="34" charset="-120"/>
              </a:rPr>
              <a:t>?</a:t>
            </a:r>
            <a:endParaRPr lang="en-US" sz="3600" dirty="0"/>
          </a:p>
        </p:txBody>
      </p:sp>
      <p:sp>
        <p:nvSpPr>
          <p:cNvPr id="7" name="Text 2"/>
          <p:cNvSpPr/>
          <p:nvPr/>
        </p:nvSpPr>
        <p:spPr>
          <a:xfrm>
            <a:off x="812800" y="4094460"/>
            <a:ext cx="5624830" cy="12039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9DB7D9"/>
                </a:solidFill>
                <a:latin typeface="IBM Plex Sans" pitchFamily="34" charset="0"/>
                <a:ea typeface="IBM Plex Sans" pitchFamily="34" charset="-122"/>
                <a:cs typeface="IBM Plex Sans" pitchFamily="34" charset="-120"/>
              </a:rPr>
              <a:t>En 1986, Fred Brooks sentenció que el software no tendría bala de plata: ninguna tecnología entregaría un orden de magnitud de mejora en productividad, confiabilidad ni simplicidad.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631456"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PRÓLOGO · NO HAY BALA DE PLATA</a:t>
            </a:r>
            <a:endParaRPr lang="en-US" sz="1200" dirty="0"/>
          </a:p>
        </p:txBody>
      </p:sp>
      <p:sp>
        <p:nvSpPr>
          <p:cNvPr id="4" name="Shape 1"/>
          <p:cNvSpPr/>
          <p:nvPr/>
        </p:nvSpPr>
        <p:spPr>
          <a:xfrm>
            <a:off x="4444256"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Esencia y accidente</a:t>
            </a:r>
            <a:endParaRPr lang="en-US" sz="3600" dirty="0"/>
          </a:p>
        </p:txBody>
      </p:sp>
      <p:sp>
        <p:nvSpPr>
          <p:cNvPr id="6" name="Text 3"/>
          <p:cNvSpPr/>
          <p:nvPr/>
        </p:nvSpPr>
        <p:spPr>
          <a:xfrm>
            <a:off x="812800" y="2575570"/>
            <a:ext cx="5127752"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305A"/>
                </a:solidFill>
                <a:latin typeface="Manrope" pitchFamily="34" charset="0"/>
                <a:ea typeface="Manrope" pitchFamily="34" charset="-122"/>
                <a:cs typeface="Manrope" pitchFamily="34" charset="-120"/>
              </a:rPr>
              <a:t>Esencia</a:t>
            </a:r>
            <a:endParaRPr lang="en-US" sz="2400" dirty="0"/>
          </a:p>
        </p:txBody>
      </p:sp>
      <p:sp>
        <p:nvSpPr>
          <p:cNvPr id="7" name="Text 4"/>
          <p:cNvSpPr/>
          <p:nvPr/>
        </p:nvSpPr>
        <p:spPr>
          <a:xfrm>
            <a:off x="812800" y="3119090"/>
            <a:ext cx="512775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577D"/>
                </a:solidFill>
                <a:latin typeface="IBM Plex Sans" pitchFamily="34" charset="0"/>
                <a:ea typeface="IBM Plex Sans" pitchFamily="34" charset="-122"/>
                <a:cs typeface="IBM Plex Sans" pitchFamily="34" charset="-120"/>
              </a:rPr>
              <a:t>Las dificultades </a:t>
            </a:r>
            <a:r>
              <a:rPr lang="en-US" sz="1600" b="1" dirty="0">
                <a:solidFill>
                  <a:srgbClr val="3E577D"/>
                </a:solidFill>
                <a:latin typeface="IBM Plex Sans" pitchFamily="34" charset="0"/>
                <a:ea typeface="IBM Plex Sans" pitchFamily="34" charset="-122"/>
                <a:cs typeface="IBM Plex Sans" pitchFamily="34" charset="-120"/>
              </a:rPr>
              <a:t>inherentes a la naturaleza del software</a:t>
            </a:r>
            <a:r>
              <a:rPr lang="en-US" sz="1600" dirty="0">
                <a:solidFill>
                  <a:srgbClr val="3E577D"/>
                </a:solidFill>
                <a:latin typeface="IBM Plex Sans" pitchFamily="34" charset="0"/>
                <a:ea typeface="IBM Plex Sans" pitchFamily="34" charset="-122"/>
                <a:cs typeface="IBM Plex Sans" pitchFamily="34" charset="-120"/>
              </a:rPr>
              <a:t>. Brooks las agrupa en cuatro:</a:t>
            </a:r>
            <a:endParaRPr lang="en-US" sz="1600" dirty="0"/>
          </a:p>
        </p:txBody>
      </p:sp>
      <p:sp>
        <p:nvSpPr>
          <p:cNvPr id="8" name="Text 5"/>
          <p:cNvSpPr/>
          <p:nvPr/>
        </p:nvSpPr>
        <p:spPr>
          <a:xfrm>
            <a:off x="812800" y="3865811"/>
            <a:ext cx="2438400" cy="436860"/>
          </a:xfrm>
          <a:prstGeom prst="roundRect">
            <a:avLst>
              <a:gd name="adj" fmla="val 17443"/>
            </a:avLst>
          </a:prstGeom>
          <a:solidFill>
            <a:srgbClr val="1050B0">
              <a:alpha val="8000"/>
            </a:srgbClr>
          </a:solidFill>
          <a:ln/>
        </p:spPr>
        <p:txBody>
          <a:bodyPr wrap="square" lIns="130082" tIns="53882" rIns="66074" bIns="28482"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Complejidad</a:t>
            </a:r>
            <a:endParaRPr lang="en-US" sz="1600" dirty="0"/>
          </a:p>
        </p:txBody>
      </p:sp>
      <p:sp>
        <p:nvSpPr>
          <p:cNvPr id="9" name="Text 6"/>
          <p:cNvSpPr/>
          <p:nvPr/>
        </p:nvSpPr>
        <p:spPr>
          <a:xfrm>
            <a:off x="3352800" y="3865811"/>
            <a:ext cx="2438400" cy="436860"/>
          </a:xfrm>
          <a:prstGeom prst="roundRect">
            <a:avLst>
              <a:gd name="adj" fmla="val 17443"/>
            </a:avLst>
          </a:prstGeom>
          <a:solidFill>
            <a:srgbClr val="1050B0">
              <a:alpha val="8000"/>
            </a:srgbClr>
          </a:solidFill>
          <a:ln/>
        </p:spPr>
        <p:txBody>
          <a:bodyPr wrap="square" lIns="130082" tIns="53882" rIns="66074" bIns="28482"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Conformidad</a:t>
            </a:r>
            <a:endParaRPr lang="en-US" sz="1600" dirty="0"/>
          </a:p>
        </p:txBody>
      </p:sp>
      <p:sp>
        <p:nvSpPr>
          <p:cNvPr id="10" name="Text 7"/>
          <p:cNvSpPr/>
          <p:nvPr/>
        </p:nvSpPr>
        <p:spPr>
          <a:xfrm>
            <a:off x="812800" y="4404271"/>
            <a:ext cx="2438400" cy="436860"/>
          </a:xfrm>
          <a:prstGeom prst="roundRect">
            <a:avLst>
              <a:gd name="adj" fmla="val 17443"/>
            </a:avLst>
          </a:prstGeom>
          <a:solidFill>
            <a:srgbClr val="1050B0">
              <a:alpha val="8000"/>
            </a:srgbClr>
          </a:solidFill>
          <a:ln/>
        </p:spPr>
        <p:txBody>
          <a:bodyPr wrap="square" lIns="130082" tIns="53882" rIns="66074" bIns="28482"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Cambiabilidad</a:t>
            </a:r>
            <a:endParaRPr lang="en-US" sz="1600" dirty="0"/>
          </a:p>
        </p:txBody>
      </p:sp>
      <p:sp>
        <p:nvSpPr>
          <p:cNvPr id="11" name="Text 8"/>
          <p:cNvSpPr/>
          <p:nvPr/>
        </p:nvSpPr>
        <p:spPr>
          <a:xfrm>
            <a:off x="3352800" y="4404271"/>
            <a:ext cx="2438400" cy="436860"/>
          </a:xfrm>
          <a:prstGeom prst="roundRect">
            <a:avLst>
              <a:gd name="adj" fmla="val 17443"/>
            </a:avLst>
          </a:prstGeom>
          <a:solidFill>
            <a:srgbClr val="1050B0">
              <a:alpha val="8000"/>
            </a:srgbClr>
          </a:solidFill>
          <a:ln/>
        </p:spPr>
        <p:txBody>
          <a:bodyPr wrap="square" lIns="130082" tIns="53882" rIns="66074" bIns="28482"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Invisibilidad</a:t>
            </a:r>
            <a:endParaRPr lang="en-US" sz="1600" dirty="0"/>
          </a:p>
        </p:txBody>
      </p:sp>
      <p:sp>
        <p:nvSpPr>
          <p:cNvPr id="12" name="Text 9"/>
          <p:cNvSpPr/>
          <p:nvPr/>
        </p:nvSpPr>
        <p:spPr>
          <a:xfrm>
            <a:off x="812800" y="5018931"/>
            <a:ext cx="512775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IBM Plex Sans" pitchFamily="34" charset="0"/>
                <a:ea typeface="IBM Plex Sans" pitchFamily="34" charset="-122"/>
                <a:cs typeface="IBM Plex Sans" pitchFamily="34" charset="-120"/>
              </a:rPr>
              <a:t>Ninguna desaparece por progreso técnico.</a:t>
            </a:r>
            <a:endParaRPr lang="en-US" sz="1600" dirty="0"/>
          </a:p>
        </p:txBody>
      </p:sp>
      <p:sp>
        <p:nvSpPr>
          <p:cNvPr id="13" name="Shape 10"/>
          <p:cNvSpPr/>
          <p:nvPr/>
        </p:nvSpPr>
        <p:spPr>
          <a:xfrm>
            <a:off x="6407150" y="2494310"/>
            <a:ext cx="0" cy="2890341"/>
          </a:xfrm>
          <a:prstGeom prst="line">
            <a:avLst/>
          </a:prstGeom>
          <a:noFill/>
          <a:ln w="12700">
            <a:solidFill>
              <a:srgbClr val="14305A">
                <a:alpha val="16000"/>
              </a:srgbClr>
            </a:solidFill>
            <a:prstDash val="solid"/>
          </a:ln>
        </p:spPr>
      </p:sp>
      <p:sp>
        <p:nvSpPr>
          <p:cNvPr id="14" name="Text 11"/>
          <p:cNvSpPr/>
          <p:nvPr/>
        </p:nvSpPr>
        <p:spPr>
          <a:xfrm>
            <a:off x="6870700" y="2494310"/>
            <a:ext cx="4643755"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4305A"/>
                </a:solidFill>
                <a:latin typeface="Manrope" pitchFamily="34" charset="0"/>
                <a:ea typeface="Manrope" pitchFamily="34" charset="-122"/>
                <a:cs typeface="Manrope" pitchFamily="34" charset="-120"/>
              </a:rPr>
              <a:t>Accidente</a:t>
            </a:r>
            <a:endParaRPr lang="en-US" sz="2400" dirty="0"/>
          </a:p>
        </p:txBody>
      </p:sp>
      <p:sp>
        <p:nvSpPr>
          <p:cNvPr id="15" name="Text 12"/>
          <p:cNvSpPr/>
          <p:nvPr/>
        </p:nvSpPr>
        <p:spPr>
          <a:xfrm>
            <a:off x="6870700" y="3037830"/>
            <a:ext cx="464375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577D"/>
                </a:solidFill>
                <a:latin typeface="IBM Plex Sans" pitchFamily="34" charset="0"/>
                <a:ea typeface="IBM Plex Sans" pitchFamily="34" charset="-122"/>
                <a:cs typeface="IBM Plex Sans" pitchFamily="34" charset="-120"/>
              </a:rPr>
              <a:t>Las dificultades </a:t>
            </a:r>
            <a:r>
              <a:rPr lang="en-US" sz="1600" b="1" dirty="0">
                <a:solidFill>
                  <a:srgbClr val="3E577D"/>
                </a:solidFill>
                <a:latin typeface="IBM Plex Sans" pitchFamily="34" charset="0"/>
                <a:ea typeface="IBM Plex Sans" pitchFamily="34" charset="-122"/>
                <a:cs typeface="IBM Plex Sans" pitchFamily="34" charset="-120"/>
              </a:rPr>
              <a:t>contingentes</a:t>
            </a:r>
            <a:r>
              <a:rPr lang="en-US" sz="1600" dirty="0">
                <a:solidFill>
                  <a:srgbClr val="3E577D"/>
                </a:solidFill>
                <a:latin typeface="IBM Plex Sans" pitchFamily="34" charset="0"/>
                <a:ea typeface="IBM Plex Sans" pitchFamily="34" charset="-122"/>
                <a:cs typeface="IBM Plex Sans" pitchFamily="34" charset="-120"/>
              </a:rPr>
              <a:t> — presentes hoy, pero no inherentes.</a:t>
            </a:r>
            <a:endParaRPr lang="en-US" sz="1600" dirty="0"/>
          </a:p>
        </p:txBody>
      </p:sp>
      <p:sp>
        <p:nvSpPr>
          <p:cNvPr id="16" name="Text 13"/>
          <p:cNvSpPr/>
          <p:nvPr/>
        </p:nvSpPr>
        <p:spPr>
          <a:xfrm>
            <a:off x="6870700" y="3784550"/>
            <a:ext cx="464375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577D"/>
                </a:solidFill>
                <a:latin typeface="IBM Plex Sans" pitchFamily="34" charset="0"/>
                <a:ea typeface="IBM Plex Sans" pitchFamily="34" charset="-122"/>
                <a:cs typeface="IBM Plex Sans" pitchFamily="34" charset="-120"/>
              </a:rPr>
              <a:t>Lenguajes de bajo nivel, herramientas primitivas, traducción a interfaces arbitrarias, ciclos de compilación.</a:t>
            </a:r>
            <a:endParaRPr lang="en-US" sz="1600" dirty="0"/>
          </a:p>
        </p:txBody>
      </p:sp>
      <p:sp>
        <p:nvSpPr>
          <p:cNvPr id="17" name="Text 14"/>
          <p:cNvSpPr/>
          <p:nvPr/>
        </p:nvSpPr>
        <p:spPr>
          <a:xfrm>
            <a:off x="6870700" y="4815731"/>
            <a:ext cx="4643755"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IBM Plex Sans" pitchFamily="34" charset="0"/>
                <a:ea typeface="IBM Plex Sans" pitchFamily="34" charset="-122"/>
                <a:cs typeface="IBM Plex Sans" pitchFamily="34" charset="-120"/>
              </a:rPr>
              <a:t>Estas sí se pueden solucionar. Y se han solucionado.</a:t>
            </a:r>
            <a:endParaRPr lang="en-US" sz="1600" dirty="0"/>
          </a:p>
        </p:txBody>
      </p:sp>
      <p:pic>
        <p:nvPicPr>
          <p:cNvPr id="18"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9" name="Text 15"/>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Fred Brooks · </a:t>
            </a:r>
            <a:r>
              <a:rPr lang="en-US" sz="1200" i="1" dirty="0">
                <a:solidFill>
                  <a:srgbClr val="5C7192"/>
                </a:solidFill>
                <a:latin typeface="IBM Plex Sans" pitchFamily="34" charset="0"/>
                <a:ea typeface="IBM Plex Sans" pitchFamily="34" charset="-122"/>
                <a:cs typeface="IBM Plex Sans" pitchFamily="34" charset="-120"/>
              </a:rPr>
              <a:t>No Silver Bullet — Essence and Accident in Software Engineering</a:t>
            </a:r>
            <a:r>
              <a:rPr lang="en-US" sz="1200" dirty="0">
                <a:solidFill>
                  <a:srgbClr val="5C7192"/>
                </a:solidFill>
                <a:latin typeface="IBM Plex Sans" pitchFamily="34" charset="0"/>
                <a:ea typeface="IBM Plex Sans" pitchFamily="34" charset="-122"/>
                <a:cs typeface="IBM Plex Sans" pitchFamily="34" charset="-120"/>
              </a:rPr>
              <a:t> · 1986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631456"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PRÓLOGO · NO HAY BALA DE PLATA</a:t>
            </a:r>
            <a:endParaRPr lang="en-US" sz="1200" dirty="0"/>
          </a:p>
        </p:txBody>
      </p:sp>
      <p:sp>
        <p:nvSpPr>
          <p:cNvPr id="4" name="Shape 1"/>
          <p:cNvSpPr/>
          <p:nvPr/>
        </p:nvSpPr>
        <p:spPr>
          <a:xfrm>
            <a:off x="4444256"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La IA solucionó lo accidental</a:t>
            </a:r>
            <a:endParaRPr lang="en-US" sz="3600" dirty="0"/>
          </a:p>
        </p:txBody>
      </p:sp>
      <p:sp>
        <p:nvSpPr>
          <p:cNvPr id="6" name="Text 3"/>
          <p:cNvSpPr/>
          <p:nvPr/>
        </p:nvSpPr>
        <p:spPr>
          <a:xfrm>
            <a:off x="812800" y="2860973"/>
            <a:ext cx="512775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Qué facilita</a:t>
            </a:r>
            <a:endParaRPr lang="en-US" sz="1800" dirty="0"/>
          </a:p>
        </p:txBody>
      </p:sp>
      <p:sp>
        <p:nvSpPr>
          <p:cNvPr id="7" name="Text 4"/>
          <p:cNvSpPr/>
          <p:nvPr/>
        </p:nvSpPr>
        <p:spPr>
          <a:xfrm>
            <a:off x="883920" y="3287663"/>
            <a:ext cx="5049012" cy="19589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E577D"/>
                </a:solidFill>
                <a:latin typeface="IBM Plex Sans" pitchFamily="34" charset="0"/>
                <a:ea typeface="IBM Plex Sans" pitchFamily="34" charset="-122"/>
                <a:cs typeface="IBM Plex Sans" pitchFamily="34" charset="-120"/>
              </a:rPr>
              <a:t>Traducción entre lenguajes y stacks</a:t>
            </a:r>
            <a:endParaRPr lang="en-US" sz="1500" dirty="0"/>
          </a:p>
          <a:p>
            <a:pPr algn="l" marL="182880" indent="-182880">
              <a:lnSpc>
                <a:spcPts val="2175"/>
              </a:lnSpc>
              <a:buSzPct val="100000"/>
              <a:buChar char="•"/>
            </a:pPr>
            <a:r>
              <a:rPr lang="en-US" sz="1500" dirty="0">
                <a:solidFill>
                  <a:srgbClr val="3E577D"/>
                </a:solidFill>
                <a:latin typeface="IBM Plex Sans" pitchFamily="34" charset="0"/>
                <a:ea typeface="IBM Plex Sans" pitchFamily="34" charset="-122"/>
                <a:cs typeface="IBM Plex Sans" pitchFamily="34" charset="-120"/>
              </a:rPr>
              <a:t>Plantillas, boilerplate, plumbing</a:t>
            </a:r>
            <a:endParaRPr lang="en-US" sz="1500" dirty="0"/>
          </a:p>
          <a:p>
            <a:pPr algn="l" marL="182880" indent="-182880">
              <a:lnSpc>
                <a:spcPts val="2175"/>
              </a:lnSpc>
              <a:buSzPct val="100000"/>
              <a:buChar char="•"/>
            </a:pPr>
            <a:r>
              <a:rPr lang="en-US" sz="1500" dirty="0">
                <a:solidFill>
                  <a:srgbClr val="3E577D"/>
                </a:solidFill>
                <a:latin typeface="IBM Plex Sans" pitchFamily="34" charset="0"/>
                <a:ea typeface="IBM Plex Sans" pitchFamily="34" charset="-122"/>
                <a:cs typeface="IBM Plex Sans" pitchFamily="34" charset="-120"/>
              </a:rPr>
              <a:t>Adaptadores a APIs e interfaces arbitrarias</a:t>
            </a:r>
            <a:endParaRPr lang="en-US" sz="1500" dirty="0"/>
          </a:p>
          <a:p>
            <a:pPr algn="l" marL="182880" indent="-182880">
              <a:lnSpc>
                <a:spcPts val="2175"/>
              </a:lnSpc>
              <a:buSzPct val="100000"/>
              <a:buChar char="•"/>
            </a:pPr>
            <a:r>
              <a:rPr lang="en-US" sz="1500" dirty="0">
                <a:solidFill>
                  <a:srgbClr val="3E577D"/>
                </a:solidFill>
                <a:latin typeface="IBM Plex Sans" pitchFamily="34" charset="0"/>
                <a:ea typeface="IBM Plex Sans" pitchFamily="34" charset="-122"/>
                <a:cs typeface="IBM Plex Sans" pitchFamily="34" charset="-120"/>
              </a:rPr>
              <a:t>Migraciones y transformaciones de datos</a:t>
            </a:r>
            <a:endParaRPr lang="en-US" sz="1500" dirty="0"/>
          </a:p>
          <a:p>
            <a:pPr algn="l" marL="182880" indent="-182880">
              <a:lnSpc>
                <a:spcPts val="2175"/>
              </a:lnSpc>
              <a:buSzPct val="100000"/>
              <a:buChar char="•"/>
            </a:pPr>
            <a:r>
              <a:rPr lang="en-US" sz="1500" dirty="0">
                <a:solidFill>
                  <a:srgbClr val="3E577D"/>
                </a:solidFill>
                <a:latin typeface="IBM Plex Sans" pitchFamily="34" charset="0"/>
                <a:ea typeface="IBM Plex Sans" pitchFamily="34" charset="-122"/>
                <a:cs typeface="IBM Plex Sans" pitchFamily="34" charset="-120"/>
              </a:rPr>
              <a:t>Búsqueda y refactor a escala del repo</a:t>
            </a:r>
            <a:endParaRPr lang="en-US" sz="1500" dirty="0"/>
          </a:p>
          <a:p>
            <a:pPr algn="l" marL="182880" indent="-182880">
              <a:lnSpc>
                <a:spcPts val="2175"/>
              </a:lnSpc>
              <a:buSzPct val="100000"/>
              <a:buChar char="•"/>
            </a:pPr>
            <a:r>
              <a:rPr lang="en-US" sz="1500" dirty="0">
                <a:solidFill>
                  <a:srgbClr val="3E577D"/>
                </a:solidFill>
                <a:latin typeface="IBM Plex Sans" pitchFamily="34" charset="0"/>
                <a:ea typeface="IBM Plex Sans" pitchFamily="34" charset="-122"/>
                <a:cs typeface="IBM Plex Sans" pitchFamily="34" charset="-120"/>
              </a:rPr>
              <a:t>Generación de tests y documentación</a:t>
            </a:r>
            <a:endParaRPr lang="en-US" sz="1500" dirty="0"/>
          </a:p>
          <a:p>
            <a:pPr algn="l" marL="182880" indent="-182880">
              <a:lnSpc>
                <a:spcPts val="2175"/>
              </a:lnSpc>
              <a:buSzPct val="100000"/>
              <a:buChar char="•"/>
            </a:pPr>
            <a:r>
              <a:rPr lang="en-US" sz="1500" dirty="0">
                <a:solidFill>
                  <a:srgbClr val="3E577D"/>
                </a:solidFill>
                <a:latin typeface="IBM Plex Sans" pitchFamily="34" charset="0"/>
                <a:ea typeface="IBM Plex Sans" pitchFamily="34" charset="-122"/>
                <a:cs typeface="IBM Plex Sans" pitchFamily="34" charset="-120"/>
              </a:rPr>
              <a:t>Explicación y síntesis de código ajeno</a:t>
            </a:r>
            <a:endParaRPr lang="en-US" sz="1500" dirty="0"/>
          </a:p>
        </p:txBody>
      </p:sp>
      <p:sp>
        <p:nvSpPr>
          <p:cNvPr id="8" name="Text 5"/>
          <p:cNvSpPr/>
          <p:nvPr/>
        </p:nvSpPr>
        <p:spPr>
          <a:xfrm>
            <a:off x="6400800" y="2291110"/>
            <a:ext cx="512775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Impacto</a:t>
            </a:r>
            <a:endParaRPr lang="en-US" sz="1800" dirty="0"/>
          </a:p>
        </p:txBody>
      </p:sp>
      <p:sp>
        <p:nvSpPr>
          <p:cNvPr id="9" name="Text 6"/>
          <p:cNvSpPr/>
          <p:nvPr/>
        </p:nvSpPr>
        <p:spPr>
          <a:xfrm>
            <a:off x="6400800" y="2717800"/>
            <a:ext cx="512775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Brooks (1986) advertía que las ganancias en lo accidental ya estaban agotándose.</a:t>
            </a:r>
            <a:endParaRPr lang="en-US" sz="1500" dirty="0"/>
          </a:p>
        </p:txBody>
      </p:sp>
      <p:sp>
        <p:nvSpPr>
          <p:cNvPr id="10" name="Text 7"/>
          <p:cNvSpPr/>
          <p:nvPr/>
        </p:nvSpPr>
        <p:spPr>
          <a:xfrm>
            <a:off x="6400800" y="3403600"/>
            <a:ext cx="512775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Cuarenta años después, la IA abrió </a:t>
            </a:r>
            <a:r>
              <a:rPr lang="en-US" sz="1500" b="1" dirty="0">
                <a:solidFill>
                  <a:srgbClr val="1050B0"/>
                </a:solidFill>
                <a:latin typeface="IBM Plex Sans" pitchFamily="34" charset="0"/>
                <a:ea typeface="IBM Plex Sans" pitchFamily="34" charset="-122"/>
                <a:cs typeface="IBM Plex Sans" pitchFamily="34" charset="-120"/>
              </a:rPr>
              <a:t>otro orden de magnitud</a:t>
            </a:r>
            <a:r>
              <a:rPr lang="en-US" sz="1500" dirty="0">
                <a:solidFill>
                  <a:srgbClr val="3E577D"/>
                </a:solidFill>
                <a:latin typeface="IBM Plex Sans" pitchFamily="34" charset="0"/>
                <a:ea typeface="IBM Plex Sans" pitchFamily="34" charset="-122"/>
                <a:cs typeface="IBM Plex Sans" pitchFamily="34" charset="-120"/>
              </a:rPr>
              <a:t> justo ahí.</a:t>
            </a:r>
            <a:endParaRPr lang="en-US" sz="1500" dirty="0"/>
          </a:p>
        </p:txBody>
      </p:sp>
      <p:sp>
        <p:nvSpPr>
          <p:cNvPr id="11" name="Shape 8"/>
          <p:cNvSpPr/>
          <p:nvPr/>
        </p:nvSpPr>
        <p:spPr>
          <a:xfrm>
            <a:off x="6410325" y="4089400"/>
            <a:ext cx="0" cy="548580"/>
          </a:xfrm>
          <a:prstGeom prst="line">
            <a:avLst/>
          </a:prstGeom>
          <a:noFill/>
          <a:ln w="19050">
            <a:solidFill>
              <a:srgbClr val="1050B0"/>
            </a:solidFill>
            <a:prstDash val="solid"/>
          </a:ln>
        </p:spPr>
      </p:sp>
      <p:sp>
        <p:nvSpPr>
          <p:cNvPr id="12" name="Text 9"/>
          <p:cNvSpPr/>
          <p:nvPr/>
        </p:nvSpPr>
        <p:spPr>
          <a:xfrm>
            <a:off x="6546850" y="4114800"/>
            <a:ext cx="497732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5A"/>
                </a:solidFill>
                <a:latin typeface="IBM Plex Sans" pitchFamily="34" charset="0"/>
                <a:ea typeface="IBM Plex Sans" pitchFamily="34" charset="-122"/>
                <a:cs typeface="IBM Plex Sans" pitchFamily="34" charset="-120"/>
              </a:rPr>
              <a:t>Amodei</a:t>
            </a:r>
            <a:r>
              <a:rPr lang="en-US" sz="1400" dirty="0">
                <a:solidFill>
                  <a:srgbClr val="3E577D"/>
                </a:solidFill>
                <a:latin typeface="IBM Plex Sans" pitchFamily="34" charset="0"/>
                <a:ea typeface="IBM Plex Sans" pitchFamily="34" charset="-122"/>
                <a:cs typeface="IBM Plex Sans" pitchFamily="34" charset="-120"/>
              </a:rPr>
              <a:t> · 90 % del código escrito por IA en meses </a:t>
            </a:r>
            <a:r>
              <a:rPr lang="en-US" sz="1400" dirty="0">
                <a:solidFill>
                  <a:srgbClr val="5C7192"/>
                </a:solidFill>
                <a:latin typeface="IBM Plex Sans" pitchFamily="34" charset="0"/>
                <a:ea typeface="IBM Plex Sans" pitchFamily="34" charset="-122"/>
                <a:cs typeface="IBM Plex Sans" pitchFamily="34" charset="-120"/>
              </a:rPr>
              <a:t>(CFR, 2025)</a:t>
            </a:r>
            <a:endParaRPr lang="en-US" sz="1400" dirty="0"/>
          </a:p>
        </p:txBody>
      </p:sp>
      <p:sp>
        <p:nvSpPr>
          <p:cNvPr id="13" name="Shape 10"/>
          <p:cNvSpPr/>
          <p:nvPr/>
        </p:nvSpPr>
        <p:spPr>
          <a:xfrm>
            <a:off x="6410325" y="4790380"/>
            <a:ext cx="0" cy="548580"/>
          </a:xfrm>
          <a:prstGeom prst="line">
            <a:avLst/>
          </a:prstGeom>
          <a:noFill/>
          <a:ln w="19050">
            <a:solidFill>
              <a:srgbClr val="1050B0"/>
            </a:solidFill>
            <a:prstDash val="solid"/>
          </a:ln>
        </p:spPr>
      </p:sp>
      <p:sp>
        <p:nvSpPr>
          <p:cNvPr id="14" name="Text 11"/>
          <p:cNvSpPr/>
          <p:nvPr/>
        </p:nvSpPr>
        <p:spPr>
          <a:xfrm>
            <a:off x="6546850" y="4815780"/>
            <a:ext cx="497732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5A"/>
                </a:solidFill>
                <a:latin typeface="IBM Plex Sans" pitchFamily="34" charset="0"/>
                <a:ea typeface="IBM Plex Sans" pitchFamily="34" charset="-122"/>
                <a:cs typeface="IBM Plex Sans" pitchFamily="34" charset="-120"/>
              </a:rPr>
              <a:t>Cherny</a:t>
            </a:r>
            <a:r>
              <a:rPr lang="en-US" sz="1400" dirty="0">
                <a:solidFill>
                  <a:srgbClr val="3E577D"/>
                </a:solidFill>
                <a:latin typeface="IBM Plex Sans" pitchFamily="34" charset="0"/>
                <a:ea typeface="IBM Plex Sans" pitchFamily="34" charset="-122"/>
                <a:cs typeface="IBM Plex Sans" pitchFamily="34" charset="-120"/>
              </a:rPr>
              <a:t> · 100 % de mi código lo escribe Claude Code </a:t>
            </a:r>
            <a:r>
              <a:rPr lang="en-US" sz="1400" dirty="0">
                <a:solidFill>
                  <a:srgbClr val="5C7192"/>
                </a:solidFill>
                <a:latin typeface="IBM Plex Sans" pitchFamily="34" charset="0"/>
                <a:ea typeface="IBM Plex Sans" pitchFamily="34" charset="-122"/>
                <a:cs typeface="IBM Plex Sans" pitchFamily="34" charset="-120"/>
              </a:rPr>
              <a:t>(Lenny's, 2026)</a:t>
            </a:r>
            <a:endParaRPr lang="en-US" sz="1400" dirty="0"/>
          </a:p>
        </p:txBody>
      </p:sp>
      <p:sp>
        <p:nvSpPr>
          <p:cNvPr id="15" name="Shape 12"/>
          <p:cNvSpPr/>
          <p:nvPr/>
        </p:nvSpPr>
        <p:spPr>
          <a:xfrm>
            <a:off x="6410325" y="5491361"/>
            <a:ext cx="0" cy="299690"/>
          </a:xfrm>
          <a:prstGeom prst="line">
            <a:avLst/>
          </a:prstGeom>
          <a:noFill/>
          <a:ln w="19050">
            <a:solidFill>
              <a:srgbClr val="1050B0"/>
            </a:solidFill>
            <a:prstDash val="solid"/>
          </a:ln>
        </p:spPr>
      </p:sp>
      <p:sp>
        <p:nvSpPr>
          <p:cNvPr id="16" name="Text 13"/>
          <p:cNvSpPr/>
          <p:nvPr/>
        </p:nvSpPr>
        <p:spPr>
          <a:xfrm>
            <a:off x="6546850" y="5516761"/>
            <a:ext cx="497732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5A"/>
                </a:solidFill>
                <a:latin typeface="IBM Plex Sans" pitchFamily="34" charset="0"/>
                <a:ea typeface="IBM Plex Sans" pitchFamily="34" charset="-122"/>
                <a:cs typeface="IBM Plex Sans" pitchFamily="34" charset="-120"/>
              </a:rPr>
              <a:t>DORA 2024</a:t>
            </a:r>
            <a:r>
              <a:rPr lang="en-US" sz="1400" dirty="0">
                <a:solidFill>
                  <a:srgbClr val="3E577D"/>
                </a:solidFill>
                <a:latin typeface="IBM Plex Sans" pitchFamily="34" charset="0"/>
                <a:ea typeface="IBM Plex Sans" pitchFamily="34" charset="-122"/>
                <a:cs typeface="IBM Plex Sans" pitchFamily="34" charset="-120"/>
              </a:rPr>
              <a:t> · aumento medible de throughput con GenAI</a:t>
            </a:r>
            <a:endParaRPr lang="en-US" sz="1400" dirty="0"/>
          </a:p>
        </p:txBody>
      </p:sp>
      <p:pic>
        <p:nvPicPr>
          <p:cNvPr id="17"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631456"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PRÓLOGO · NO HAY BALA DE PLATA</a:t>
            </a:r>
            <a:endParaRPr lang="en-US" sz="1200" dirty="0"/>
          </a:p>
        </p:txBody>
      </p:sp>
      <p:sp>
        <p:nvSpPr>
          <p:cNvPr id="4" name="Shape 1"/>
          <p:cNvSpPr/>
          <p:nvPr/>
        </p:nvSpPr>
        <p:spPr>
          <a:xfrm>
            <a:off x="4444256" y="913110"/>
            <a:ext cx="609600" cy="12700"/>
          </a:xfrm>
          <a:prstGeom prst="rect">
            <a:avLst/>
          </a:prstGeom>
          <a:solidFill>
            <a:srgbClr val="14305A">
              <a:alpha val="16000"/>
            </a:srgbClr>
          </a:solidFill>
          <a:ln/>
        </p:spPr>
      </p:sp>
      <p:sp>
        <p:nvSpPr>
          <p:cNvPr id="5" name="Text 2"/>
          <p:cNvSpPr/>
          <p:nvPr>
            <p:ph type="title"/>
          </p:nvPr>
        </p:nvSpPr>
        <p:spPr>
          <a:xfrm>
            <a:off x="812800" y="1229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La esencia sigue intacta</a:t>
            </a:r>
            <a:endParaRPr lang="en-US" sz="3600" dirty="0"/>
          </a:p>
        </p:txBody>
      </p:sp>
      <p:sp>
        <p:nvSpPr>
          <p:cNvPr id="6" name="Shape 3"/>
          <p:cNvSpPr/>
          <p:nvPr/>
        </p:nvSpPr>
        <p:spPr>
          <a:xfrm>
            <a:off x="815975" y="1938586"/>
            <a:ext cx="5200650" cy="2083743"/>
          </a:xfrm>
          <a:prstGeom prst="roundRect">
            <a:avLst>
              <a:gd name="adj" fmla="val 5942"/>
            </a:avLst>
          </a:prstGeom>
          <a:solidFill>
            <a:srgbClr val="FFFFFF">
              <a:alpha val="62000"/>
            </a:srgbClr>
          </a:solidFill>
          <a:ln w="6350">
            <a:solidFill>
              <a:srgbClr val="14305A">
                <a:alpha val="16000"/>
              </a:srgbClr>
            </a:solidFill>
            <a:prstDash val="solid"/>
          </a:ln>
        </p:spPr>
      </p:sp>
      <p:sp>
        <p:nvSpPr>
          <p:cNvPr id="7" name="Text 4"/>
          <p:cNvSpPr/>
          <p:nvPr/>
        </p:nvSpPr>
        <p:spPr>
          <a:xfrm>
            <a:off x="996950" y="2119561"/>
            <a:ext cx="498386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Complejidad</a:t>
            </a:r>
            <a:endParaRPr lang="en-US" sz="1800" dirty="0"/>
          </a:p>
        </p:txBody>
      </p:sp>
      <p:sp>
        <p:nvSpPr>
          <p:cNvPr id="8" name="Text 5"/>
          <p:cNvSpPr/>
          <p:nvPr/>
        </p:nvSpPr>
        <p:spPr>
          <a:xfrm>
            <a:off x="996950" y="2495451"/>
            <a:ext cx="498386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77D"/>
                </a:solidFill>
                <a:latin typeface="IBM Plex Sans" pitchFamily="34" charset="0"/>
                <a:ea typeface="IBM Plex Sans" pitchFamily="34" charset="-122"/>
                <a:cs typeface="IBM Plex Sans" pitchFamily="34" charset="-120"/>
              </a:rPr>
              <a:t>La IA traslada la complejidad; no la reduce. Más código generado más rápido — y los estados, acoplamientos y race conditions siguen ahí.</a:t>
            </a:r>
            <a:endParaRPr lang="en-US" sz="1300" dirty="0"/>
          </a:p>
        </p:txBody>
      </p:sp>
      <p:sp>
        <p:nvSpPr>
          <p:cNvPr id="9" name="Text 6"/>
          <p:cNvSpPr/>
          <p:nvPr/>
        </p:nvSpPr>
        <p:spPr>
          <a:xfrm>
            <a:off x="996950" y="3265587"/>
            <a:ext cx="498386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E577D"/>
                </a:solidFill>
                <a:latin typeface="IBM Plex Sans" pitchFamily="34" charset="0"/>
                <a:ea typeface="IBM Plex Sans" pitchFamily="34" charset="-122"/>
                <a:cs typeface="IBM Plex Sans" pitchFamily="34" charset="-120"/>
              </a:rPr>
              <a:t>METR 2025</a:t>
            </a:r>
            <a:r>
              <a:rPr lang="en-US" sz="1300" dirty="0">
                <a:solidFill>
                  <a:srgbClr val="3E577D"/>
                </a:solidFill>
                <a:latin typeface="IBM Plex Sans" pitchFamily="34" charset="0"/>
                <a:ea typeface="IBM Plex Sans" pitchFamily="34" charset="-122"/>
                <a:cs typeface="IBM Plex Sans" pitchFamily="34" charset="-120"/>
              </a:rPr>
              <a:t>: desarrolladores experimentados con IA en código maduro fueron </a:t>
            </a:r>
            <a:r>
              <a:rPr lang="en-US" sz="1300" b="1" dirty="0">
                <a:solidFill>
                  <a:srgbClr val="B5531C"/>
                </a:solidFill>
                <a:latin typeface="IBM Plex Sans" pitchFamily="34" charset="0"/>
                <a:ea typeface="IBM Plex Sans" pitchFamily="34" charset="-122"/>
                <a:cs typeface="IBM Plex Sans" pitchFamily="34" charset="-120"/>
              </a:rPr>
              <a:t>19 % más lentos</a:t>
            </a:r>
            <a:r>
              <a:rPr lang="en-US" sz="1300" dirty="0">
                <a:solidFill>
                  <a:srgbClr val="3E577D"/>
                </a:solidFill>
                <a:latin typeface="IBM Plex Sans" pitchFamily="34" charset="0"/>
                <a:ea typeface="IBM Plex Sans" pitchFamily="34" charset="-122"/>
                <a:cs typeface="IBM Plex Sans" pitchFamily="34" charset="-120"/>
              </a:rPr>
              <a:t>.</a:t>
            </a:r>
            <a:endParaRPr lang="en-US" sz="1300" dirty="0"/>
          </a:p>
        </p:txBody>
      </p:sp>
      <p:sp>
        <p:nvSpPr>
          <p:cNvPr id="10" name="Shape 7"/>
          <p:cNvSpPr/>
          <p:nvPr/>
        </p:nvSpPr>
        <p:spPr>
          <a:xfrm>
            <a:off x="6175375" y="1938586"/>
            <a:ext cx="5200650" cy="2083743"/>
          </a:xfrm>
          <a:prstGeom prst="roundRect">
            <a:avLst>
              <a:gd name="adj" fmla="val 5942"/>
            </a:avLst>
          </a:prstGeom>
          <a:solidFill>
            <a:srgbClr val="FFFFFF">
              <a:alpha val="62000"/>
            </a:srgbClr>
          </a:solidFill>
          <a:ln w="6350">
            <a:solidFill>
              <a:srgbClr val="14305A">
                <a:alpha val="16000"/>
              </a:srgbClr>
            </a:solidFill>
            <a:prstDash val="solid"/>
          </a:ln>
        </p:spPr>
      </p:sp>
      <p:sp>
        <p:nvSpPr>
          <p:cNvPr id="11" name="Text 8"/>
          <p:cNvSpPr/>
          <p:nvPr/>
        </p:nvSpPr>
        <p:spPr>
          <a:xfrm>
            <a:off x="6356350" y="2119561"/>
            <a:ext cx="498386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Conformidad</a:t>
            </a:r>
            <a:endParaRPr lang="en-US" sz="1800" dirty="0"/>
          </a:p>
        </p:txBody>
      </p:sp>
      <p:sp>
        <p:nvSpPr>
          <p:cNvPr id="12" name="Text 9"/>
          <p:cNvSpPr/>
          <p:nvPr/>
        </p:nvSpPr>
        <p:spPr>
          <a:xfrm>
            <a:off x="6356350" y="2495451"/>
            <a:ext cx="498386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77D"/>
                </a:solidFill>
                <a:latin typeface="IBM Plex Sans" pitchFamily="34" charset="0"/>
                <a:ea typeface="IBM Plex Sans" pitchFamily="34" charset="-122"/>
                <a:cs typeface="IBM Plex Sans" pitchFamily="34" charset="-120"/>
              </a:rPr>
              <a:t>La IA traduce arbitrariedad a código en minutos. Pero la arbitrariedad — regulación, protocolo legacy, API propietaria — sigue siendo arbitraria.</a:t>
            </a:r>
            <a:endParaRPr lang="en-US" sz="1300" dirty="0"/>
          </a:p>
        </p:txBody>
      </p:sp>
      <p:sp>
        <p:nvSpPr>
          <p:cNvPr id="13" name="Text 10"/>
          <p:cNvSpPr/>
          <p:nvPr/>
        </p:nvSpPr>
        <p:spPr>
          <a:xfrm>
            <a:off x="6356350" y="3265587"/>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77D"/>
                </a:solidFill>
                <a:latin typeface="IBM Plex Sans" pitchFamily="34" charset="0"/>
                <a:ea typeface="IBM Plex Sans" pitchFamily="34" charset="-122"/>
                <a:cs typeface="IBM Plex Sans" pitchFamily="34" charset="-120"/>
              </a:rPr>
              <a:t>Baja el costo de conformarse, no elimina aquello a lo que hay que conformarse.</a:t>
            </a:r>
            <a:endParaRPr lang="en-US" sz="1300" dirty="0"/>
          </a:p>
        </p:txBody>
      </p:sp>
      <p:sp>
        <p:nvSpPr>
          <p:cNvPr id="14" name="Shape 11"/>
          <p:cNvSpPr/>
          <p:nvPr/>
        </p:nvSpPr>
        <p:spPr>
          <a:xfrm>
            <a:off x="815975" y="4181078"/>
            <a:ext cx="5200650" cy="1860947"/>
          </a:xfrm>
          <a:prstGeom prst="roundRect">
            <a:avLst>
              <a:gd name="adj" fmla="val 6654"/>
            </a:avLst>
          </a:prstGeom>
          <a:solidFill>
            <a:srgbClr val="FFFFFF">
              <a:alpha val="62000"/>
            </a:srgbClr>
          </a:solidFill>
          <a:ln w="6350">
            <a:solidFill>
              <a:srgbClr val="14305A">
                <a:alpha val="16000"/>
              </a:srgbClr>
            </a:solidFill>
            <a:prstDash val="solid"/>
          </a:ln>
        </p:spPr>
      </p:sp>
      <p:sp>
        <p:nvSpPr>
          <p:cNvPr id="15" name="Text 12"/>
          <p:cNvSpPr/>
          <p:nvPr/>
        </p:nvSpPr>
        <p:spPr>
          <a:xfrm>
            <a:off x="996950" y="4362053"/>
            <a:ext cx="498386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Cambiabilidad</a:t>
            </a:r>
            <a:endParaRPr lang="en-US" sz="1800" dirty="0"/>
          </a:p>
        </p:txBody>
      </p:sp>
      <p:sp>
        <p:nvSpPr>
          <p:cNvPr id="16" name="Text 13"/>
          <p:cNvSpPr/>
          <p:nvPr/>
        </p:nvSpPr>
        <p:spPr>
          <a:xfrm>
            <a:off x="996950" y="4737943"/>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77D"/>
                </a:solidFill>
                <a:latin typeface="IBM Plex Sans" pitchFamily="34" charset="0"/>
                <a:ea typeface="IBM Plex Sans" pitchFamily="34" charset="-122"/>
                <a:cs typeface="IBM Plex Sans" pitchFamily="34" charset="-120"/>
              </a:rPr>
              <a:t>El costo marginal de rehacer un módulo colapsa. Pero </a:t>
            </a:r>
            <a:r>
              <a:rPr lang="en-US" sz="1300" b="1" dirty="0">
                <a:solidFill>
                  <a:srgbClr val="3E577D"/>
                </a:solidFill>
                <a:latin typeface="IBM Plex Sans" pitchFamily="34" charset="0"/>
                <a:ea typeface="IBM Plex Sans" pitchFamily="34" charset="-122"/>
                <a:cs typeface="IBM Plex Sans" pitchFamily="34" charset="-120"/>
              </a:rPr>
              <a:t>DORA 2024</a:t>
            </a:r>
            <a:r>
              <a:rPr lang="en-US" sz="1300" dirty="0">
                <a:solidFill>
                  <a:srgbClr val="3E577D"/>
                </a:solidFill>
                <a:latin typeface="IBM Plex Sans" pitchFamily="34" charset="0"/>
                <a:ea typeface="IBM Plex Sans" pitchFamily="34" charset="-122"/>
                <a:cs typeface="IBM Plex Sans" pitchFamily="34" charset="-120"/>
              </a:rPr>
              <a:t> midió la </a:t>
            </a:r>
            <a:r>
              <a:rPr lang="en-US" sz="1300" i="1" dirty="0">
                <a:solidFill>
                  <a:srgbClr val="3E577D"/>
                </a:solidFill>
                <a:latin typeface="IBM Plex Sans" pitchFamily="34" charset="0"/>
                <a:ea typeface="IBM Plex Sans" pitchFamily="34" charset="-122"/>
                <a:cs typeface="IBM Plex Sans" pitchFamily="34" charset="-120"/>
              </a:rPr>
              <a:t>GenAI Anomaly</a:t>
            </a:r>
            <a:r>
              <a:rPr lang="en-US" sz="1300" dirty="0">
                <a:solidFill>
                  <a:srgbClr val="3E577D"/>
                </a:solidFill>
                <a:latin typeface="IBM Plex Sans" pitchFamily="34" charset="0"/>
                <a:ea typeface="IBM Plex Sans" pitchFamily="34" charset="-122"/>
                <a:cs typeface="IBM Plex Sans" pitchFamily="34" charset="-120"/>
              </a:rPr>
              <a:t> — más cambio, menos estabilidad.</a:t>
            </a:r>
            <a:endParaRPr lang="en-US" sz="1300" dirty="0"/>
          </a:p>
        </p:txBody>
      </p:sp>
      <p:sp>
        <p:nvSpPr>
          <p:cNvPr id="17" name="Text 14"/>
          <p:cNvSpPr/>
          <p:nvPr/>
        </p:nvSpPr>
        <p:spPr>
          <a:xfrm>
            <a:off x="996950" y="5285234"/>
            <a:ext cx="498386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77D"/>
                </a:solidFill>
                <a:latin typeface="IBM Plex Sans" pitchFamily="34" charset="0"/>
                <a:ea typeface="IBM Plex Sans" pitchFamily="34" charset="-122"/>
                <a:cs typeface="IBM Plex Sans" pitchFamily="34" charset="-120"/>
              </a:rPr>
              <a:t>La presión para cambiar no desaparece; se amplifica.</a:t>
            </a:r>
            <a:endParaRPr lang="en-US" sz="1300" dirty="0"/>
          </a:p>
        </p:txBody>
      </p:sp>
      <p:sp>
        <p:nvSpPr>
          <p:cNvPr id="18" name="Shape 15"/>
          <p:cNvSpPr/>
          <p:nvPr/>
        </p:nvSpPr>
        <p:spPr>
          <a:xfrm>
            <a:off x="6175375" y="4181078"/>
            <a:ext cx="5200650" cy="1860947"/>
          </a:xfrm>
          <a:prstGeom prst="roundRect">
            <a:avLst>
              <a:gd name="adj" fmla="val 6654"/>
            </a:avLst>
          </a:prstGeom>
          <a:solidFill>
            <a:srgbClr val="FFFFFF">
              <a:alpha val="62000"/>
            </a:srgbClr>
          </a:solidFill>
          <a:ln w="6350">
            <a:solidFill>
              <a:srgbClr val="14305A">
                <a:alpha val="16000"/>
              </a:srgbClr>
            </a:solidFill>
            <a:prstDash val="solid"/>
          </a:ln>
        </p:spPr>
      </p:sp>
      <p:sp>
        <p:nvSpPr>
          <p:cNvPr id="19" name="Text 16"/>
          <p:cNvSpPr/>
          <p:nvPr/>
        </p:nvSpPr>
        <p:spPr>
          <a:xfrm>
            <a:off x="6356350" y="4362053"/>
            <a:ext cx="498386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Invisibilidad</a:t>
            </a:r>
            <a:endParaRPr lang="en-US" sz="1800" dirty="0"/>
          </a:p>
        </p:txBody>
      </p:sp>
      <p:sp>
        <p:nvSpPr>
          <p:cNvPr id="20" name="Text 17"/>
          <p:cNvSpPr/>
          <p:nvPr/>
        </p:nvSpPr>
        <p:spPr>
          <a:xfrm>
            <a:off x="6356350" y="4737943"/>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77D"/>
                </a:solidFill>
                <a:latin typeface="IBM Plex Sans" pitchFamily="34" charset="0"/>
                <a:ea typeface="IBM Plex Sans" pitchFamily="34" charset="-122"/>
                <a:cs typeface="IBM Plex Sans" pitchFamily="34" charset="-120"/>
              </a:rPr>
              <a:t>Doble filo. Como lente — explicar, mapear, documentar — la IA hace el software más visible.</a:t>
            </a:r>
            <a:endParaRPr lang="en-US" sz="1300" dirty="0"/>
          </a:p>
        </p:txBody>
      </p:sp>
      <p:sp>
        <p:nvSpPr>
          <p:cNvPr id="21" name="Text 18"/>
          <p:cNvSpPr/>
          <p:nvPr/>
        </p:nvSpPr>
        <p:spPr>
          <a:xfrm>
            <a:off x="6356350" y="5285234"/>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77D"/>
                </a:solidFill>
                <a:latin typeface="IBM Plex Sans" pitchFamily="34" charset="0"/>
                <a:ea typeface="IBM Plex Sans" pitchFamily="34" charset="-122"/>
                <a:cs typeface="IBM Plex Sans" pitchFamily="34" charset="-120"/>
              </a:rPr>
              <a:t>Como generador sin lector, </a:t>
            </a:r>
            <a:r>
              <a:rPr lang="en-US" sz="1300" i="1" dirty="0">
                <a:solidFill>
                  <a:srgbClr val="3E577D"/>
                </a:solidFill>
                <a:latin typeface="IBM Plex Sans" pitchFamily="34" charset="0"/>
                <a:ea typeface="IBM Plex Sans" pitchFamily="34" charset="-122"/>
                <a:cs typeface="IBM Plex Sans" pitchFamily="34" charset="-120"/>
              </a:rPr>
              <a:t>“forget that the code even exists”</a:t>
            </a:r>
            <a:r>
              <a:rPr lang="en-US" sz="1300" dirty="0">
                <a:solidFill>
                  <a:srgbClr val="3E577D"/>
                </a:solidFill>
                <a:latin typeface="IBM Plex Sans" pitchFamily="34" charset="0"/>
                <a:ea typeface="IBM Plex Sans" pitchFamily="34" charset="-122"/>
                <a:cs typeface="IBM Plex Sans" pitchFamily="34" charset="-120"/>
              </a:rPr>
              <a:t>, lo hace menos.</a:t>
            </a:r>
            <a:endParaRPr lang="en-US" sz="1300" dirty="0"/>
          </a:p>
        </p:txBody>
      </p:sp>
      <p:pic>
        <p:nvPicPr>
          <p:cNvPr id="22"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788073"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DE LA PROMESA</a:t>
            </a:r>
            <a:endParaRPr lang="en-US" sz="1200" dirty="0"/>
          </a:p>
        </p:txBody>
      </p:sp>
      <p:sp>
        <p:nvSpPr>
          <p:cNvPr id="4" name="Shape 1"/>
          <p:cNvSpPr/>
          <p:nvPr/>
        </p:nvSpPr>
        <p:spPr>
          <a:xfrm>
            <a:off x="4600873" y="913110"/>
            <a:ext cx="609600" cy="12700"/>
          </a:xfrm>
          <a:prstGeom prst="rect">
            <a:avLst/>
          </a:prstGeom>
          <a:solidFill>
            <a:srgbClr val="14305A">
              <a:alpha val="16000"/>
            </a:srgbClr>
          </a:solidFill>
          <a:ln/>
        </p:spPr>
      </p:sp>
      <p:pic>
        <p:nvPicPr>
          <p:cNvPr id="5" name="Image 1" descr="Erik Meijer en conferencia">    </p:cNvPr>
          <p:cNvPicPr>
            <a:picLocks noChangeAspect="1"/>
          </p:cNvPicPr>
          <p:nvPr/>
        </p:nvPicPr>
        <p:blipFill>
          <a:blip r:embed="rId2"/>
          <a:srcRect l="58" r="58" t="0" b="0"/>
          <a:stretch/>
        </p:blipFill>
        <p:spPr>
          <a:xfrm>
            <a:off x="812800" y="1727250"/>
            <a:ext cx="4826000" cy="2717800"/>
          </a:xfrm>
          <a:prstGeom prst="roundRect">
            <a:avLst>
              <a:gd name="adj" fmla="val 4673"/>
            </a:avLst>
          </a:prstGeom>
          <a:effectLst>
            <a:outerShdw sx="100000" sy="100000" kx="0" ky="0" algn="bl" rotWithShape="0" blurRad="381000" dist="152400" dir="5400000">
              <a:srgbClr val="14305A">
                <a:alpha val="18000"/>
              </a:srgbClr>
            </a:outerShdw>
          </a:effectLst>
        </p:spPr>
      </p:pic>
      <p:sp>
        <p:nvSpPr>
          <p:cNvPr id="6" name="Shape 2"/>
          <p:cNvSpPr/>
          <p:nvPr/>
        </p:nvSpPr>
        <p:spPr>
          <a:xfrm>
            <a:off x="822325" y="4597450"/>
            <a:ext cx="0" cy="1000621"/>
          </a:xfrm>
          <a:prstGeom prst="line">
            <a:avLst/>
          </a:prstGeom>
          <a:noFill/>
          <a:ln w="19050">
            <a:solidFill>
              <a:srgbClr val="1050B0"/>
            </a:solidFill>
            <a:prstDash val="solid"/>
          </a:ln>
        </p:spPr>
      </p:sp>
      <p:sp>
        <p:nvSpPr>
          <p:cNvPr id="7" name="Text 3"/>
          <p:cNvSpPr/>
          <p:nvPr/>
        </p:nvSpPr>
        <p:spPr>
          <a:xfrm>
            <a:off x="958850" y="4597450"/>
            <a:ext cx="48203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Dr. Erik Meijer</a:t>
            </a:r>
            <a:endParaRPr lang="en-US" sz="1600" dirty="0"/>
          </a:p>
        </p:txBody>
      </p:sp>
      <p:sp>
        <p:nvSpPr>
          <p:cNvPr id="8" name="Text 4"/>
          <p:cNvSpPr/>
          <p:nvPr/>
        </p:nvSpPr>
        <p:spPr>
          <a:xfrm>
            <a:off x="958850" y="4920010"/>
            <a:ext cx="4820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Diseñador de Visual Basic, C#, Haskell, LINQ y Hack · 2024</a:t>
            </a:r>
            <a:endParaRPr lang="en-US" sz="1200" dirty="0"/>
          </a:p>
        </p:txBody>
      </p:sp>
      <p:sp>
        <p:nvSpPr>
          <p:cNvPr id="9" name="Text 5"/>
          <p:cNvSpPr/>
          <p:nvPr/>
        </p:nvSpPr>
        <p:spPr>
          <a:xfrm>
            <a:off x="958850" y="5171430"/>
            <a:ext cx="48203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50B0"/>
                </a:solidFill>
                <a:latin typeface="IBM Plex Sans" pitchFamily="34" charset="0"/>
                <a:ea typeface="IBM Plex Sans" pitchFamily="34" charset="-122"/>
                <a:cs typeface="IBM Plex Sans" pitchFamily="34" charset="-120"/>
              </a:rPr>
              <a:t>youtube.com/watch?v=SsJqmV3Wtkg · citado en Kim &amp; Yegge, </a:t>
            </a:r>
            <a:r>
              <a:rPr lang="en-US" sz="1200" i="1" dirty="0">
                <a:solidFill>
                  <a:srgbClr val="1050B0"/>
                </a:solidFill>
                <a:latin typeface="IBM Plex Sans" pitchFamily="34" charset="0"/>
                <a:ea typeface="IBM Plex Sans" pitchFamily="34" charset="-122"/>
                <a:cs typeface="IBM Plex Sans" pitchFamily="34" charset="-120"/>
              </a:rPr>
              <a:t>Vibe Coding</a:t>
            </a:r>
            <a:endParaRPr lang="en-US" sz="1200" dirty="0"/>
          </a:p>
        </p:txBody>
      </p:sp>
      <p:sp>
        <p:nvSpPr>
          <p:cNvPr id="10" name="Text 6"/>
          <p:cNvSpPr/>
          <p:nvPr/>
        </p:nvSpPr>
        <p:spPr>
          <a:xfrm>
            <a:off x="6248400" y="3207494"/>
            <a:ext cx="5284724" cy="935732"/>
          </a:xfrm>
          <a:prstGeom prst="rect">
            <a:avLst/>
          </a:prstGeom>
          <a:noFill/>
          <a:ln/>
        </p:spPr>
        <p:txBody>
          <a:bodyPr wrap="square" lIns="0" tIns="0" rIns="0" bIns="0" rtlCol="0" anchor="t">
            <a:normAutofit/>
          </a:bodyPr>
          <a:lstStyle/>
          <a:p>
            <a:pPr algn="l" indent="0" marL="0">
              <a:lnSpc>
                <a:spcPts val="3584"/>
              </a:lnSpc>
              <a:buNone/>
            </a:pPr>
            <a:r>
              <a:rPr lang="en-US" sz="2800" b="1" spc="-25" kern="0" dirty="0">
                <a:solidFill>
                  <a:srgbClr val="14305A"/>
                </a:solidFill>
                <a:latin typeface="Manrope" pitchFamily="34" charset="0"/>
                <a:ea typeface="Manrope" pitchFamily="34" charset="-122"/>
                <a:cs typeface="Manrope" pitchFamily="34" charset="-120"/>
              </a:rPr>
              <a:t>“Los días de escribir código a mano están llegando a su fin.”</a:t>
            </a:r>
            <a:endParaRPr lang="en-US" sz="2800" dirty="0"/>
          </a:p>
        </p:txBody>
      </p:sp>
      <p:pic>
        <p:nvPicPr>
          <p:cNvPr id="11"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788073"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DE LA PROMESA</a:t>
            </a:r>
            <a:endParaRPr lang="en-US" sz="1200" dirty="0"/>
          </a:p>
        </p:txBody>
      </p:sp>
      <p:sp>
        <p:nvSpPr>
          <p:cNvPr id="4" name="Shape 1"/>
          <p:cNvSpPr/>
          <p:nvPr/>
        </p:nvSpPr>
        <p:spPr>
          <a:xfrm>
            <a:off x="4600873" y="913110"/>
            <a:ext cx="609600" cy="12700"/>
          </a:xfrm>
          <a:prstGeom prst="rect">
            <a:avLst/>
          </a:prstGeom>
          <a:solidFill>
            <a:srgbClr val="14305A">
              <a:alpha val="16000"/>
            </a:srgbClr>
          </a:solidFill>
          <a:ln/>
        </p:spPr>
      </p:sp>
      <p:pic>
        <p:nvPicPr>
          <p:cNvPr id="5" name="Image 1" descr="Andrej Karpathy">    </p:cNvPr>
          <p:cNvPicPr>
            <a:picLocks noChangeAspect="1"/>
          </p:cNvPicPr>
          <p:nvPr/>
        </p:nvPicPr>
        <p:blipFill>
          <a:blip r:embed="rId2"/>
          <a:srcRect l="0" r="0" t="0" b="0"/>
          <a:stretch/>
        </p:blipFill>
        <p:spPr>
          <a:xfrm>
            <a:off x="812800" y="1371650"/>
            <a:ext cx="3429000" cy="3429000"/>
          </a:xfrm>
          <a:prstGeom prst="roundRect">
            <a:avLst>
              <a:gd name="adj" fmla="val 3704"/>
            </a:avLst>
          </a:prstGeom>
          <a:effectLst>
            <a:outerShdw sx="100000" sy="100000" kx="0" ky="0" algn="bl" rotWithShape="0" blurRad="381000" dist="152400" dir="5400000">
              <a:srgbClr val="14305A">
                <a:alpha val="18000"/>
              </a:srgbClr>
            </a:outerShdw>
          </a:effectLst>
        </p:spPr>
      </p:pic>
      <p:sp>
        <p:nvSpPr>
          <p:cNvPr id="6" name="Shape 2"/>
          <p:cNvSpPr/>
          <p:nvPr/>
        </p:nvSpPr>
        <p:spPr>
          <a:xfrm>
            <a:off x="822325" y="4953050"/>
            <a:ext cx="0" cy="1000621"/>
          </a:xfrm>
          <a:prstGeom prst="line">
            <a:avLst/>
          </a:prstGeom>
          <a:noFill/>
          <a:ln w="19050">
            <a:solidFill>
              <a:srgbClr val="1050B0"/>
            </a:solidFill>
            <a:prstDash val="solid"/>
          </a:ln>
        </p:spPr>
      </p:sp>
      <p:sp>
        <p:nvSpPr>
          <p:cNvPr id="7" name="Text 3"/>
          <p:cNvSpPr/>
          <p:nvPr/>
        </p:nvSpPr>
        <p:spPr>
          <a:xfrm>
            <a:off x="958850" y="4953050"/>
            <a:ext cx="338143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Andrej Karpathy</a:t>
            </a:r>
            <a:endParaRPr lang="en-US" sz="1600" dirty="0"/>
          </a:p>
        </p:txBody>
      </p:sp>
      <p:sp>
        <p:nvSpPr>
          <p:cNvPr id="8" name="Text 4"/>
          <p:cNvSpPr/>
          <p:nvPr/>
        </p:nvSpPr>
        <p:spPr>
          <a:xfrm>
            <a:off x="958850" y="5275610"/>
            <a:ext cx="33814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Cofundador de OpenAI · 2 de febrero de 2025</a:t>
            </a:r>
            <a:endParaRPr lang="en-US" sz="1200" dirty="0"/>
          </a:p>
        </p:txBody>
      </p:sp>
      <p:sp>
        <p:nvSpPr>
          <p:cNvPr id="9" name="Text 5"/>
          <p:cNvSpPr/>
          <p:nvPr/>
        </p:nvSpPr>
        <p:spPr>
          <a:xfrm>
            <a:off x="958850" y="5527030"/>
            <a:ext cx="33814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50B0"/>
                </a:solidFill>
                <a:latin typeface="IBM Plex Sans" pitchFamily="34" charset="0"/>
                <a:ea typeface="IBM Plex Sans" pitchFamily="34" charset="-122"/>
                <a:cs typeface="IBM Plex Sans" pitchFamily="34" charset="-120"/>
              </a:rPr>
              <a:t>x.com/karpathy/status/1886192184808149383</a:t>
            </a:r>
            <a:endParaRPr lang="en-US" sz="1200" dirty="0"/>
          </a:p>
        </p:txBody>
      </p:sp>
      <p:sp>
        <p:nvSpPr>
          <p:cNvPr id="10" name="Text 6"/>
          <p:cNvSpPr/>
          <p:nvPr/>
        </p:nvSpPr>
        <p:spPr>
          <a:xfrm>
            <a:off x="4851400" y="2882404"/>
            <a:ext cx="6723634" cy="1585913"/>
          </a:xfrm>
          <a:prstGeom prst="rect">
            <a:avLst/>
          </a:prstGeom>
          <a:noFill/>
          <a:ln/>
        </p:spPr>
        <p:txBody>
          <a:bodyPr wrap="square" lIns="0" tIns="0" rIns="0" bIns="0" rtlCol="0" anchor="t">
            <a:normAutofit/>
          </a:bodyPr>
          <a:lstStyle/>
          <a:p>
            <a:pPr algn="l" indent="0" marL="0">
              <a:lnSpc>
                <a:spcPts val="3072"/>
              </a:lnSpc>
              <a:buNone/>
            </a:pPr>
            <a:r>
              <a:rPr lang="en-US" sz="2400" b="1" spc="-25" kern="0" dirty="0">
                <a:solidFill>
                  <a:srgbClr val="14305A"/>
                </a:solidFill>
                <a:latin typeface="Manrope" pitchFamily="34" charset="0"/>
                <a:ea typeface="Manrope" pitchFamily="34" charset="-122"/>
                <a:cs typeface="Manrope" pitchFamily="34" charset="-120"/>
              </a:rPr>
              <a:t>“Hay una nueva forma de codificar a la que llamo </a:t>
            </a:r>
            <a:r>
              <a:rPr lang="en-US" sz="2400" b="1" i="1" spc="-25" kern="0" dirty="0">
                <a:solidFill>
                  <a:srgbClr val="14305A"/>
                </a:solidFill>
                <a:latin typeface="Manrope" pitchFamily="34" charset="0"/>
                <a:ea typeface="Manrope" pitchFamily="34" charset="-122"/>
                <a:cs typeface="Manrope" pitchFamily="34" charset="-120"/>
              </a:rPr>
              <a:t>vibe coding</a:t>
            </a:r>
            <a:r>
              <a:rPr lang="en-US" sz="2400" b="1" spc="-25" kern="0" dirty="0">
                <a:solidFill>
                  <a:srgbClr val="14305A"/>
                </a:solidFill>
                <a:latin typeface="Manrope" pitchFamily="34" charset="0"/>
                <a:ea typeface="Manrope" pitchFamily="34" charset="-122"/>
                <a:cs typeface="Manrope" pitchFamily="34" charset="-120"/>
              </a:rPr>
              <a:t>: te entregas por completo a las vibras, abrazas lo exponencial y olvidas que el código siquiera existe.”</a:t>
            </a:r>
            <a:endParaRPr lang="en-US" sz="2400" dirty="0"/>
          </a:p>
        </p:txBody>
      </p:sp>
      <p:pic>
        <p:nvPicPr>
          <p:cNvPr id="11"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788073"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DE LA PROMESA</a:t>
            </a:r>
            <a:endParaRPr lang="en-US" sz="1200" dirty="0"/>
          </a:p>
        </p:txBody>
      </p:sp>
      <p:sp>
        <p:nvSpPr>
          <p:cNvPr id="4" name="Shape 1"/>
          <p:cNvSpPr/>
          <p:nvPr/>
        </p:nvSpPr>
        <p:spPr>
          <a:xfrm>
            <a:off x="4600873" y="913110"/>
            <a:ext cx="609600" cy="12700"/>
          </a:xfrm>
          <a:prstGeom prst="rect">
            <a:avLst/>
          </a:prstGeom>
          <a:solidFill>
            <a:srgbClr val="14305A">
              <a:alpha val="16000"/>
            </a:srgbClr>
          </a:solidFill>
          <a:ln/>
        </p:spPr>
      </p:sp>
      <p:pic>
        <p:nvPicPr>
          <p:cNvPr id="5" name="Image 1" descr="Dario Amodei en el Council on Foreign Relations">    </p:cNvPr>
          <p:cNvPicPr>
            <a:picLocks noChangeAspect="1"/>
          </p:cNvPicPr>
          <p:nvPr/>
        </p:nvPicPr>
        <p:blipFill>
          <a:blip r:embed="rId2"/>
          <a:srcRect l="58" r="58" t="0" b="0"/>
          <a:stretch/>
        </p:blipFill>
        <p:spPr>
          <a:xfrm>
            <a:off x="812800" y="1852960"/>
            <a:ext cx="4826000" cy="2717800"/>
          </a:xfrm>
          <a:prstGeom prst="roundRect">
            <a:avLst>
              <a:gd name="adj" fmla="val 4673"/>
            </a:avLst>
          </a:prstGeom>
          <a:effectLst>
            <a:outerShdw sx="100000" sy="100000" kx="0" ky="0" algn="bl" rotWithShape="0" blurRad="381000" dist="152400" dir="5400000">
              <a:srgbClr val="14305A">
                <a:alpha val="18000"/>
              </a:srgbClr>
            </a:outerShdw>
          </a:effectLst>
        </p:spPr>
      </p:pic>
      <p:sp>
        <p:nvSpPr>
          <p:cNvPr id="6" name="Shape 2"/>
          <p:cNvSpPr/>
          <p:nvPr/>
        </p:nvSpPr>
        <p:spPr>
          <a:xfrm>
            <a:off x="822325" y="4723160"/>
            <a:ext cx="0" cy="749201"/>
          </a:xfrm>
          <a:prstGeom prst="line">
            <a:avLst/>
          </a:prstGeom>
          <a:noFill/>
          <a:ln w="19050">
            <a:solidFill>
              <a:srgbClr val="1050B0"/>
            </a:solidFill>
            <a:prstDash val="solid"/>
          </a:ln>
        </p:spPr>
      </p:sp>
      <p:sp>
        <p:nvSpPr>
          <p:cNvPr id="7" name="Text 3"/>
          <p:cNvSpPr/>
          <p:nvPr/>
        </p:nvSpPr>
        <p:spPr>
          <a:xfrm>
            <a:off x="958850" y="4723160"/>
            <a:ext cx="48203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Dario Amodei</a:t>
            </a:r>
            <a:endParaRPr lang="en-US" sz="1600" dirty="0"/>
          </a:p>
        </p:txBody>
      </p:sp>
      <p:sp>
        <p:nvSpPr>
          <p:cNvPr id="8" name="Text 4"/>
          <p:cNvSpPr/>
          <p:nvPr/>
        </p:nvSpPr>
        <p:spPr>
          <a:xfrm>
            <a:off x="958850" y="5045720"/>
            <a:ext cx="48203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CEO de Anthropic · Council on Foreign Relations · 10 de marzo de 2025</a:t>
            </a:r>
            <a:endParaRPr lang="en-US" sz="1200" dirty="0"/>
          </a:p>
        </p:txBody>
      </p:sp>
      <p:sp>
        <p:nvSpPr>
          <p:cNvPr id="9" name="Text 5"/>
          <p:cNvSpPr/>
          <p:nvPr/>
        </p:nvSpPr>
        <p:spPr>
          <a:xfrm>
            <a:off x="6248400" y="2768699"/>
            <a:ext cx="5284724" cy="1813322"/>
          </a:xfrm>
          <a:prstGeom prst="rect">
            <a:avLst/>
          </a:prstGeom>
          <a:noFill/>
          <a:ln/>
        </p:spPr>
        <p:txBody>
          <a:bodyPr wrap="square" lIns="0" tIns="0" rIns="0" bIns="0" rtlCol="0" anchor="t">
            <a:normAutofit/>
          </a:bodyPr>
          <a:lstStyle/>
          <a:p>
            <a:pPr algn="l" indent="0" marL="0">
              <a:lnSpc>
                <a:spcPts val="2816"/>
              </a:lnSpc>
              <a:buNone/>
            </a:pPr>
            <a:r>
              <a:rPr lang="en-US" sz="2200" b="1" spc="-25" kern="0" dirty="0">
                <a:solidFill>
                  <a:srgbClr val="14305A"/>
                </a:solidFill>
                <a:latin typeface="Manrope" pitchFamily="34" charset="0"/>
                <a:ea typeface="Manrope" pitchFamily="34" charset="-122"/>
                <a:cs typeface="Manrope" pitchFamily="34" charset="-120"/>
              </a:rPr>
              <a:t>“Estamos a tres o seis meses de un mundo en el que la IA escribe el 90 % del código. Y en doce meses, podríamos estar en un mundo en el que la IA escribe prácticamente todo el código.”</a:t>
            </a:r>
            <a:endParaRPr lang="en-US" sz="2200" dirty="0"/>
          </a:p>
        </p:txBody>
      </p:sp>
      <p:pic>
        <p:nvPicPr>
          <p:cNvPr id="10"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788073"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DE LA PROMESA</a:t>
            </a:r>
            <a:endParaRPr lang="en-US" sz="1200" dirty="0"/>
          </a:p>
        </p:txBody>
      </p:sp>
      <p:sp>
        <p:nvSpPr>
          <p:cNvPr id="4" name="Shape 1"/>
          <p:cNvSpPr/>
          <p:nvPr/>
        </p:nvSpPr>
        <p:spPr>
          <a:xfrm>
            <a:off x="4600873" y="913110"/>
            <a:ext cx="609600" cy="12700"/>
          </a:xfrm>
          <a:prstGeom prst="rect">
            <a:avLst/>
          </a:prstGeom>
          <a:solidFill>
            <a:srgbClr val="14305A">
              <a:alpha val="16000"/>
            </a:srgbClr>
          </a:solidFill>
          <a:ln/>
        </p:spPr>
      </p:sp>
      <p:pic>
        <p:nvPicPr>
          <p:cNvPr id="5" name="Image 1" descr="Boris Cherny en Lenny's Podcast">    </p:cNvPr>
          <p:cNvPicPr>
            <a:picLocks noChangeAspect="1"/>
          </p:cNvPicPr>
          <p:nvPr/>
        </p:nvPicPr>
        <p:blipFill>
          <a:blip r:embed="rId2"/>
          <a:srcRect l="58" r="58" t="0" b="0"/>
          <a:stretch/>
        </p:blipFill>
        <p:spPr>
          <a:xfrm>
            <a:off x="812800" y="1727250"/>
            <a:ext cx="4826000" cy="2717800"/>
          </a:xfrm>
          <a:prstGeom prst="roundRect">
            <a:avLst>
              <a:gd name="adj" fmla="val 4673"/>
            </a:avLst>
          </a:prstGeom>
          <a:effectLst>
            <a:outerShdw sx="100000" sy="100000" kx="0" ky="0" algn="bl" rotWithShape="0" blurRad="381000" dist="152400" dir="5400000">
              <a:srgbClr val="14305A">
                <a:alpha val="18000"/>
              </a:srgbClr>
            </a:outerShdw>
          </a:effectLst>
        </p:spPr>
      </p:pic>
      <p:sp>
        <p:nvSpPr>
          <p:cNvPr id="6" name="Shape 2"/>
          <p:cNvSpPr/>
          <p:nvPr/>
        </p:nvSpPr>
        <p:spPr>
          <a:xfrm>
            <a:off x="822325" y="4597450"/>
            <a:ext cx="0" cy="1000621"/>
          </a:xfrm>
          <a:prstGeom prst="line">
            <a:avLst/>
          </a:prstGeom>
          <a:noFill/>
          <a:ln w="19050">
            <a:solidFill>
              <a:srgbClr val="1050B0"/>
            </a:solidFill>
            <a:prstDash val="solid"/>
          </a:ln>
        </p:spPr>
      </p:sp>
      <p:sp>
        <p:nvSpPr>
          <p:cNvPr id="7" name="Text 3"/>
          <p:cNvSpPr/>
          <p:nvPr/>
        </p:nvSpPr>
        <p:spPr>
          <a:xfrm>
            <a:off x="958850" y="4597450"/>
            <a:ext cx="48203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Boris Cherny</a:t>
            </a:r>
            <a:endParaRPr lang="en-US" sz="1600" dirty="0"/>
          </a:p>
        </p:txBody>
      </p:sp>
      <p:sp>
        <p:nvSpPr>
          <p:cNvPr id="8" name="Text 4"/>
          <p:cNvSpPr/>
          <p:nvPr/>
        </p:nvSpPr>
        <p:spPr>
          <a:xfrm>
            <a:off x="958850" y="4920010"/>
            <a:ext cx="48203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Head of Claude Code en Anthropic · Lenny's Podcast · febrero de 2026</a:t>
            </a:r>
            <a:endParaRPr lang="en-US" sz="1200" dirty="0"/>
          </a:p>
        </p:txBody>
      </p:sp>
      <p:sp>
        <p:nvSpPr>
          <p:cNvPr id="9" name="Text 5"/>
          <p:cNvSpPr/>
          <p:nvPr/>
        </p:nvSpPr>
        <p:spPr>
          <a:xfrm>
            <a:off x="958850" y="5384750"/>
            <a:ext cx="4820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50B0"/>
                </a:solidFill>
                <a:latin typeface="IBM Plex Sans" pitchFamily="34" charset="0"/>
                <a:ea typeface="IBM Plex Sans" pitchFamily="34" charset="-122"/>
                <a:cs typeface="IBM Plex Sans" pitchFamily="34" charset="-120"/>
              </a:rPr>
              <a:t>youtu.be/We7BZVKbCVw</a:t>
            </a:r>
            <a:endParaRPr lang="en-US" sz="1200" dirty="0"/>
          </a:p>
        </p:txBody>
      </p:sp>
      <p:sp>
        <p:nvSpPr>
          <p:cNvPr id="10" name="Text 6"/>
          <p:cNvSpPr/>
          <p:nvPr/>
        </p:nvSpPr>
        <p:spPr>
          <a:xfrm>
            <a:off x="6248400" y="2768699"/>
            <a:ext cx="5284724" cy="1813322"/>
          </a:xfrm>
          <a:prstGeom prst="rect">
            <a:avLst/>
          </a:prstGeom>
          <a:noFill/>
          <a:ln/>
        </p:spPr>
        <p:txBody>
          <a:bodyPr wrap="square" lIns="0" tIns="0" rIns="0" bIns="0" rtlCol="0" anchor="t">
            <a:normAutofit/>
          </a:bodyPr>
          <a:lstStyle/>
          <a:p>
            <a:pPr algn="l" indent="0" marL="0">
              <a:lnSpc>
                <a:spcPts val="2816"/>
              </a:lnSpc>
              <a:buNone/>
            </a:pPr>
            <a:r>
              <a:rPr lang="en-US" sz="2200" b="1" spc="-25" kern="0" dirty="0">
                <a:solidFill>
                  <a:srgbClr val="14305A"/>
                </a:solidFill>
                <a:latin typeface="Manrope" pitchFamily="34" charset="0"/>
                <a:ea typeface="Manrope" pitchFamily="34" charset="-122"/>
                <a:cs typeface="Manrope" pitchFamily="34" charset="-120"/>
              </a:rPr>
              <a:t>“El 100 % de mi código lo escribe Claude Code.</a:t>
            </a:r>
            <a:endParaRPr lang="en-US" sz="2200" dirty="0"/>
          </a:p>
          <a:p>
            <a:pPr algn="l" indent="0" marL="0">
              <a:lnSpc>
                <a:spcPts val="2816"/>
              </a:lnSpc>
              <a:buNone/>
            </a:pPr>
            <a:r>
              <a:rPr lang="en-US" sz="2200" b="1" spc="-25" kern="0" dirty="0">
                <a:solidFill>
                  <a:srgbClr val="14305A"/>
                </a:solidFill>
                <a:latin typeface="Manrope" pitchFamily="34" charset="0"/>
                <a:ea typeface="Manrope" pitchFamily="34" charset="-122"/>
                <a:cs typeface="Manrope" pitchFamily="34" charset="-120"/>
              </a:rPr>
              <a:t>No he editado una sola línea a mano desde noviembre.</a:t>
            </a:r>
            <a:endParaRPr lang="en-US" sz="2200" dirty="0"/>
          </a:p>
          <a:p>
            <a:pPr algn="l" indent="0" marL="0">
              <a:lnSpc>
                <a:spcPts val="2816"/>
              </a:lnSpc>
              <a:buNone/>
            </a:pPr>
            <a:r>
              <a:rPr lang="en-US" sz="2200" b="1" spc="-25" kern="0" dirty="0">
                <a:solidFill>
                  <a:srgbClr val="14305A"/>
                </a:solidFill>
                <a:latin typeface="Manrope" pitchFamily="34" charset="0"/>
                <a:ea typeface="Manrope" pitchFamily="34" charset="-122"/>
                <a:cs typeface="Manrope" pitchFamily="34" charset="-120"/>
              </a:rPr>
              <a:t>Cada día envío 10, 20, 30 pull requests.”</a:t>
            </a:r>
            <a:endParaRPr lang="en-US" sz="2200" dirty="0"/>
          </a:p>
        </p:txBody>
      </p:sp>
      <p:pic>
        <p:nvPicPr>
          <p:cNvPr id="11"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788073"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DE LA PROMESA</a:t>
            </a:r>
            <a:endParaRPr lang="en-US" sz="1200" dirty="0"/>
          </a:p>
        </p:txBody>
      </p:sp>
      <p:sp>
        <p:nvSpPr>
          <p:cNvPr id="4" name="Shape 1"/>
          <p:cNvSpPr/>
          <p:nvPr/>
        </p:nvSpPr>
        <p:spPr>
          <a:xfrm>
            <a:off x="4600873" y="913110"/>
            <a:ext cx="609600" cy="12700"/>
          </a:xfrm>
          <a:prstGeom prst="rect">
            <a:avLst/>
          </a:prstGeom>
          <a:solidFill>
            <a:srgbClr val="14305A">
              <a:alpha val="16000"/>
            </a:srgbClr>
          </a:solidFill>
          <a:ln/>
        </p:spPr>
      </p:sp>
      <p:pic>
        <p:nvPicPr>
          <p:cNvPr id="5" name="Image 1" descr="Steve Yegge">    </p:cNvPr>
          <p:cNvPicPr>
            <a:picLocks noChangeAspect="1"/>
          </p:cNvPicPr>
          <p:nvPr/>
        </p:nvPicPr>
        <p:blipFill>
          <a:blip r:embed="rId2"/>
          <a:srcRect l="0" r="0" t="27" b="27"/>
          <a:stretch/>
        </p:blipFill>
        <p:spPr>
          <a:xfrm>
            <a:off x="812800" y="1593900"/>
            <a:ext cx="4826000" cy="2984500"/>
          </a:xfrm>
          <a:prstGeom prst="roundRect">
            <a:avLst>
              <a:gd name="adj" fmla="val 4255"/>
            </a:avLst>
          </a:prstGeom>
          <a:effectLst>
            <a:outerShdw sx="100000" sy="100000" kx="0" ky="0" algn="bl" rotWithShape="0" blurRad="381000" dist="152400" dir="5400000">
              <a:srgbClr val="14305A">
                <a:alpha val="18000"/>
              </a:srgbClr>
            </a:outerShdw>
          </a:effectLst>
        </p:spPr>
      </p:pic>
      <p:sp>
        <p:nvSpPr>
          <p:cNvPr id="6" name="Shape 2"/>
          <p:cNvSpPr/>
          <p:nvPr/>
        </p:nvSpPr>
        <p:spPr>
          <a:xfrm>
            <a:off x="822325" y="4730800"/>
            <a:ext cx="0" cy="1000621"/>
          </a:xfrm>
          <a:prstGeom prst="line">
            <a:avLst/>
          </a:prstGeom>
          <a:noFill/>
          <a:ln w="19050">
            <a:solidFill>
              <a:srgbClr val="1050B0"/>
            </a:solidFill>
            <a:prstDash val="solid"/>
          </a:ln>
        </p:spPr>
      </p:sp>
      <p:sp>
        <p:nvSpPr>
          <p:cNvPr id="7" name="Text 3"/>
          <p:cNvSpPr/>
          <p:nvPr/>
        </p:nvSpPr>
        <p:spPr>
          <a:xfrm>
            <a:off x="958850" y="4730800"/>
            <a:ext cx="48203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Steve Yegge</a:t>
            </a:r>
            <a:endParaRPr lang="en-US" sz="1600" dirty="0"/>
          </a:p>
        </p:txBody>
      </p:sp>
      <p:sp>
        <p:nvSpPr>
          <p:cNvPr id="8" name="Text 4"/>
          <p:cNvSpPr/>
          <p:nvPr/>
        </p:nvSpPr>
        <p:spPr>
          <a:xfrm>
            <a:off x="958850" y="5053360"/>
            <a:ext cx="48203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Coautor de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 “Revenge of the Junior Developer” · marzo de 2025</a:t>
            </a:r>
            <a:endParaRPr lang="en-US" sz="1200" dirty="0"/>
          </a:p>
        </p:txBody>
      </p:sp>
      <p:sp>
        <p:nvSpPr>
          <p:cNvPr id="9" name="Text 5"/>
          <p:cNvSpPr/>
          <p:nvPr/>
        </p:nvSpPr>
        <p:spPr>
          <a:xfrm>
            <a:off x="958850" y="5518100"/>
            <a:ext cx="4820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50B0"/>
                </a:solidFill>
                <a:latin typeface="IBM Plex Sans" pitchFamily="34" charset="0"/>
                <a:ea typeface="IBM Plex Sans" pitchFamily="34" charset="-122"/>
                <a:cs typeface="IBM Plex Sans" pitchFamily="34" charset="-120"/>
              </a:rPr>
              <a:t>sourcegraph.com/blog/revenge-of-the-junior-developer</a:t>
            </a:r>
            <a:endParaRPr lang="en-US" sz="1200" dirty="0"/>
          </a:p>
        </p:txBody>
      </p:sp>
      <p:sp>
        <p:nvSpPr>
          <p:cNvPr id="10" name="Text 6"/>
          <p:cNvSpPr/>
          <p:nvPr/>
        </p:nvSpPr>
        <p:spPr>
          <a:xfrm>
            <a:off x="6248400" y="2524820"/>
            <a:ext cx="5284724" cy="2301032"/>
          </a:xfrm>
          <a:prstGeom prst="rect">
            <a:avLst/>
          </a:prstGeom>
          <a:noFill/>
          <a:ln/>
        </p:spPr>
        <p:txBody>
          <a:bodyPr wrap="square" lIns="0" tIns="0" rIns="0" bIns="0" rtlCol="0" anchor="t">
            <a:normAutofit/>
          </a:bodyPr>
          <a:lstStyle/>
          <a:p>
            <a:pPr algn="l" indent="0" marL="0">
              <a:lnSpc>
                <a:spcPts val="2560"/>
              </a:lnSpc>
              <a:buNone/>
            </a:pPr>
            <a:r>
              <a:rPr lang="en-US" sz="2000" b="1" spc="-25" kern="0" dirty="0">
                <a:solidFill>
                  <a:srgbClr val="14305A"/>
                </a:solidFill>
                <a:latin typeface="Manrope" pitchFamily="34" charset="0"/>
                <a:ea typeface="Manrope" pitchFamily="34" charset="-122"/>
                <a:cs typeface="Manrope" pitchFamily="34" charset="-120"/>
              </a:rPr>
              <a:t>“No caigas en la tentadora trampa de aplazar el trabajo. Decir ‘en seis meses será mucho más rápido, así que voy a posponer esto seis meses’ es como decir ‘voy a esperar a que el tráfico baje’. Tu trayecto será más corto, claro. Pero llegarás de último.”</a:t>
            </a:r>
            <a:endParaRPr lang="en-US" sz="2000" dirty="0"/>
          </a:p>
        </p:txBody>
      </p:sp>
      <p:pic>
        <p:nvPicPr>
          <p:cNvPr id="11"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788073"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DE LA PROMESA</a:t>
            </a:r>
            <a:endParaRPr lang="en-US" sz="1200" dirty="0"/>
          </a:p>
        </p:txBody>
      </p:sp>
      <p:sp>
        <p:nvSpPr>
          <p:cNvPr id="4" name="Shape 1"/>
          <p:cNvSpPr/>
          <p:nvPr/>
        </p:nvSpPr>
        <p:spPr>
          <a:xfrm>
            <a:off x="4600873" y="913110"/>
            <a:ext cx="609600" cy="12700"/>
          </a:xfrm>
          <a:prstGeom prst="rect">
            <a:avLst/>
          </a:prstGeom>
          <a:solidFill>
            <a:srgbClr val="14305A">
              <a:alpha val="16000"/>
            </a:srgbClr>
          </a:solidFill>
          <a:ln/>
        </p:spPr>
      </p:sp>
      <p:pic>
        <p:nvPicPr>
          <p:cNvPr id="5" name="Image 1" descr="Gas Town, el orquestador de agentes de Steve Yegge">    </p:cNvPr>
          <p:cNvPicPr>
            <a:picLocks noChangeAspect="1"/>
          </p:cNvPicPr>
          <p:nvPr/>
        </p:nvPicPr>
        <p:blipFill>
          <a:blip r:embed="rId2"/>
          <a:srcRect l="31" r="31" t="0" b="0"/>
          <a:stretch/>
        </p:blipFill>
        <p:spPr>
          <a:xfrm>
            <a:off x="812800" y="1875185"/>
            <a:ext cx="4826000" cy="2635250"/>
          </a:xfrm>
          <a:prstGeom prst="roundRect">
            <a:avLst>
              <a:gd name="adj" fmla="val 4819"/>
            </a:avLst>
          </a:prstGeom>
          <a:effectLst>
            <a:outerShdw sx="100000" sy="100000" kx="0" ky="0" algn="bl" rotWithShape="0" blurRad="381000" dist="152400" dir="5400000">
              <a:srgbClr val="14305A">
                <a:alpha val="18000"/>
              </a:srgbClr>
            </a:outerShdw>
          </a:effectLst>
        </p:spPr>
      </p:pic>
      <p:sp>
        <p:nvSpPr>
          <p:cNvPr id="6" name="Shape 2"/>
          <p:cNvSpPr/>
          <p:nvPr/>
        </p:nvSpPr>
        <p:spPr>
          <a:xfrm>
            <a:off x="822325" y="4662835"/>
            <a:ext cx="0" cy="787301"/>
          </a:xfrm>
          <a:prstGeom prst="line">
            <a:avLst/>
          </a:prstGeom>
          <a:noFill/>
          <a:ln w="19050">
            <a:solidFill>
              <a:srgbClr val="1050B0"/>
            </a:solidFill>
            <a:prstDash val="solid"/>
          </a:ln>
        </p:spPr>
      </p:sp>
      <p:sp>
        <p:nvSpPr>
          <p:cNvPr id="7" name="Text 3"/>
          <p:cNvSpPr/>
          <p:nvPr/>
        </p:nvSpPr>
        <p:spPr>
          <a:xfrm>
            <a:off x="958850" y="4662835"/>
            <a:ext cx="48203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Steve Yegge</a:t>
            </a:r>
            <a:endParaRPr lang="en-US" sz="1600" dirty="0"/>
          </a:p>
        </p:txBody>
      </p:sp>
      <p:sp>
        <p:nvSpPr>
          <p:cNvPr id="8" name="Text 4"/>
          <p:cNvSpPr/>
          <p:nvPr/>
        </p:nvSpPr>
        <p:spPr>
          <a:xfrm>
            <a:off x="958850" y="4985395"/>
            <a:ext cx="4820349"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C7192"/>
                </a:solidFill>
                <a:latin typeface="IBM Plex Sans" pitchFamily="34" charset="0"/>
                <a:ea typeface="IBM Plex Sans" pitchFamily="34" charset="-122"/>
                <a:cs typeface="IBM Plex Sans" pitchFamily="34" charset="-120"/>
              </a:rPr>
              <a:t>Welcome to Gas Town</a:t>
            </a:r>
            <a:r>
              <a:rPr lang="en-US" sz="1200" dirty="0">
                <a:solidFill>
                  <a:srgbClr val="5C7192"/>
                </a:solidFill>
                <a:latin typeface="IBM Plex Sans" pitchFamily="34" charset="0"/>
                <a:ea typeface="IBM Plex Sans" pitchFamily="34" charset="-122"/>
                <a:cs typeface="IBM Plex Sans" pitchFamily="34" charset="-120"/>
              </a:rPr>
              <a:t> · enero de 2026</a:t>
            </a:r>
            <a:endParaRPr lang="en-US" sz="1200" dirty="0"/>
          </a:p>
        </p:txBody>
      </p:sp>
      <p:sp>
        <p:nvSpPr>
          <p:cNvPr id="9" name="Text 5"/>
          <p:cNvSpPr/>
          <p:nvPr/>
        </p:nvSpPr>
        <p:spPr>
          <a:xfrm>
            <a:off x="958850" y="5236815"/>
            <a:ext cx="4820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50B0"/>
                </a:solidFill>
                <a:latin typeface="IBM Plex Sans" pitchFamily="34" charset="0"/>
                <a:ea typeface="IBM Plex Sans" pitchFamily="34" charset="-122"/>
                <a:cs typeface="IBM Plex Sans" pitchFamily="34" charset="-120"/>
              </a:rPr>
              <a:t>steve-yegge.medium.com/welcome-to-gas-town-4f25ee16dd04</a:t>
            </a:r>
            <a:endParaRPr lang="en-US" sz="1200" dirty="0"/>
          </a:p>
        </p:txBody>
      </p:sp>
      <p:sp>
        <p:nvSpPr>
          <p:cNvPr id="10" name="Text 6"/>
          <p:cNvSpPr/>
          <p:nvPr/>
        </p:nvSpPr>
        <p:spPr>
          <a:xfrm>
            <a:off x="6248400" y="2589907"/>
            <a:ext cx="5284724" cy="2170906"/>
          </a:xfrm>
          <a:prstGeom prst="rect">
            <a:avLst/>
          </a:prstGeom>
          <a:noFill/>
          <a:ln/>
        </p:spPr>
        <p:txBody>
          <a:bodyPr wrap="square" lIns="0" tIns="0" rIns="0" bIns="0" rtlCol="0" anchor="t">
            <a:normAutofit/>
          </a:bodyPr>
          <a:lstStyle/>
          <a:p>
            <a:pPr algn="l" indent="0" marL="0">
              <a:lnSpc>
                <a:spcPts val="2816"/>
              </a:lnSpc>
              <a:buNone/>
            </a:pPr>
            <a:r>
              <a:rPr lang="en-US" sz="2200" b="1" spc="-25" kern="0" dirty="0">
                <a:solidFill>
                  <a:srgbClr val="14305A"/>
                </a:solidFill>
                <a:latin typeface="Manrope" pitchFamily="34" charset="0"/>
                <a:ea typeface="Manrope" pitchFamily="34" charset="-122"/>
                <a:cs typeface="Manrope" pitchFamily="34" charset="-120"/>
              </a:rPr>
              <a:t>“El foco es </a:t>
            </a:r>
            <a:r>
              <a:rPr lang="en-US" sz="2200" b="1" i="1" spc="-25" kern="0" dirty="0">
                <a:solidFill>
                  <a:srgbClr val="14305A"/>
                </a:solidFill>
                <a:latin typeface="Manrope" pitchFamily="34" charset="0"/>
                <a:ea typeface="Manrope" pitchFamily="34" charset="-122"/>
                <a:cs typeface="Manrope" pitchFamily="34" charset="-120"/>
              </a:rPr>
              <a:t>throughput</a:t>
            </a:r>
            <a:r>
              <a:rPr lang="en-US" sz="2200" b="1" spc="-25" kern="0" dirty="0">
                <a:solidFill>
                  <a:srgbClr val="14305A"/>
                </a:solidFill>
                <a:latin typeface="Manrope" pitchFamily="34" charset="0"/>
                <a:ea typeface="Manrope" pitchFamily="34" charset="-122"/>
                <a:cs typeface="Manrope" pitchFamily="34" charset="-120"/>
              </a:rPr>
              <a:t>: creación y corrección a la velocidad del pensamiento. En Gas Town dejas que Claude Code haga lo suyo. Tú eres el Product Manager y Gas Town es un compilador de ideas.”</a:t>
            </a:r>
            <a:endParaRPr lang="en-US" sz="2200" dirty="0"/>
          </a:p>
        </p:txBody>
      </p:sp>
      <p:pic>
        <p:nvPicPr>
          <p:cNvPr id="11"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C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1663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9DB7D9"/>
                </a:solidFill>
                <a:latin typeface="IBM Plex Sans" pitchFamily="34" charset="0"/>
                <a:ea typeface="IBM Plex Sans" pitchFamily="34" charset="-122"/>
                <a:cs typeface="IBM Plex Sans" pitchFamily="34" charset="-120"/>
              </a:rPr>
              <a:t>ACTO I · LAS VOCES CRÍTICAS</a:t>
            </a:r>
            <a:endParaRPr lang="en-US" sz="1200" dirty="0"/>
          </a:p>
        </p:txBody>
      </p:sp>
      <p:sp>
        <p:nvSpPr>
          <p:cNvPr id="4" name="Shape 1"/>
          <p:cNvSpPr/>
          <p:nvPr/>
        </p:nvSpPr>
        <p:spPr>
          <a:xfrm>
            <a:off x="3979118" y="913110"/>
            <a:ext cx="609600" cy="12700"/>
          </a:xfrm>
          <a:prstGeom prst="rect">
            <a:avLst/>
          </a:prstGeom>
          <a:solidFill>
            <a:srgbClr val="9DB7D9">
              <a:alpha val="32000"/>
            </a:srgbClr>
          </a:solidFill>
          <a:ln/>
        </p:spPr>
      </p:sp>
      <p:sp>
        <p:nvSpPr>
          <p:cNvPr id="5" name="Text 2"/>
          <p:cNvSpPr/>
          <p:nvPr>
            <p:ph type="title"/>
          </p:nvPr>
        </p:nvSpPr>
        <p:spPr>
          <a:xfrm>
            <a:off x="812800" y="286256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25" kern="0" dirty="0">
                <a:solidFill>
                  <a:srgbClr val="EAF2FB"/>
                </a:solidFill>
                <a:latin typeface="Manrope" pitchFamily="34" charset="0"/>
                <a:ea typeface="Manrope" pitchFamily="34" charset="-122"/>
                <a:cs typeface="Manrope" pitchFamily="34" charset="-120"/>
              </a:rPr>
              <a:t>Pero no todo</a:t>
            </a:r>
            <a:endParaRPr lang="en-US" sz="6000" dirty="0"/>
          </a:p>
          <a:p>
            <a:pPr algn="l" indent="0" marL="0">
              <a:lnSpc>
                <a:spcPts val="6300"/>
              </a:lnSpc>
              <a:buNone/>
            </a:pPr>
            <a:r>
              <a:rPr lang="en-US" sz="6000" b="1" i="0" spc="-125" kern="0" dirty="0">
                <a:solidFill>
                  <a:srgbClr val="EAF2FB"/>
                </a:solidFill>
                <a:latin typeface="Manrope" pitchFamily="34" charset="0"/>
                <a:ea typeface="Manrope" pitchFamily="34" charset="-122"/>
                <a:cs typeface="Manrope" pitchFamily="34" charset="-120"/>
              </a:rPr>
              <a:t>es </a:t>
            </a:r>
            <a:r>
              <a:rPr lang="en-US" sz="6000" b="1" i="0" spc="-125" kern="0" dirty="0">
                <a:solidFill>
                  <a:srgbClr val="7FB2F0"/>
                </a:solidFill>
                <a:latin typeface="Manrope" pitchFamily="34" charset="0"/>
                <a:ea typeface="Manrope" pitchFamily="34" charset="-122"/>
                <a:cs typeface="Manrope" pitchFamily="34" charset="-120"/>
              </a:rPr>
              <a:t>promesa</a:t>
            </a:r>
            <a:endParaRPr lang="en-US" sz="6000" dirty="0"/>
          </a:p>
        </p:txBody>
      </p:sp>
      <p:pic>
        <p:nvPicPr>
          <p:cNvPr id="6"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1663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CRÍTICAS</a:t>
            </a:r>
            <a:endParaRPr lang="en-US" sz="1200" dirty="0"/>
          </a:p>
        </p:txBody>
      </p:sp>
      <p:sp>
        <p:nvSpPr>
          <p:cNvPr id="4" name="Shape 1"/>
          <p:cNvSpPr/>
          <p:nvPr/>
        </p:nvSpPr>
        <p:spPr>
          <a:xfrm>
            <a:off x="3979118" y="913110"/>
            <a:ext cx="609600" cy="12700"/>
          </a:xfrm>
          <a:prstGeom prst="rect">
            <a:avLst/>
          </a:prstGeom>
          <a:solidFill>
            <a:srgbClr val="14305A">
              <a:alpha val="16000"/>
            </a:srgbClr>
          </a:solidFill>
          <a:ln/>
        </p:spPr>
      </p:sp>
      <p:pic>
        <p:nvPicPr>
          <p:cNvPr id="5" name="Image 1" descr="Jessie Young">    </p:cNvPr>
          <p:cNvPicPr>
            <a:picLocks noChangeAspect="1"/>
          </p:cNvPicPr>
          <p:nvPr/>
        </p:nvPicPr>
        <p:blipFill>
          <a:blip r:embed="rId2"/>
          <a:srcRect l="0" r="0" t="0" b="0"/>
          <a:stretch/>
        </p:blipFill>
        <p:spPr>
          <a:xfrm>
            <a:off x="812800" y="1497360"/>
            <a:ext cx="3429000" cy="3429000"/>
          </a:xfrm>
          <a:prstGeom prst="roundRect">
            <a:avLst>
              <a:gd name="adj" fmla="val 3704"/>
            </a:avLst>
          </a:prstGeom>
          <a:effectLst>
            <a:outerShdw sx="100000" sy="100000" kx="0" ky="0" algn="bl" rotWithShape="0" blurRad="381000" dist="152400" dir="5400000">
              <a:srgbClr val="14305A">
                <a:alpha val="18000"/>
              </a:srgbClr>
            </a:outerShdw>
          </a:effectLst>
        </p:spPr>
      </p:pic>
      <p:sp>
        <p:nvSpPr>
          <p:cNvPr id="6" name="Shape 2"/>
          <p:cNvSpPr/>
          <p:nvPr/>
        </p:nvSpPr>
        <p:spPr>
          <a:xfrm>
            <a:off x="822325" y="5078760"/>
            <a:ext cx="0" cy="749201"/>
          </a:xfrm>
          <a:prstGeom prst="line">
            <a:avLst/>
          </a:prstGeom>
          <a:noFill/>
          <a:ln w="19050">
            <a:solidFill>
              <a:srgbClr val="1050B0"/>
            </a:solidFill>
            <a:prstDash val="solid"/>
          </a:ln>
        </p:spPr>
      </p:sp>
      <p:sp>
        <p:nvSpPr>
          <p:cNvPr id="7" name="Text 3"/>
          <p:cNvSpPr/>
          <p:nvPr/>
        </p:nvSpPr>
        <p:spPr>
          <a:xfrm>
            <a:off x="958850" y="5078760"/>
            <a:ext cx="338143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Jessie Young</a:t>
            </a:r>
            <a:endParaRPr lang="en-US" sz="1600" dirty="0"/>
          </a:p>
        </p:txBody>
      </p:sp>
      <p:sp>
        <p:nvSpPr>
          <p:cNvPr id="8" name="Text 4"/>
          <p:cNvSpPr/>
          <p:nvPr/>
        </p:nvSpPr>
        <p:spPr>
          <a:xfrm>
            <a:off x="958850" y="5401320"/>
            <a:ext cx="33814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Principal Engineer, GitLab · citada en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(Kim &amp; Yegge, 2025)</a:t>
            </a:r>
            <a:endParaRPr lang="en-US" sz="1200" dirty="0"/>
          </a:p>
        </p:txBody>
      </p:sp>
      <p:sp>
        <p:nvSpPr>
          <p:cNvPr id="9" name="Text 5"/>
          <p:cNvSpPr/>
          <p:nvPr/>
        </p:nvSpPr>
        <p:spPr>
          <a:xfrm>
            <a:off x="4851400" y="2230586"/>
            <a:ext cx="6723634" cy="1293267"/>
          </a:xfrm>
          <a:prstGeom prst="rect">
            <a:avLst/>
          </a:prstGeom>
          <a:noFill/>
          <a:ln/>
        </p:spPr>
        <p:txBody>
          <a:bodyPr wrap="square" lIns="0" tIns="0" rIns="0" bIns="0" rtlCol="0" anchor="t">
            <a:normAutofit/>
          </a:bodyPr>
          <a:lstStyle/>
          <a:p>
            <a:pPr algn="l" indent="0" marL="0">
              <a:lnSpc>
                <a:spcPts val="3328"/>
              </a:lnSpc>
              <a:buNone/>
            </a:pPr>
            <a:r>
              <a:rPr lang="en-US" sz="2600" b="1" spc="-25" kern="0" dirty="0">
                <a:solidFill>
                  <a:srgbClr val="14305A"/>
                </a:solidFill>
                <a:latin typeface="Manrope" pitchFamily="34" charset="0"/>
                <a:ea typeface="Manrope" pitchFamily="34" charset="-122"/>
                <a:cs typeface="Manrope" pitchFamily="34" charset="-120"/>
              </a:rPr>
              <a:t>“Le dije a mi equipo:</a:t>
            </a:r>
            <a:endParaRPr lang="en-US" sz="2600" dirty="0"/>
          </a:p>
          <a:p>
            <a:pPr algn="l" indent="0" marL="0">
              <a:lnSpc>
                <a:spcPts val="3328"/>
              </a:lnSpc>
              <a:buNone/>
            </a:pPr>
            <a:r>
              <a:rPr lang="en-US" sz="2600" b="1" spc="-25" kern="0" dirty="0">
                <a:solidFill>
                  <a:srgbClr val="14305A"/>
                </a:solidFill>
                <a:latin typeface="Manrope" pitchFamily="34" charset="0"/>
                <a:ea typeface="Manrope" pitchFamily="34" charset="-122"/>
                <a:cs typeface="Manrope" pitchFamily="34" charset="-120"/>
              </a:rPr>
              <a:t>no habrá </a:t>
            </a:r>
            <a:r>
              <a:rPr lang="en-US" sz="2600" b="1" i="1" spc="-25" kern="0" dirty="0">
                <a:solidFill>
                  <a:srgbClr val="14305A"/>
                </a:solidFill>
                <a:latin typeface="Manrope" pitchFamily="34" charset="0"/>
                <a:ea typeface="Manrope" pitchFamily="34" charset="-122"/>
                <a:cs typeface="Manrope" pitchFamily="34" charset="-120"/>
              </a:rPr>
              <a:t>vibe coding</a:t>
            </a:r>
            <a:r>
              <a:rPr lang="en-US" sz="2600" b="1" spc="-25" kern="0" dirty="0">
                <a:solidFill>
                  <a:srgbClr val="14305A"/>
                </a:solidFill>
                <a:latin typeface="Manrope" pitchFamily="34" charset="0"/>
                <a:ea typeface="Manrope" pitchFamily="34" charset="-122"/>
                <a:cs typeface="Manrope" pitchFamily="34" charset="-120"/>
              </a:rPr>
              <a:t> mientras yo esté de guardia.”</a:t>
            </a:r>
            <a:endParaRPr lang="en-US" sz="2600" dirty="0"/>
          </a:p>
        </p:txBody>
      </p:sp>
      <p:sp>
        <p:nvSpPr>
          <p:cNvPr id="10" name="Shape 6"/>
          <p:cNvSpPr/>
          <p:nvPr/>
        </p:nvSpPr>
        <p:spPr>
          <a:xfrm>
            <a:off x="4851400" y="3755628"/>
            <a:ext cx="6527800" cy="0"/>
          </a:xfrm>
          <a:prstGeom prst="line">
            <a:avLst/>
          </a:prstGeom>
          <a:noFill/>
          <a:ln w="6350">
            <a:solidFill>
              <a:srgbClr val="14305A">
                <a:alpha val="16000"/>
              </a:srgbClr>
            </a:solidFill>
            <a:prstDash val="solid"/>
          </a:ln>
        </p:spPr>
      </p:sp>
      <p:sp>
        <p:nvSpPr>
          <p:cNvPr id="11" name="Text 7"/>
          <p:cNvSpPr/>
          <p:nvPr/>
        </p:nvSpPr>
        <p:spPr>
          <a:xfrm>
            <a:off x="4851400" y="3962003"/>
            <a:ext cx="6723634"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577D"/>
                </a:solidFill>
                <a:latin typeface="IBM Plex Sans" pitchFamily="34" charset="0"/>
                <a:ea typeface="IBM Plex Sans" pitchFamily="34" charset="-122"/>
                <a:cs typeface="IBM Plex Sans" pitchFamily="34" charset="-120"/>
              </a:rPr>
              <a:t>Pertenece al grupo que recibe la alerta cuando un servicio core de GitLab se cae. Si codificar se vuelve sin fricción, </a:t>
            </a:r>
            <a:r>
              <a:rPr lang="en-US" sz="1400" b="1" dirty="0">
                <a:solidFill>
                  <a:srgbClr val="3E577D"/>
                </a:solidFill>
                <a:latin typeface="IBM Plex Sans" pitchFamily="34" charset="0"/>
                <a:ea typeface="IBM Plex Sans" pitchFamily="34" charset="-122"/>
                <a:cs typeface="IBM Plex Sans" pitchFamily="34" charset="-120"/>
              </a:rPr>
              <a:t>la responsabilidad se difumina</a:t>
            </a:r>
            <a:r>
              <a:rPr lang="en-US" sz="1400" dirty="0">
                <a:solidFill>
                  <a:srgbClr val="3E577D"/>
                </a:solidFill>
                <a:latin typeface="IBM Plex Sans" pitchFamily="34" charset="0"/>
                <a:ea typeface="IBM Plex Sans" pitchFamily="34" charset="-122"/>
                <a:cs typeface="IBM Plex Sans" pitchFamily="34" charset="-120"/>
              </a:rPr>
              <a:t>.</a:t>
            </a:r>
            <a:endParaRPr lang="en-US" sz="1400" dirty="0"/>
          </a:p>
        </p:txBody>
      </p:sp>
      <p:sp>
        <p:nvSpPr>
          <p:cNvPr id="12" name="Text 8"/>
          <p:cNvSpPr/>
          <p:nvPr/>
        </p:nvSpPr>
        <p:spPr>
          <a:xfrm>
            <a:off x="4851400" y="4579144"/>
            <a:ext cx="6723634"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577D"/>
                </a:solidFill>
                <a:latin typeface="IBM Plex Sans" pitchFamily="34" charset="0"/>
                <a:ea typeface="IBM Plex Sans" pitchFamily="34" charset="-122"/>
                <a:cs typeface="IBM Plex Sans" pitchFamily="34" charset="-120"/>
              </a:rPr>
              <a:t>Su pesadilla: que cada equipo apague el cerebro, empuje código a medio hacer a producción — y a ella la despierten a las 2 a.m. a apagar incendios.</a:t>
            </a:r>
            <a:endParaRPr lang="en-US" sz="1400" dirty="0"/>
          </a:p>
        </p:txBody>
      </p:sp>
      <p:pic>
        <p:nvPicPr>
          <p:cNvPr id="13"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1663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CRÍTICAS</a:t>
            </a:r>
            <a:endParaRPr lang="en-US" sz="1200" dirty="0"/>
          </a:p>
        </p:txBody>
      </p:sp>
      <p:sp>
        <p:nvSpPr>
          <p:cNvPr id="4" name="Shape 1"/>
          <p:cNvSpPr/>
          <p:nvPr/>
        </p:nvSpPr>
        <p:spPr>
          <a:xfrm>
            <a:off x="39791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DORA 2024: la anomalía GenAI</a:t>
            </a:r>
            <a:endParaRPr lang="en-US" sz="3600" dirty="0"/>
          </a:p>
        </p:txBody>
      </p:sp>
      <p:sp>
        <p:nvSpPr>
          <p:cNvPr id="6" name="Text 3"/>
          <p:cNvSpPr/>
          <p:nvPr/>
        </p:nvSpPr>
        <p:spPr>
          <a:xfrm>
            <a:off x="812800" y="2825105"/>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DORA (DevOps Research and Assessment) es el programa de investigación fundado por Nicole Forsgren, Jez Humble y Gene Kim, hoy parte de Google Cloud. Publica cada año el </a:t>
            </a:r>
            <a:r>
              <a:rPr lang="en-US" sz="1400" i="1" dirty="0">
                <a:solidFill>
                  <a:srgbClr val="3E577D"/>
                </a:solidFill>
                <a:latin typeface="IBM Plex Sans" pitchFamily="34" charset="0"/>
                <a:ea typeface="IBM Plex Sans" pitchFamily="34" charset="-122"/>
                <a:cs typeface="IBM Plex Sans" pitchFamily="34" charset="-120"/>
              </a:rPr>
              <a:t>Accelerate State of DevOps Report</a:t>
            </a:r>
            <a:r>
              <a:rPr lang="en-US" sz="1400" dirty="0">
                <a:solidFill>
                  <a:srgbClr val="3E577D"/>
                </a:solidFill>
                <a:latin typeface="IBM Plex Sans" pitchFamily="34" charset="0"/>
                <a:ea typeface="IBM Plex Sans" pitchFamily="34" charset="-122"/>
                <a:cs typeface="IBM Plex Sans" pitchFamily="34" charset="-120"/>
              </a:rPr>
              <a:t> con base en decenas de miles de profesionales.</a:t>
            </a:r>
            <a:endParaRPr lang="en-US" sz="1400" dirty="0"/>
          </a:p>
        </p:txBody>
      </p:sp>
      <p:sp>
        <p:nvSpPr>
          <p:cNvPr id="7" name="Shape 4"/>
          <p:cNvSpPr/>
          <p:nvPr/>
        </p:nvSpPr>
        <p:spPr>
          <a:xfrm>
            <a:off x="812800" y="3630861"/>
            <a:ext cx="10566400" cy="0"/>
          </a:xfrm>
          <a:prstGeom prst="line">
            <a:avLst/>
          </a:prstGeom>
          <a:noFill/>
          <a:ln w="6350">
            <a:solidFill>
              <a:srgbClr val="14305A">
                <a:alpha val="16000"/>
              </a:srgbClr>
            </a:solidFill>
            <a:prstDash val="solid"/>
          </a:ln>
        </p:spPr>
      </p:sp>
      <p:sp>
        <p:nvSpPr>
          <p:cNvPr id="8" name="Text 5"/>
          <p:cNvSpPr/>
          <p:nvPr/>
        </p:nvSpPr>
        <p:spPr>
          <a:xfrm>
            <a:off x="812800" y="3938836"/>
            <a:ext cx="5127752" cy="825500"/>
          </a:xfrm>
          <a:prstGeom prst="rect">
            <a:avLst/>
          </a:prstGeom>
          <a:noFill/>
          <a:ln/>
        </p:spPr>
        <p:txBody>
          <a:bodyPr wrap="none" lIns="0" tIns="0" rIns="0" bIns="0" rtlCol="0" anchor="t">
            <a:normAutofit/>
          </a:bodyPr>
          <a:lstStyle/>
          <a:p>
            <a:pPr algn="l" indent="0" marL="0">
              <a:lnSpc>
                <a:spcPts val="6300"/>
              </a:lnSpc>
              <a:buNone/>
            </a:pPr>
            <a:r>
              <a:rPr lang="en-US" sz="6000" b="1" spc="-100" kern="0" dirty="0">
                <a:solidFill>
                  <a:srgbClr val="B5531C"/>
                </a:solidFill>
                <a:latin typeface="Manrope" pitchFamily="34" charset="0"/>
                <a:ea typeface="Manrope" pitchFamily="34" charset="-122"/>
                <a:cs typeface="Manrope" pitchFamily="34" charset="-120"/>
              </a:rPr>
              <a:t>−1.5 %</a:t>
            </a:r>
            <a:endParaRPr lang="en-US" sz="6000" dirty="0"/>
          </a:p>
        </p:txBody>
      </p:sp>
      <p:sp>
        <p:nvSpPr>
          <p:cNvPr id="9" name="Text 6"/>
          <p:cNvSpPr/>
          <p:nvPr/>
        </p:nvSpPr>
        <p:spPr>
          <a:xfrm>
            <a:off x="812800" y="4789736"/>
            <a:ext cx="512775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throughput de entrega</a:t>
            </a:r>
            <a:endParaRPr lang="en-US" sz="1600" dirty="0"/>
          </a:p>
        </p:txBody>
      </p:sp>
      <p:sp>
        <p:nvSpPr>
          <p:cNvPr id="10" name="Text 7"/>
          <p:cNvSpPr/>
          <p:nvPr/>
        </p:nvSpPr>
        <p:spPr>
          <a:xfrm>
            <a:off x="6400800" y="3938836"/>
            <a:ext cx="5127752" cy="825500"/>
          </a:xfrm>
          <a:prstGeom prst="rect">
            <a:avLst/>
          </a:prstGeom>
          <a:noFill/>
          <a:ln/>
        </p:spPr>
        <p:txBody>
          <a:bodyPr wrap="none" lIns="0" tIns="0" rIns="0" bIns="0" rtlCol="0" anchor="t">
            <a:normAutofit/>
          </a:bodyPr>
          <a:lstStyle/>
          <a:p>
            <a:pPr algn="l" indent="0" marL="0">
              <a:lnSpc>
                <a:spcPts val="6300"/>
              </a:lnSpc>
              <a:buNone/>
            </a:pPr>
            <a:r>
              <a:rPr lang="en-US" sz="6000" b="1" spc="-100" kern="0" dirty="0">
                <a:solidFill>
                  <a:srgbClr val="B5531C"/>
                </a:solidFill>
                <a:latin typeface="Manrope" pitchFamily="34" charset="0"/>
                <a:ea typeface="Manrope" pitchFamily="34" charset="-122"/>
                <a:cs typeface="Manrope" pitchFamily="34" charset="-120"/>
              </a:rPr>
              <a:t>−7.2 %</a:t>
            </a:r>
            <a:endParaRPr lang="en-US" sz="6000" dirty="0"/>
          </a:p>
        </p:txBody>
      </p:sp>
      <p:sp>
        <p:nvSpPr>
          <p:cNvPr id="11" name="Text 8"/>
          <p:cNvSpPr/>
          <p:nvPr/>
        </p:nvSpPr>
        <p:spPr>
          <a:xfrm>
            <a:off x="6400800" y="4789736"/>
            <a:ext cx="512775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estabilidad de entrega</a:t>
            </a:r>
            <a:endParaRPr lang="en-US" sz="1600" dirty="0"/>
          </a:p>
        </p:txBody>
      </p:sp>
      <p:pic>
        <p:nvPicPr>
          <p:cNvPr id="12"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3" name="Text 9"/>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Accelerate State of DevOps 2024 · dora.dev</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1663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 · LAS VOCES CRÍTICAS</a:t>
            </a:r>
            <a:endParaRPr lang="en-US" sz="1200" dirty="0"/>
          </a:p>
        </p:txBody>
      </p:sp>
      <p:sp>
        <p:nvSpPr>
          <p:cNvPr id="4" name="Shape 1"/>
          <p:cNvSpPr/>
          <p:nvPr/>
        </p:nvSpPr>
        <p:spPr>
          <a:xfrm>
            <a:off x="39791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Estudio METR, julio de 2025</a:t>
            </a:r>
            <a:endParaRPr lang="en-US" sz="3600" dirty="0"/>
          </a:p>
        </p:txBody>
      </p:sp>
      <p:sp>
        <p:nvSpPr>
          <p:cNvPr id="6" name="Text 3"/>
          <p:cNvSpPr/>
          <p:nvPr/>
        </p:nvSpPr>
        <p:spPr>
          <a:xfrm>
            <a:off x="812800" y="2657475"/>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METR (Model Evaluation &amp; Threat Research) es una organización sin ánimo de lucro dedicada a la evaluación empírica de sistemas de IA. Ensayo controlado aleatorizado: 16 desarrolladores experimentados, 246 tareas reales.</a:t>
            </a:r>
            <a:endParaRPr lang="en-US" sz="1400" dirty="0"/>
          </a:p>
        </p:txBody>
      </p:sp>
      <p:sp>
        <p:nvSpPr>
          <p:cNvPr id="7" name="Shape 4"/>
          <p:cNvSpPr/>
          <p:nvPr/>
        </p:nvSpPr>
        <p:spPr>
          <a:xfrm>
            <a:off x="812800" y="3463230"/>
            <a:ext cx="10566400" cy="0"/>
          </a:xfrm>
          <a:prstGeom prst="line">
            <a:avLst/>
          </a:prstGeom>
          <a:noFill/>
          <a:ln w="6350">
            <a:solidFill>
              <a:srgbClr val="14305A">
                <a:alpha val="16000"/>
              </a:srgbClr>
            </a:solidFill>
            <a:prstDash val="solid"/>
          </a:ln>
        </p:spPr>
      </p:sp>
      <p:sp>
        <p:nvSpPr>
          <p:cNvPr id="8" name="Text 5"/>
          <p:cNvSpPr/>
          <p:nvPr/>
        </p:nvSpPr>
        <p:spPr>
          <a:xfrm>
            <a:off x="812800" y="3771205"/>
            <a:ext cx="33138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C7192"/>
                </a:solidFill>
                <a:latin typeface="IBM Plex Sans" pitchFamily="34" charset="0"/>
                <a:ea typeface="IBM Plex Sans" pitchFamily="34" charset="-122"/>
                <a:cs typeface="IBM Plex Sans" pitchFamily="34" charset="-120"/>
              </a:rPr>
              <a:t>esperaban</a:t>
            </a:r>
            <a:endParaRPr lang="en-US" sz="1600" dirty="0"/>
          </a:p>
        </p:txBody>
      </p:sp>
      <p:sp>
        <p:nvSpPr>
          <p:cNvPr id="9" name="Text 6"/>
          <p:cNvSpPr/>
          <p:nvPr/>
        </p:nvSpPr>
        <p:spPr>
          <a:xfrm>
            <a:off x="812800" y="4106466"/>
            <a:ext cx="3313836" cy="825500"/>
          </a:xfrm>
          <a:prstGeom prst="rect">
            <a:avLst/>
          </a:prstGeom>
          <a:noFill/>
          <a:ln/>
        </p:spPr>
        <p:txBody>
          <a:bodyPr wrap="none" lIns="0" tIns="0" rIns="0" bIns="0" rtlCol="0" anchor="t">
            <a:normAutofit/>
          </a:bodyPr>
          <a:lstStyle/>
          <a:p>
            <a:pPr algn="l" indent="0" marL="0">
              <a:lnSpc>
                <a:spcPts val="6300"/>
              </a:lnSpc>
              <a:buNone/>
            </a:pPr>
            <a:r>
              <a:rPr lang="en-US" sz="6000" b="1" spc="-100" kern="0" dirty="0">
                <a:solidFill>
                  <a:srgbClr val="14305A"/>
                </a:solidFill>
                <a:latin typeface="Manrope" pitchFamily="34" charset="0"/>
                <a:ea typeface="Manrope" pitchFamily="34" charset="-122"/>
                <a:cs typeface="Manrope" pitchFamily="34" charset="-120"/>
              </a:rPr>
              <a:t>+24 %</a:t>
            </a:r>
            <a:endParaRPr lang="en-US" sz="6000" dirty="0"/>
          </a:p>
        </p:txBody>
      </p:sp>
      <p:sp>
        <p:nvSpPr>
          <p:cNvPr id="10" name="Text 7"/>
          <p:cNvSpPr/>
          <p:nvPr/>
        </p:nvSpPr>
        <p:spPr>
          <a:xfrm>
            <a:off x="812800" y="4957366"/>
            <a:ext cx="33138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más rápidos</a:t>
            </a:r>
            <a:endParaRPr lang="en-US" sz="1600" dirty="0"/>
          </a:p>
        </p:txBody>
      </p:sp>
      <p:sp>
        <p:nvSpPr>
          <p:cNvPr id="11" name="Text 8"/>
          <p:cNvSpPr/>
          <p:nvPr/>
        </p:nvSpPr>
        <p:spPr>
          <a:xfrm>
            <a:off x="4487317" y="3771205"/>
            <a:ext cx="331388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C7192"/>
                </a:solidFill>
                <a:latin typeface="IBM Plex Sans" pitchFamily="34" charset="0"/>
                <a:ea typeface="IBM Plex Sans" pitchFamily="34" charset="-122"/>
                <a:cs typeface="IBM Plex Sans" pitchFamily="34" charset="-120"/>
              </a:rPr>
              <a:t>creyeron que fueron</a:t>
            </a:r>
            <a:endParaRPr lang="en-US" sz="1600" dirty="0"/>
          </a:p>
        </p:txBody>
      </p:sp>
      <p:sp>
        <p:nvSpPr>
          <p:cNvPr id="12" name="Text 9"/>
          <p:cNvSpPr/>
          <p:nvPr/>
        </p:nvSpPr>
        <p:spPr>
          <a:xfrm>
            <a:off x="4487317" y="4106466"/>
            <a:ext cx="3313887" cy="825500"/>
          </a:xfrm>
          <a:prstGeom prst="rect">
            <a:avLst/>
          </a:prstGeom>
          <a:noFill/>
          <a:ln/>
        </p:spPr>
        <p:txBody>
          <a:bodyPr wrap="none" lIns="0" tIns="0" rIns="0" bIns="0" rtlCol="0" anchor="t">
            <a:normAutofit/>
          </a:bodyPr>
          <a:lstStyle/>
          <a:p>
            <a:pPr algn="l" indent="0" marL="0">
              <a:lnSpc>
                <a:spcPts val="6300"/>
              </a:lnSpc>
              <a:buNone/>
            </a:pPr>
            <a:r>
              <a:rPr lang="en-US" sz="6000" b="1" spc="-100" kern="0" dirty="0">
                <a:solidFill>
                  <a:srgbClr val="14305A"/>
                </a:solidFill>
                <a:latin typeface="Manrope" pitchFamily="34" charset="0"/>
                <a:ea typeface="Manrope" pitchFamily="34" charset="-122"/>
                <a:cs typeface="Manrope" pitchFamily="34" charset="-120"/>
              </a:rPr>
              <a:t>+20 %</a:t>
            </a:r>
            <a:endParaRPr lang="en-US" sz="6000" dirty="0"/>
          </a:p>
        </p:txBody>
      </p:sp>
      <p:sp>
        <p:nvSpPr>
          <p:cNvPr id="13" name="Text 10"/>
          <p:cNvSpPr/>
          <p:nvPr/>
        </p:nvSpPr>
        <p:spPr>
          <a:xfrm>
            <a:off x="4487317" y="4957366"/>
            <a:ext cx="3313887"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más rápidos</a:t>
            </a:r>
            <a:endParaRPr lang="en-US" sz="1600" dirty="0"/>
          </a:p>
        </p:txBody>
      </p:sp>
      <p:sp>
        <p:nvSpPr>
          <p:cNvPr id="14" name="Text 11"/>
          <p:cNvSpPr/>
          <p:nvPr/>
        </p:nvSpPr>
        <p:spPr>
          <a:xfrm>
            <a:off x="8161883" y="3771205"/>
            <a:ext cx="33138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531C"/>
                </a:solidFill>
                <a:latin typeface="IBM Plex Sans" pitchFamily="34" charset="0"/>
                <a:ea typeface="IBM Plex Sans" pitchFamily="34" charset="-122"/>
                <a:cs typeface="IBM Plex Sans" pitchFamily="34" charset="-120"/>
              </a:rPr>
              <a:t>en realidad fueron</a:t>
            </a:r>
            <a:endParaRPr lang="en-US" sz="1600" dirty="0"/>
          </a:p>
        </p:txBody>
      </p:sp>
      <p:sp>
        <p:nvSpPr>
          <p:cNvPr id="15" name="Text 12"/>
          <p:cNvSpPr/>
          <p:nvPr/>
        </p:nvSpPr>
        <p:spPr>
          <a:xfrm>
            <a:off x="8161883" y="4106466"/>
            <a:ext cx="3313836" cy="825500"/>
          </a:xfrm>
          <a:prstGeom prst="rect">
            <a:avLst/>
          </a:prstGeom>
          <a:noFill/>
          <a:ln/>
        </p:spPr>
        <p:txBody>
          <a:bodyPr wrap="none" lIns="0" tIns="0" rIns="0" bIns="0" rtlCol="0" anchor="t">
            <a:normAutofit/>
          </a:bodyPr>
          <a:lstStyle/>
          <a:p>
            <a:pPr algn="l" indent="0" marL="0">
              <a:lnSpc>
                <a:spcPts val="6300"/>
              </a:lnSpc>
              <a:buNone/>
            </a:pPr>
            <a:r>
              <a:rPr lang="en-US" sz="6000" b="1" spc="-100" kern="0" dirty="0">
                <a:solidFill>
                  <a:srgbClr val="B5531C"/>
                </a:solidFill>
                <a:latin typeface="Manrope" pitchFamily="34" charset="0"/>
                <a:ea typeface="Manrope" pitchFamily="34" charset="-122"/>
                <a:cs typeface="Manrope" pitchFamily="34" charset="-120"/>
              </a:rPr>
              <a:t>−19 %</a:t>
            </a:r>
            <a:endParaRPr lang="en-US" sz="6000" dirty="0"/>
          </a:p>
        </p:txBody>
      </p:sp>
      <p:sp>
        <p:nvSpPr>
          <p:cNvPr id="16" name="Text 13"/>
          <p:cNvSpPr/>
          <p:nvPr/>
        </p:nvSpPr>
        <p:spPr>
          <a:xfrm>
            <a:off x="8161883" y="4957366"/>
            <a:ext cx="33138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más lentos</a:t>
            </a:r>
            <a:endParaRPr lang="en-US" sz="1600" dirty="0"/>
          </a:p>
        </p:txBody>
      </p:sp>
      <p:pic>
        <p:nvPicPr>
          <p:cNvPr id="17"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8" name="Text 14"/>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metr.org · arxiv.org/abs/2507.09089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pic>
        <p:nvPicPr>
          <p:cNvPr id="5" name="Image 1" descr="Portada del libro Vibe Coding">    </p:cNvPr>
          <p:cNvPicPr>
            <a:picLocks noChangeAspect="1"/>
          </p:cNvPicPr>
          <p:nvPr/>
        </p:nvPicPr>
        <p:blipFill>
          <a:blip r:embed="rId2"/>
          <a:srcRect l="0" r="0" t="-24" b="-24"/>
          <a:stretch/>
        </p:blipFill>
        <p:spPr>
          <a:xfrm>
            <a:off x="812800" y="1471910"/>
            <a:ext cx="2921000" cy="4381500"/>
          </a:xfrm>
          <a:prstGeom prst="roundRect">
            <a:avLst>
              <a:gd name="adj" fmla="val 1739"/>
            </a:avLst>
          </a:prstGeom>
          <a:effectLst>
            <a:outerShdw sx="100000" sy="100000" kx="0" ky="0" algn="bl" rotWithShape="0" blurRad="381000" dist="152400" dir="5400000">
              <a:srgbClr val="14305A">
                <a:alpha val="25000"/>
              </a:srgbClr>
            </a:outerShdw>
          </a:effectLst>
        </p:spPr>
      </p:pic>
      <p:sp>
        <p:nvSpPr>
          <p:cNvPr id="6" name="Text 2"/>
          <p:cNvSpPr/>
          <p:nvPr>
            <p:ph type="title"/>
          </p:nvPr>
        </p:nvSpPr>
        <p:spPr>
          <a:xfrm>
            <a:off x="4495800" y="2139355"/>
            <a:ext cx="7089902" cy="825500"/>
          </a:xfrm>
          <a:prstGeom prst="rect">
            <a:avLst/>
          </a:prstGeom>
          <a:noFill/>
          <a:ln/>
        </p:spPr>
        <p:txBody>
          <a:bodyPr wrap="square" lIns="0" tIns="0" rIns="0" bIns="0" rtlCol="0" anchor="t">
            <a:normAutofit/>
          </a:bodyPr>
          <a:lstStyle/>
          <a:p>
            <a:pPr algn="l" indent="0" marL="0">
              <a:lnSpc>
                <a:spcPts val="6300"/>
              </a:lnSpc>
              <a:buNone/>
            </a:pPr>
            <a:r>
              <a:rPr lang="en-US" sz="6000" b="1" i="0" spc="-125" kern="0" dirty="0">
                <a:solidFill>
                  <a:srgbClr val="14305A"/>
                </a:solidFill>
                <a:latin typeface="Manrope" pitchFamily="34" charset="0"/>
                <a:ea typeface="Manrope" pitchFamily="34" charset="-122"/>
                <a:cs typeface="Manrope" pitchFamily="34" charset="-120"/>
              </a:rPr>
              <a:t>Vibe Coding</a:t>
            </a:r>
            <a:endParaRPr lang="en-US" sz="6000" dirty="0"/>
          </a:p>
        </p:txBody>
      </p:sp>
      <p:sp>
        <p:nvSpPr>
          <p:cNvPr id="7" name="Text 3"/>
          <p:cNvSpPr/>
          <p:nvPr/>
        </p:nvSpPr>
        <p:spPr>
          <a:xfrm>
            <a:off x="4495800" y="3142655"/>
            <a:ext cx="7089902"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3E577D"/>
                </a:solidFill>
                <a:latin typeface="Manrope" pitchFamily="34" charset="0"/>
                <a:ea typeface="Manrope" pitchFamily="34" charset="-122"/>
                <a:cs typeface="Manrope" pitchFamily="34" charset="-120"/>
              </a:rPr>
              <a:t>Building Production-Grade Software With GenAI, Chat, Agents, and Beyond</a:t>
            </a:r>
            <a:endParaRPr lang="en-US" sz="1800" dirty="0"/>
          </a:p>
        </p:txBody>
      </p:sp>
      <p:sp>
        <p:nvSpPr>
          <p:cNvPr id="8" name="Shape 4"/>
          <p:cNvSpPr/>
          <p:nvPr/>
        </p:nvSpPr>
        <p:spPr>
          <a:xfrm>
            <a:off x="4495800" y="3943350"/>
            <a:ext cx="6883400" cy="0"/>
          </a:xfrm>
          <a:prstGeom prst="line">
            <a:avLst/>
          </a:prstGeom>
          <a:noFill/>
          <a:ln w="6350">
            <a:solidFill>
              <a:srgbClr val="14305A">
                <a:alpha val="16000"/>
              </a:srgbClr>
            </a:solidFill>
            <a:prstDash val="solid"/>
          </a:ln>
        </p:spPr>
      </p:sp>
      <p:sp>
        <p:nvSpPr>
          <p:cNvPr id="9" name="Text 5"/>
          <p:cNvSpPr/>
          <p:nvPr/>
        </p:nvSpPr>
        <p:spPr>
          <a:xfrm>
            <a:off x="4495800" y="4149725"/>
            <a:ext cx="708990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IBM Plex Sans" pitchFamily="34" charset="0"/>
                <a:ea typeface="IBM Plex Sans" pitchFamily="34" charset="-122"/>
                <a:cs typeface="IBM Plex Sans" pitchFamily="34" charset="-120"/>
              </a:rPr>
              <a:t>Gene Kim</a:t>
            </a:r>
            <a:r>
              <a:rPr lang="en-US" sz="1600" dirty="0">
                <a:solidFill>
                  <a:srgbClr val="14305A"/>
                </a:solidFill>
                <a:latin typeface="IBM Plex Sans" pitchFamily="34" charset="0"/>
                <a:ea typeface="IBM Plex Sans" pitchFamily="34" charset="-122"/>
                <a:cs typeface="IBM Plex Sans" pitchFamily="34" charset="-120"/>
              </a:rPr>
              <a:t> </a:t>
            </a:r>
            <a:r>
              <a:rPr lang="en-US" sz="1600" dirty="0">
                <a:solidFill>
                  <a:srgbClr val="5C7192"/>
                </a:solidFill>
                <a:latin typeface="IBM Plex Sans" pitchFamily="34" charset="0"/>
                <a:ea typeface="IBM Plex Sans" pitchFamily="34" charset="-122"/>
                <a:cs typeface="IBM Plex Sans" pitchFamily="34" charset="-120"/>
              </a:rPr>
              <a:t>· autor de </a:t>
            </a:r>
            <a:r>
              <a:rPr lang="en-US" sz="1600" i="1" dirty="0">
                <a:solidFill>
                  <a:srgbClr val="5C7192"/>
                </a:solidFill>
                <a:latin typeface="IBM Plex Sans" pitchFamily="34" charset="0"/>
                <a:ea typeface="IBM Plex Sans" pitchFamily="34" charset="-122"/>
                <a:cs typeface="IBM Plex Sans" pitchFamily="34" charset="-120"/>
              </a:rPr>
              <a:t>The Phoenix Project</a:t>
            </a:r>
            <a:r>
              <a:rPr lang="en-US" sz="1600" dirty="0">
                <a:solidFill>
                  <a:srgbClr val="5C7192"/>
                </a:solidFill>
                <a:latin typeface="IBM Plex Sans" pitchFamily="34" charset="0"/>
                <a:ea typeface="IBM Plex Sans" pitchFamily="34" charset="-122"/>
                <a:cs typeface="IBM Plex Sans" pitchFamily="34" charset="-120"/>
              </a:rPr>
              <a:t> y </a:t>
            </a:r>
            <a:r>
              <a:rPr lang="en-US" sz="1600" i="1" dirty="0">
                <a:solidFill>
                  <a:srgbClr val="5C7192"/>
                </a:solidFill>
                <a:latin typeface="IBM Plex Sans" pitchFamily="34" charset="0"/>
                <a:ea typeface="IBM Plex Sans" pitchFamily="34" charset="-122"/>
                <a:cs typeface="IBM Plex Sans" pitchFamily="34" charset="-120"/>
              </a:rPr>
              <a:t>The DevOps Handbook</a:t>
            </a:r>
            <a:endParaRPr lang="en-US" sz="1600" dirty="0"/>
          </a:p>
        </p:txBody>
      </p:sp>
      <p:sp>
        <p:nvSpPr>
          <p:cNvPr id="10" name="Text 6"/>
          <p:cNvSpPr/>
          <p:nvPr/>
        </p:nvSpPr>
        <p:spPr>
          <a:xfrm>
            <a:off x="4495800" y="4561185"/>
            <a:ext cx="708990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IBM Plex Sans" pitchFamily="34" charset="0"/>
                <a:ea typeface="IBM Plex Sans" pitchFamily="34" charset="-122"/>
                <a:cs typeface="IBM Plex Sans" pitchFamily="34" charset="-120"/>
              </a:rPr>
              <a:t>Steve Yegge</a:t>
            </a:r>
            <a:r>
              <a:rPr lang="en-US" sz="1600" dirty="0">
                <a:solidFill>
                  <a:srgbClr val="14305A"/>
                </a:solidFill>
                <a:latin typeface="IBM Plex Sans" pitchFamily="34" charset="0"/>
                <a:ea typeface="IBM Plex Sans" pitchFamily="34" charset="-122"/>
                <a:cs typeface="IBM Plex Sans" pitchFamily="34" charset="-120"/>
              </a:rPr>
              <a:t> </a:t>
            </a:r>
            <a:r>
              <a:rPr lang="en-US" sz="1600" dirty="0">
                <a:solidFill>
                  <a:srgbClr val="5C7192"/>
                </a:solidFill>
                <a:latin typeface="IBM Plex Sans" pitchFamily="34" charset="0"/>
                <a:ea typeface="IBM Plex Sans" pitchFamily="34" charset="-122"/>
                <a:cs typeface="IBM Plex Sans" pitchFamily="34" charset="-120"/>
              </a:rPr>
              <a:t>· Amazon, Google, Grab, Sourcegraph</a:t>
            </a:r>
            <a:endParaRPr lang="en-US" sz="1600" dirty="0"/>
          </a:p>
        </p:txBody>
      </p:sp>
      <p:sp>
        <p:nvSpPr>
          <p:cNvPr id="11" name="Text 7"/>
          <p:cNvSpPr/>
          <p:nvPr/>
        </p:nvSpPr>
        <p:spPr>
          <a:xfrm>
            <a:off x="4495800" y="4972645"/>
            <a:ext cx="708990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5C7192"/>
                </a:solidFill>
                <a:latin typeface="IBM Plex Sans" pitchFamily="34" charset="0"/>
                <a:ea typeface="IBM Plex Sans" pitchFamily="34" charset="-122"/>
                <a:cs typeface="IBM Plex Sans" pitchFamily="34" charset="-120"/>
              </a:rPr>
              <a:t>IT REVOLUTION · 2025</a:t>
            </a:r>
            <a:endParaRPr lang="en-US" sz="1200" dirty="0"/>
          </a:p>
        </p:txBody>
      </p:sp>
      <p:pic>
        <p:nvPicPr>
          <p:cNvPr id="12"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FAAFO</a:t>
            </a:r>
            <a:endParaRPr lang="en-US" sz="3600" dirty="0"/>
          </a:p>
        </p:txBody>
      </p:sp>
      <p:sp>
        <p:nvSpPr>
          <p:cNvPr id="6" name="Shape 3"/>
          <p:cNvSpPr/>
          <p:nvPr/>
        </p:nvSpPr>
        <p:spPr>
          <a:xfrm>
            <a:off x="815975" y="2757785"/>
            <a:ext cx="1984970" cy="1926530"/>
          </a:xfrm>
          <a:prstGeom prst="roundRect">
            <a:avLst>
              <a:gd name="adj" fmla="val 6427"/>
            </a:avLst>
          </a:prstGeom>
          <a:solidFill>
            <a:srgbClr val="FFFFFF">
              <a:alpha val="62000"/>
            </a:srgbClr>
          </a:solidFill>
          <a:ln w="6350">
            <a:solidFill>
              <a:srgbClr val="14305A">
                <a:alpha val="16000"/>
              </a:srgbClr>
            </a:solidFill>
            <a:prstDash val="solid"/>
          </a:ln>
        </p:spPr>
      </p:sp>
      <p:sp>
        <p:nvSpPr>
          <p:cNvPr id="7" name="Text 4"/>
          <p:cNvSpPr/>
          <p:nvPr/>
        </p:nvSpPr>
        <p:spPr>
          <a:xfrm>
            <a:off x="1047750" y="2989560"/>
            <a:ext cx="157222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50B0"/>
                </a:solidFill>
                <a:latin typeface="Manrope" pitchFamily="34" charset="0"/>
                <a:ea typeface="Manrope" pitchFamily="34" charset="-122"/>
                <a:cs typeface="Manrope" pitchFamily="34" charset="-120"/>
              </a:rPr>
              <a:t>F</a:t>
            </a:r>
            <a:endParaRPr lang="en-US" sz="6000" dirty="0"/>
          </a:p>
        </p:txBody>
      </p:sp>
      <p:sp>
        <p:nvSpPr>
          <p:cNvPr id="8" name="Text 5"/>
          <p:cNvSpPr/>
          <p:nvPr/>
        </p:nvSpPr>
        <p:spPr>
          <a:xfrm>
            <a:off x="1047750" y="3853160"/>
            <a:ext cx="15722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Fast</a:t>
            </a:r>
            <a:endParaRPr lang="en-US" sz="1600" dirty="0"/>
          </a:p>
        </p:txBody>
      </p:sp>
      <p:sp>
        <p:nvSpPr>
          <p:cNvPr id="9" name="Text 6"/>
          <p:cNvSpPr/>
          <p:nvPr/>
        </p:nvSpPr>
        <p:spPr>
          <a:xfrm>
            <a:off x="1047750" y="4239220"/>
            <a:ext cx="15722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Rápido</a:t>
            </a:r>
            <a:endParaRPr lang="en-US" sz="1200" dirty="0"/>
          </a:p>
        </p:txBody>
      </p:sp>
      <p:sp>
        <p:nvSpPr>
          <p:cNvPr id="10" name="Shape 7"/>
          <p:cNvSpPr/>
          <p:nvPr/>
        </p:nvSpPr>
        <p:spPr>
          <a:xfrm>
            <a:off x="2959695" y="2757785"/>
            <a:ext cx="1985020" cy="1926530"/>
          </a:xfrm>
          <a:prstGeom prst="roundRect">
            <a:avLst>
              <a:gd name="adj" fmla="val 6427"/>
            </a:avLst>
          </a:prstGeom>
          <a:solidFill>
            <a:srgbClr val="FFFFFF">
              <a:alpha val="62000"/>
            </a:srgbClr>
          </a:solidFill>
          <a:ln w="6350">
            <a:solidFill>
              <a:srgbClr val="14305A">
                <a:alpha val="16000"/>
              </a:srgbClr>
            </a:solidFill>
            <a:prstDash val="solid"/>
          </a:ln>
        </p:spPr>
      </p:sp>
      <p:sp>
        <p:nvSpPr>
          <p:cNvPr id="11" name="Text 8"/>
          <p:cNvSpPr/>
          <p:nvPr/>
        </p:nvSpPr>
        <p:spPr>
          <a:xfrm>
            <a:off x="3191470" y="2989560"/>
            <a:ext cx="157227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50B0"/>
                </a:solidFill>
                <a:latin typeface="Manrope" pitchFamily="34" charset="0"/>
                <a:ea typeface="Manrope" pitchFamily="34" charset="-122"/>
                <a:cs typeface="Manrope" pitchFamily="34" charset="-120"/>
              </a:rPr>
              <a:t>A</a:t>
            </a:r>
            <a:endParaRPr lang="en-US" sz="6000" dirty="0"/>
          </a:p>
        </p:txBody>
      </p:sp>
      <p:sp>
        <p:nvSpPr>
          <p:cNvPr id="12" name="Text 9"/>
          <p:cNvSpPr/>
          <p:nvPr/>
        </p:nvSpPr>
        <p:spPr>
          <a:xfrm>
            <a:off x="3191470" y="3853160"/>
            <a:ext cx="15722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Ambitious</a:t>
            </a:r>
            <a:endParaRPr lang="en-US" sz="1600" dirty="0"/>
          </a:p>
        </p:txBody>
      </p:sp>
      <p:sp>
        <p:nvSpPr>
          <p:cNvPr id="13" name="Text 10"/>
          <p:cNvSpPr/>
          <p:nvPr/>
        </p:nvSpPr>
        <p:spPr>
          <a:xfrm>
            <a:off x="3191470" y="4239220"/>
            <a:ext cx="1572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Ambicioso</a:t>
            </a:r>
            <a:endParaRPr lang="en-US" sz="1200" dirty="0"/>
          </a:p>
        </p:txBody>
      </p:sp>
      <p:sp>
        <p:nvSpPr>
          <p:cNvPr id="14" name="Shape 11"/>
          <p:cNvSpPr/>
          <p:nvPr/>
        </p:nvSpPr>
        <p:spPr>
          <a:xfrm>
            <a:off x="5103465" y="2757785"/>
            <a:ext cx="1985020" cy="1926530"/>
          </a:xfrm>
          <a:prstGeom prst="roundRect">
            <a:avLst>
              <a:gd name="adj" fmla="val 6427"/>
            </a:avLst>
          </a:prstGeom>
          <a:solidFill>
            <a:srgbClr val="FFFFFF">
              <a:alpha val="62000"/>
            </a:srgbClr>
          </a:solidFill>
          <a:ln w="6350">
            <a:solidFill>
              <a:srgbClr val="14305A">
                <a:alpha val="16000"/>
              </a:srgbClr>
            </a:solidFill>
            <a:prstDash val="solid"/>
          </a:ln>
        </p:spPr>
      </p:sp>
      <p:sp>
        <p:nvSpPr>
          <p:cNvPr id="15" name="Text 12"/>
          <p:cNvSpPr/>
          <p:nvPr/>
        </p:nvSpPr>
        <p:spPr>
          <a:xfrm>
            <a:off x="5335240" y="2989560"/>
            <a:ext cx="157227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50B0"/>
                </a:solidFill>
                <a:latin typeface="Manrope" pitchFamily="34" charset="0"/>
                <a:ea typeface="Manrope" pitchFamily="34" charset="-122"/>
                <a:cs typeface="Manrope" pitchFamily="34" charset="-120"/>
              </a:rPr>
              <a:t>A</a:t>
            </a:r>
            <a:endParaRPr lang="en-US" sz="6000" dirty="0"/>
          </a:p>
        </p:txBody>
      </p:sp>
      <p:sp>
        <p:nvSpPr>
          <p:cNvPr id="16" name="Text 13"/>
          <p:cNvSpPr/>
          <p:nvPr/>
        </p:nvSpPr>
        <p:spPr>
          <a:xfrm>
            <a:off x="5335240" y="3853160"/>
            <a:ext cx="15722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Autonomous</a:t>
            </a:r>
            <a:endParaRPr lang="en-US" sz="1600" dirty="0"/>
          </a:p>
        </p:txBody>
      </p:sp>
      <p:sp>
        <p:nvSpPr>
          <p:cNvPr id="17" name="Text 14"/>
          <p:cNvSpPr/>
          <p:nvPr/>
        </p:nvSpPr>
        <p:spPr>
          <a:xfrm>
            <a:off x="5335240" y="4239220"/>
            <a:ext cx="1572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Autónomo</a:t>
            </a:r>
            <a:endParaRPr lang="en-US" sz="1200" dirty="0"/>
          </a:p>
        </p:txBody>
      </p:sp>
      <p:sp>
        <p:nvSpPr>
          <p:cNvPr id="18" name="Shape 15"/>
          <p:cNvSpPr/>
          <p:nvPr/>
        </p:nvSpPr>
        <p:spPr>
          <a:xfrm>
            <a:off x="7247235" y="2757785"/>
            <a:ext cx="1985020" cy="1926530"/>
          </a:xfrm>
          <a:prstGeom prst="roundRect">
            <a:avLst>
              <a:gd name="adj" fmla="val 6427"/>
            </a:avLst>
          </a:prstGeom>
          <a:solidFill>
            <a:srgbClr val="FFFFFF">
              <a:alpha val="62000"/>
            </a:srgbClr>
          </a:solidFill>
          <a:ln w="6350">
            <a:solidFill>
              <a:srgbClr val="14305A">
                <a:alpha val="16000"/>
              </a:srgbClr>
            </a:solidFill>
            <a:prstDash val="solid"/>
          </a:ln>
        </p:spPr>
      </p:sp>
      <p:sp>
        <p:nvSpPr>
          <p:cNvPr id="19" name="Text 16"/>
          <p:cNvSpPr/>
          <p:nvPr/>
        </p:nvSpPr>
        <p:spPr>
          <a:xfrm>
            <a:off x="7479010" y="2989560"/>
            <a:ext cx="157227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50B0"/>
                </a:solidFill>
                <a:latin typeface="Manrope" pitchFamily="34" charset="0"/>
                <a:ea typeface="Manrope" pitchFamily="34" charset="-122"/>
                <a:cs typeface="Manrope" pitchFamily="34" charset="-120"/>
              </a:rPr>
              <a:t>F</a:t>
            </a:r>
            <a:endParaRPr lang="en-US" sz="6000" dirty="0"/>
          </a:p>
        </p:txBody>
      </p:sp>
      <p:sp>
        <p:nvSpPr>
          <p:cNvPr id="20" name="Text 17"/>
          <p:cNvSpPr/>
          <p:nvPr/>
        </p:nvSpPr>
        <p:spPr>
          <a:xfrm>
            <a:off x="7479010" y="3853160"/>
            <a:ext cx="15722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Fun</a:t>
            </a:r>
            <a:endParaRPr lang="en-US" sz="1600" dirty="0"/>
          </a:p>
        </p:txBody>
      </p:sp>
      <p:sp>
        <p:nvSpPr>
          <p:cNvPr id="21" name="Text 18"/>
          <p:cNvSpPr/>
          <p:nvPr/>
        </p:nvSpPr>
        <p:spPr>
          <a:xfrm>
            <a:off x="7479010" y="4239220"/>
            <a:ext cx="1572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Divertido</a:t>
            </a:r>
            <a:endParaRPr lang="en-US" sz="1200" dirty="0"/>
          </a:p>
        </p:txBody>
      </p:sp>
      <p:sp>
        <p:nvSpPr>
          <p:cNvPr id="22" name="Shape 19"/>
          <p:cNvSpPr/>
          <p:nvPr/>
        </p:nvSpPr>
        <p:spPr>
          <a:xfrm>
            <a:off x="9391005" y="2757785"/>
            <a:ext cx="1985020" cy="1926530"/>
          </a:xfrm>
          <a:prstGeom prst="roundRect">
            <a:avLst>
              <a:gd name="adj" fmla="val 6427"/>
            </a:avLst>
          </a:prstGeom>
          <a:solidFill>
            <a:srgbClr val="FFFFFF">
              <a:alpha val="62000"/>
            </a:srgbClr>
          </a:solidFill>
          <a:ln w="6350">
            <a:solidFill>
              <a:srgbClr val="14305A">
                <a:alpha val="16000"/>
              </a:srgbClr>
            </a:solidFill>
            <a:prstDash val="solid"/>
          </a:ln>
        </p:spPr>
      </p:sp>
      <p:sp>
        <p:nvSpPr>
          <p:cNvPr id="23" name="Text 20"/>
          <p:cNvSpPr/>
          <p:nvPr/>
        </p:nvSpPr>
        <p:spPr>
          <a:xfrm>
            <a:off x="9622780" y="2989560"/>
            <a:ext cx="157227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050B0"/>
                </a:solidFill>
                <a:latin typeface="Manrope" pitchFamily="34" charset="0"/>
                <a:ea typeface="Manrope" pitchFamily="34" charset="-122"/>
                <a:cs typeface="Manrope" pitchFamily="34" charset="-120"/>
              </a:rPr>
              <a:t>O</a:t>
            </a:r>
            <a:endParaRPr lang="en-US" sz="6000" dirty="0"/>
          </a:p>
        </p:txBody>
      </p:sp>
      <p:sp>
        <p:nvSpPr>
          <p:cNvPr id="24" name="Text 21"/>
          <p:cNvSpPr/>
          <p:nvPr/>
        </p:nvSpPr>
        <p:spPr>
          <a:xfrm>
            <a:off x="9622780" y="3853160"/>
            <a:ext cx="15722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Optionality</a:t>
            </a:r>
            <a:endParaRPr lang="en-US" sz="1600" dirty="0"/>
          </a:p>
        </p:txBody>
      </p:sp>
      <p:sp>
        <p:nvSpPr>
          <p:cNvPr id="25" name="Text 22"/>
          <p:cNvSpPr/>
          <p:nvPr/>
        </p:nvSpPr>
        <p:spPr>
          <a:xfrm>
            <a:off x="9622780" y="4239220"/>
            <a:ext cx="1572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Opcionalidad</a:t>
            </a:r>
            <a:endParaRPr lang="en-US" sz="1200" dirty="0"/>
          </a:p>
        </p:txBody>
      </p:sp>
      <p:sp>
        <p:nvSpPr>
          <p:cNvPr id="26" name="Text 23"/>
          <p:cNvSpPr/>
          <p:nvPr/>
        </p:nvSpPr>
        <p:spPr>
          <a:xfrm>
            <a:off x="812800" y="504309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577D"/>
                </a:solidFill>
                <a:latin typeface="IBM Plex Sans" pitchFamily="34" charset="0"/>
                <a:ea typeface="IBM Plex Sans" pitchFamily="34" charset="-122"/>
                <a:cs typeface="IBM Plex Sans" pitchFamily="34" charset="-120"/>
              </a:rPr>
              <a:t>El acrónimo con el que Kim y Yegge describen el beneficio del vibe coding bien hecho.</a:t>
            </a:r>
            <a:endParaRPr lang="en-US" sz="1600" dirty="0"/>
          </a:p>
        </p:txBody>
      </p:sp>
      <p:pic>
        <p:nvPicPr>
          <p:cNvPr id="27"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Tres loops de desarrollo</a:t>
            </a:r>
            <a:endParaRPr lang="en-US" sz="3600" dirty="0"/>
          </a:p>
        </p:txBody>
      </p:sp>
      <p:sp>
        <p:nvSpPr>
          <p:cNvPr id="6" name="Shape 3"/>
          <p:cNvSpPr/>
          <p:nvPr/>
        </p:nvSpPr>
        <p:spPr>
          <a:xfrm>
            <a:off x="815975" y="2504480"/>
            <a:ext cx="3414167" cy="2870051"/>
          </a:xfrm>
          <a:prstGeom prst="roundRect">
            <a:avLst>
              <a:gd name="adj" fmla="val 4314"/>
            </a:avLst>
          </a:prstGeom>
          <a:solidFill>
            <a:srgbClr val="FFFFFF">
              <a:alpha val="62000"/>
            </a:srgbClr>
          </a:solidFill>
          <a:ln w="6350">
            <a:solidFill>
              <a:srgbClr val="14305A">
                <a:alpha val="16000"/>
              </a:srgbClr>
            </a:solidFill>
            <a:prstDash val="solid"/>
          </a:ln>
        </p:spPr>
      </p:sp>
      <p:sp>
        <p:nvSpPr>
          <p:cNvPr id="7" name="Text 4"/>
          <p:cNvSpPr/>
          <p:nvPr/>
        </p:nvSpPr>
        <p:spPr>
          <a:xfrm>
            <a:off x="1073150" y="2761655"/>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INNER LOOP</a:t>
            </a:r>
            <a:endParaRPr lang="en-US" sz="1200" dirty="0"/>
          </a:p>
        </p:txBody>
      </p:sp>
      <p:sp>
        <p:nvSpPr>
          <p:cNvPr id="8" name="Text 5"/>
          <p:cNvSpPr/>
          <p:nvPr/>
        </p:nvSpPr>
        <p:spPr>
          <a:xfrm>
            <a:off x="1073150" y="3076575"/>
            <a:ext cx="298681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305A"/>
                </a:solidFill>
                <a:latin typeface="Manrope" pitchFamily="34" charset="0"/>
                <a:ea typeface="Manrope" pitchFamily="34" charset="-122"/>
                <a:cs typeface="Manrope" pitchFamily="34" charset="-120"/>
              </a:rPr>
              <a:t>Segundos a minutos</a:t>
            </a:r>
            <a:endParaRPr lang="en-US" sz="2200" dirty="0"/>
          </a:p>
        </p:txBody>
      </p:sp>
      <p:sp>
        <p:nvSpPr>
          <p:cNvPr id="9" name="Text 6"/>
          <p:cNvSpPr/>
          <p:nvPr/>
        </p:nvSpPr>
        <p:spPr>
          <a:xfrm>
            <a:off x="1073150" y="3499445"/>
            <a:ext cx="2986811" cy="16433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77D"/>
                </a:solidFill>
                <a:latin typeface="IBM Plex Sans" pitchFamily="34" charset="0"/>
                <a:ea typeface="IBM Plex Sans" pitchFamily="34" charset="-122"/>
                <a:cs typeface="IBM Plex Sans" pitchFamily="34" charset="-120"/>
              </a:rPr>
              <a:t>La conversación momento a momento con el agente: escribir un prompt, recibir una propuesta, aceptar o corregir. Es donde la mayoría ya aprendió a trabajar con IA — y donde terminan la mayoría de los pilotos sin madurar.</a:t>
            </a:r>
            <a:endParaRPr lang="en-US" sz="1300" dirty="0"/>
          </a:p>
        </p:txBody>
      </p:sp>
      <p:sp>
        <p:nvSpPr>
          <p:cNvPr id="10" name="Shape 7"/>
          <p:cNvSpPr/>
          <p:nvPr/>
        </p:nvSpPr>
        <p:spPr>
          <a:xfrm>
            <a:off x="4388892" y="2620020"/>
            <a:ext cx="3414216" cy="2638921"/>
          </a:xfrm>
          <a:prstGeom prst="roundRect">
            <a:avLst>
              <a:gd name="adj" fmla="val 4692"/>
            </a:avLst>
          </a:prstGeom>
          <a:solidFill>
            <a:srgbClr val="FFFFFF">
              <a:alpha val="62000"/>
            </a:srgbClr>
          </a:solidFill>
          <a:ln w="6350">
            <a:solidFill>
              <a:srgbClr val="14305A">
                <a:alpha val="16000"/>
              </a:srgbClr>
            </a:solidFill>
            <a:prstDash val="solid"/>
          </a:ln>
        </p:spPr>
      </p:sp>
      <p:sp>
        <p:nvSpPr>
          <p:cNvPr id="11" name="Text 8"/>
          <p:cNvSpPr/>
          <p:nvPr/>
        </p:nvSpPr>
        <p:spPr>
          <a:xfrm>
            <a:off x="4646067" y="2877195"/>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MIDDLE LOOP</a:t>
            </a:r>
            <a:endParaRPr lang="en-US" sz="1200" dirty="0"/>
          </a:p>
        </p:txBody>
      </p:sp>
      <p:sp>
        <p:nvSpPr>
          <p:cNvPr id="12" name="Text 9"/>
          <p:cNvSpPr/>
          <p:nvPr/>
        </p:nvSpPr>
        <p:spPr>
          <a:xfrm>
            <a:off x="4646067" y="3192115"/>
            <a:ext cx="2986862"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305A"/>
                </a:solidFill>
                <a:latin typeface="Manrope" pitchFamily="34" charset="0"/>
                <a:ea typeface="Manrope" pitchFamily="34" charset="-122"/>
                <a:cs typeface="Manrope" pitchFamily="34" charset="-120"/>
              </a:rPr>
              <a:t>Horas a días</a:t>
            </a:r>
            <a:endParaRPr lang="en-US" sz="2200" dirty="0"/>
          </a:p>
        </p:txBody>
      </p:sp>
      <p:sp>
        <p:nvSpPr>
          <p:cNvPr id="13" name="Text 10"/>
          <p:cNvSpPr/>
          <p:nvPr/>
        </p:nvSpPr>
        <p:spPr>
          <a:xfrm>
            <a:off x="4646067" y="3614986"/>
            <a:ext cx="2986862" cy="14121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77D"/>
                </a:solidFill>
                <a:latin typeface="IBM Plex Sans" pitchFamily="34" charset="0"/>
                <a:ea typeface="IBM Plex Sans" pitchFamily="34" charset="-122"/>
                <a:cs typeface="IBM Plex Sans" pitchFamily="34" charset="-120"/>
              </a:rPr>
              <a:t>Sesiones del agente que entran al armario y olvidan todo al salir. Gestión de contexto, memoria de la sesión, planeación táctica. Aquí aparecen los primeros problemas serios: contextos que se pierden, trabajo que se repite.</a:t>
            </a:r>
            <a:endParaRPr lang="en-US" sz="1300" dirty="0"/>
          </a:p>
        </p:txBody>
      </p:sp>
      <p:sp>
        <p:nvSpPr>
          <p:cNvPr id="14" name="Shape 11"/>
          <p:cNvSpPr/>
          <p:nvPr/>
        </p:nvSpPr>
        <p:spPr>
          <a:xfrm>
            <a:off x="7961858" y="2620020"/>
            <a:ext cx="3414167" cy="2638921"/>
          </a:xfrm>
          <a:prstGeom prst="roundRect">
            <a:avLst>
              <a:gd name="adj" fmla="val 4692"/>
            </a:avLst>
          </a:prstGeom>
          <a:solidFill>
            <a:srgbClr val="FFFFFF">
              <a:alpha val="62000"/>
            </a:srgbClr>
          </a:solidFill>
          <a:ln w="6350">
            <a:solidFill>
              <a:srgbClr val="14305A">
                <a:alpha val="16000"/>
              </a:srgbClr>
            </a:solidFill>
            <a:prstDash val="solid"/>
          </a:ln>
        </p:spPr>
      </p:sp>
      <p:sp>
        <p:nvSpPr>
          <p:cNvPr id="15" name="Text 12"/>
          <p:cNvSpPr/>
          <p:nvPr/>
        </p:nvSpPr>
        <p:spPr>
          <a:xfrm>
            <a:off x="8219033" y="2877195"/>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OUTER LOOP</a:t>
            </a:r>
            <a:endParaRPr lang="en-US" sz="1200" dirty="0"/>
          </a:p>
        </p:txBody>
      </p:sp>
      <p:sp>
        <p:nvSpPr>
          <p:cNvPr id="16" name="Text 13"/>
          <p:cNvSpPr/>
          <p:nvPr/>
        </p:nvSpPr>
        <p:spPr>
          <a:xfrm>
            <a:off x="8219033" y="3192115"/>
            <a:ext cx="298681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305A"/>
                </a:solidFill>
                <a:latin typeface="Manrope" pitchFamily="34" charset="0"/>
                <a:ea typeface="Manrope" pitchFamily="34" charset="-122"/>
                <a:cs typeface="Manrope" pitchFamily="34" charset="-120"/>
              </a:rPr>
              <a:t>Semanas a meses</a:t>
            </a:r>
            <a:endParaRPr lang="en-US" sz="2200" dirty="0"/>
          </a:p>
        </p:txBody>
      </p:sp>
      <p:sp>
        <p:nvSpPr>
          <p:cNvPr id="17" name="Text 14"/>
          <p:cNvSpPr/>
          <p:nvPr/>
        </p:nvSpPr>
        <p:spPr>
          <a:xfrm>
            <a:off x="8219033" y="3614986"/>
            <a:ext cx="2986811" cy="14121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77D"/>
                </a:solidFill>
                <a:latin typeface="IBM Plex Sans" pitchFamily="34" charset="0"/>
                <a:ea typeface="IBM Plex Sans" pitchFamily="34" charset="-122"/>
                <a:cs typeface="IBM Plex Sans" pitchFamily="34" charset="-120"/>
              </a:rPr>
              <a:t>Arquitectura, workflows, sostenibilidad del sistema. Prácticas que atraviesan varios agentes y varios desarrolladores. Aquí se decide si el agente acelera al equipo o amplifica su fragilidad.</a:t>
            </a:r>
            <a:endParaRPr lang="en-US" sz="1300" dirty="0"/>
          </a:p>
        </p:txBody>
      </p:sp>
      <p:pic>
        <p:nvPicPr>
          <p:cNvPr id="18"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9" name="Text 15"/>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Kim &amp; Yegge ·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Parte 3 · itrevolution.com — The Three Developer Loops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El Vibe Coding Developer Loop</a:t>
            </a:r>
            <a:endParaRPr lang="en-US" sz="3600" dirty="0"/>
          </a:p>
        </p:txBody>
      </p:sp>
      <p:pic>
        <p:nvPicPr>
          <p:cNvPr id="6" name="Image 1" descr="Diagrama del Vibe Coding Developer Loop: seis pasos externos con el loop interno A a E dentro del paso 4">    </p:cNvPr>
          <p:cNvPicPr>
            <a:picLocks noChangeAspect="1"/>
          </p:cNvPicPr>
          <p:nvPr/>
        </p:nvPicPr>
        <p:blipFill>
          <a:blip r:embed="rId2"/>
          <a:srcRect l="0" r="0" t="-8" b="-8"/>
          <a:stretch/>
        </p:blipFill>
        <p:spPr>
          <a:xfrm>
            <a:off x="812800" y="812800"/>
            <a:ext cx="10566400" cy="5232400"/>
          </a:xfrm>
          <a:prstGeom prst="rect">
            <a:avLst/>
          </a:prstGeom>
        </p:spPr>
      </p:pic>
      <p:sp>
        <p:nvSpPr>
          <p:cNvPr id="7" name="Text 3"/>
          <p:cNvSpPr/>
          <p:nvPr/>
        </p:nvSpPr>
        <p:spPr>
          <a:xfrm>
            <a:off x="2514600" y="3746500"/>
            <a:ext cx="55880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FFFFF"/>
                </a:solidFill>
                <a:latin typeface="Manrope" pitchFamily="34" charset="0"/>
                <a:ea typeface="Manrope" pitchFamily="34" charset="-122"/>
                <a:cs typeface="Manrope" pitchFamily="34" charset="-120"/>
              </a:rPr>
              <a:t>1</a:t>
            </a:r>
            <a:endParaRPr lang="en-US" sz="1600" dirty="0"/>
          </a:p>
        </p:txBody>
      </p:sp>
      <p:sp>
        <p:nvSpPr>
          <p:cNvPr id="8" name="Text 4"/>
          <p:cNvSpPr/>
          <p:nvPr/>
        </p:nvSpPr>
        <p:spPr>
          <a:xfrm>
            <a:off x="3340100" y="2317750"/>
            <a:ext cx="55880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FFFFF"/>
                </a:solidFill>
                <a:latin typeface="Manrope" pitchFamily="34" charset="0"/>
                <a:ea typeface="Manrope" pitchFamily="34" charset="-122"/>
                <a:cs typeface="Manrope" pitchFamily="34" charset="-120"/>
              </a:rPr>
              <a:t>2</a:t>
            </a:r>
            <a:endParaRPr lang="en-US" sz="1600" dirty="0"/>
          </a:p>
        </p:txBody>
      </p:sp>
      <p:sp>
        <p:nvSpPr>
          <p:cNvPr id="9" name="Text 5"/>
          <p:cNvSpPr/>
          <p:nvPr/>
        </p:nvSpPr>
        <p:spPr>
          <a:xfrm>
            <a:off x="4991100" y="2317750"/>
            <a:ext cx="55880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FFFFF"/>
                </a:solidFill>
                <a:latin typeface="Manrope" pitchFamily="34" charset="0"/>
                <a:ea typeface="Manrope" pitchFamily="34" charset="-122"/>
                <a:cs typeface="Manrope" pitchFamily="34" charset="-120"/>
              </a:rPr>
              <a:t>3</a:t>
            </a:r>
            <a:endParaRPr lang="en-US" sz="1600" dirty="0"/>
          </a:p>
        </p:txBody>
      </p:sp>
      <p:sp>
        <p:nvSpPr>
          <p:cNvPr id="10" name="Text 6"/>
          <p:cNvSpPr/>
          <p:nvPr/>
        </p:nvSpPr>
        <p:spPr>
          <a:xfrm>
            <a:off x="5816600" y="3746500"/>
            <a:ext cx="55880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FFFFF"/>
                </a:solidFill>
                <a:latin typeface="Manrope" pitchFamily="34" charset="0"/>
                <a:ea typeface="Manrope" pitchFamily="34" charset="-122"/>
                <a:cs typeface="Manrope" pitchFamily="34" charset="-120"/>
              </a:rPr>
              <a:t>4</a:t>
            </a:r>
            <a:endParaRPr lang="en-US" sz="1600" dirty="0"/>
          </a:p>
        </p:txBody>
      </p:sp>
      <p:sp>
        <p:nvSpPr>
          <p:cNvPr id="11" name="Text 7"/>
          <p:cNvSpPr/>
          <p:nvPr/>
        </p:nvSpPr>
        <p:spPr>
          <a:xfrm>
            <a:off x="4991100" y="5175250"/>
            <a:ext cx="55880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FFFFF"/>
                </a:solidFill>
                <a:latin typeface="Manrope" pitchFamily="34" charset="0"/>
                <a:ea typeface="Manrope" pitchFamily="34" charset="-122"/>
                <a:cs typeface="Manrope" pitchFamily="34" charset="-120"/>
              </a:rPr>
              <a:t>5</a:t>
            </a:r>
            <a:endParaRPr lang="en-US" sz="1600" dirty="0"/>
          </a:p>
        </p:txBody>
      </p:sp>
      <p:sp>
        <p:nvSpPr>
          <p:cNvPr id="12" name="Text 8"/>
          <p:cNvSpPr/>
          <p:nvPr/>
        </p:nvSpPr>
        <p:spPr>
          <a:xfrm>
            <a:off x="3340100" y="5175250"/>
            <a:ext cx="558800" cy="26923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FFFFF"/>
                </a:solidFill>
                <a:latin typeface="Manrope" pitchFamily="34" charset="0"/>
                <a:ea typeface="Manrope" pitchFamily="34" charset="-122"/>
                <a:cs typeface="Manrope" pitchFamily="34" charset="-120"/>
              </a:rPr>
              <a:t>6</a:t>
            </a:r>
            <a:endParaRPr lang="en-US" sz="1600" dirty="0"/>
          </a:p>
        </p:txBody>
      </p:sp>
      <p:sp>
        <p:nvSpPr>
          <p:cNvPr id="13" name="Text 9"/>
          <p:cNvSpPr/>
          <p:nvPr/>
        </p:nvSpPr>
        <p:spPr>
          <a:xfrm>
            <a:off x="5073650" y="4095750"/>
            <a:ext cx="3556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3F8D8D"/>
                </a:solidFill>
                <a:latin typeface="Manrope" pitchFamily="34" charset="0"/>
                <a:ea typeface="Manrope" pitchFamily="34" charset="-122"/>
                <a:cs typeface="Manrope" pitchFamily="34" charset="-120"/>
              </a:rPr>
              <a:t>A</a:t>
            </a:r>
            <a:endParaRPr lang="en-US" sz="1200" dirty="0"/>
          </a:p>
        </p:txBody>
      </p:sp>
      <p:sp>
        <p:nvSpPr>
          <p:cNvPr id="14" name="Text 10"/>
          <p:cNvSpPr/>
          <p:nvPr/>
        </p:nvSpPr>
        <p:spPr>
          <a:xfrm>
            <a:off x="4387850" y="4400550"/>
            <a:ext cx="3556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3F8D8D"/>
                </a:solidFill>
                <a:latin typeface="Manrope" pitchFamily="34" charset="0"/>
                <a:ea typeface="Manrope" pitchFamily="34" charset="-122"/>
                <a:cs typeface="Manrope" pitchFamily="34" charset="-120"/>
              </a:rPr>
              <a:t>B</a:t>
            </a:r>
            <a:endParaRPr lang="en-US" sz="1200" dirty="0"/>
          </a:p>
        </p:txBody>
      </p:sp>
      <p:sp>
        <p:nvSpPr>
          <p:cNvPr id="15" name="Text 11"/>
          <p:cNvSpPr/>
          <p:nvPr/>
        </p:nvSpPr>
        <p:spPr>
          <a:xfrm>
            <a:off x="3892550" y="3841750"/>
            <a:ext cx="3556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3F8D8D"/>
                </a:solidFill>
                <a:latin typeface="Manrope" pitchFamily="34" charset="0"/>
                <a:ea typeface="Manrope" pitchFamily="34" charset="-122"/>
                <a:cs typeface="Manrope" pitchFamily="34" charset="-120"/>
              </a:rPr>
              <a:t>C</a:t>
            </a:r>
            <a:endParaRPr lang="en-US" sz="1200" dirty="0"/>
          </a:p>
        </p:txBody>
      </p:sp>
      <p:sp>
        <p:nvSpPr>
          <p:cNvPr id="16" name="Text 12"/>
          <p:cNvSpPr/>
          <p:nvPr/>
        </p:nvSpPr>
        <p:spPr>
          <a:xfrm>
            <a:off x="4260850" y="3200400"/>
            <a:ext cx="3556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3F8D8D"/>
                </a:solidFill>
                <a:latin typeface="Manrope" pitchFamily="34" charset="0"/>
                <a:ea typeface="Manrope" pitchFamily="34" charset="-122"/>
                <a:cs typeface="Manrope" pitchFamily="34" charset="-120"/>
              </a:rPr>
              <a:t>D</a:t>
            </a:r>
            <a:endParaRPr lang="en-US" sz="1200" dirty="0"/>
          </a:p>
        </p:txBody>
      </p:sp>
      <p:sp>
        <p:nvSpPr>
          <p:cNvPr id="17" name="Text 13"/>
          <p:cNvSpPr/>
          <p:nvPr/>
        </p:nvSpPr>
        <p:spPr>
          <a:xfrm>
            <a:off x="4991100" y="3352800"/>
            <a:ext cx="355600"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3F8D8D"/>
                </a:solidFill>
                <a:latin typeface="Manrope" pitchFamily="34" charset="0"/>
                <a:ea typeface="Manrope" pitchFamily="34" charset="-122"/>
                <a:cs typeface="Manrope" pitchFamily="34" charset="-120"/>
              </a:rPr>
              <a:t>E</a:t>
            </a:r>
            <a:endParaRPr lang="en-US" sz="1200" dirty="0"/>
          </a:p>
        </p:txBody>
      </p:sp>
      <p:sp>
        <p:nvSpPr>
          <p:cNvPr id="18" name="Text 14"/>
          <p:cNvSpPr/>
          <p:nvPr/>
        </p:nvSpPr>
        <p:spPr>
          <a:xfrm>
            <a:off x="711200" y="3657600"/>
            <a:ext cx="175260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14305A"/>
                </a:solidFill>
                <a:latin typeface="IBM Plex Sans" pitchFamily="34" charset="0"/>
                <a:ea typeface="IBM Plex Sans" pitchFamily="34" charset="-122"/>
                <a:cs typeface="IBM Plex Sans" pitchFamily="34" charset="-120"/>
              </a:rPr>
              <a:t>Separar subtarea</a:t>
            </a:r>
            <a:endParaRPr lang="en-US" sz="1400" dirty="0"/>
          </a:p>
        </p:txBody>
      </p:sp>
      <p:sp>
        <p:nvSpPr>
          <p:cNvPr id="19" name="Text 15"/>
          <p:cNvSpPr/>
          <p:nvPr/>
        </p:nvSpPr>
        <p:spPr>
          <a:xfrm>
            <a:off x="1327150" y="2228850"/>
            <a:ext cx="1962150" cy="452041"/>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14305A"/>
                </a:solidFill>
                <a:latin typeface="IBM Plex Sans" pitchFamily="34" charset="0"/>
                <a:ea typeface="IBM Plex Sans" pitchFamily="34" charset="-122"/>
                <a:cs typeface="IBM Plex Sans" pitchFamily="34" charset="-120"/>
              </a:rPr>
              <a:t>Iniciar conversación con IA</a:t>
            </a:r>
            <a:endParaRPr lang="en-US" sz="1400" dirty="0"/>
          </a:p>
        </p:txBody>
      </p:sp>
      <p:sp>
        <p:nvSpPr>
          <p:cNvPr id="20" name="Text 16"/>
          <p:cNvSpPr/>
          <p:nvPr/>
        </p:nvSpPr>
        <p:spPr>
          <a:xfrm>
            <a:off x="5600700" y="2228850"/>
            <a:ext cx="18313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305A"/>
                </a:solidFill>
                <a:latin typeface="IBM Plex Sans" pitchFamily="34" charset="0"/>
                <a:ea typeface="IBM Plex Sans" pitchFamily="34" charset="-122"/>
                <a:cs typeface="IBM Plex Sans" pitchFamily="34" charset="-120"/>
              </a:rPr>
              <a:t>Crear el plan con IA</a:t>
            </a:r>
            <a:endParaRPr lang="en-US" sz="1400" dirty="0"/>
          </a:p>
        </p:txBody>
      </p:sp>
      <p:sp>
        <p:nvSpPr>
          <p:cNvPr id="21" name="Text 17"/>
          <p:cNvSpPr/>
          <p:nvPr/>
        </p:nvSpPr>
        <p:spPr>
          <a:xfrm>
            <a:off x="6426200" y="3657600"/>
            <a:ext cx="17018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305A"/>
                </a:solidFill>
                <a:latin typeface="IBM Plex Sans" pitchFamily="34" charset="0"/>
                <a:ea typeface="IBM Plex Sans" pitchFamily="34" charset="-122"/>
                <a:cs typeface="IBM Plex Sans" pitchFamily="34" charset="-120"/>
              </a:rPr>
              <a:t>La IA ejecuta el plan</a:t>
            </a:r>
            <a:endParaRPr lang="en-US" sz="1400" dirty="0"/>
          </a:p>
        </p:txBody>
      </p:sp>
      <p:sp>
        <p:nvSpPr>
          <p:cNvPr id="22" name="Text 18"/>
          <p:cNvSpPr/>
          <p:nvPr/>
        </p:nvSpPr>
        <p:spPr>
          <a:xfrm>
            <a:off x="5600700" y="5086350"/>
            <a:ext cx="17018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305A"/>
                </a:solidFill>
                <a:latin typeface="IBM Plex Sans" pitchFamily="34" charset="0"/>
                <a:ea typeface="IBM Plex Sans" pitchFamily="34" charset="-122"/>
                <a:cs typeface="IBM Plex Sans" pitchFamily="34" charset="-120"/>
              </a:rPr>
              <a:t>Probar y verificar</a:t>
            </a:r>
            <a:endParaRPr lang="en-US" sz="1400" dirty="0"/>
          </a:p>
        </p:txBody>
      </p:sp>
      <p:sp>
        <p:nvSpPr>
          <p:cNvPr id="23" name="Text 19"/>
          <p:cNvSpPr/>
          <p:nvPr/>
        </p:nvSpPr>
        <p:spPr>
          <a:xfrm>
            <a:off x="1778000" y="5086350"/>
            <a:ext cx="1511300" cy="238720"/>
          </a:xfrm>
          <a:prstGeom prst="rect">
            <a:avLst/>
          </a:prstGeom>
          <a:noFill/>
          <a:ln/>
        </p:spPr>
        <p:txBody>
          <a:bodyPr wrap="square" lIns="0" tIns="0" rIns="0" bIns="0" rtlCol="0" anchor="t">
            <a:normAutofit/>
          </a:bodyPr>
          <a:lstStyle/>
          <a:p>
            <a:pPr algn="r" indent="0" marL="0">
              <a:lnSpc>
                <a:spcPts val="1680"/>
              </a:lnSpc>
              <a:buNone/>
            </a:pPr>
            <a:r>
              <a:rPr lang="en-US" sz="1400" b="1" dirty="0">
                <a:solidFill>
                  <a:srgbClr val="14305A"/>
                </a:solidFill>
                <a:latin typeface="IBM Plex Sans" pitchFamily="34" charset="0"/>
                <a:ea typeface="IBM Plex Sans" pitchFamily="34" charset="-122"/>
                <a:cs typeface="IBM Plex Sans" pitchFamily="34" charset="-120"/>
              </a:rPr>
              <a:t>Refinar e iterar</a:t>
            </a:r>
            <a:endParaRPr lang="en-US" sz="1400" dirty="0"/>
          </a:p>
        </p:txBody>
      </p:sp>
      <p:sp>
        <p:nvSpPr>
          <p:cNvPr id="24" name="Text 20"/>
          <p:cNvSpPr/>
          <p:nvPr/>
        </p:nvSpPr>
        <p:spPr>
          <a:xfrm>
            <a:off x="4781550" y="4381500"/>
            <a:ext cx="939800" cy="39112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3F8D8D"/>
                </a:solidFill>
                <a:latin typeface="IBM Plex Sans" pitchFamily="34" charset="0"/>
                <a:ea typeface="IBM Plex Sans" pitchFamily="34" charset="-122"/>
                <a:cs typeface="IBM Plex Sans" pitchFamily="34" charset="-120"/>
              </a:rPr>
              <a:t>Escribir código</a:t>
            </a:r>
            <a:endParaRPr lang="en-US" sz="1200" dirty="0"/>
          </a:p>
        </p:txBody>
      </p:sp>
      <p:sp>
        <p:nvSpPr>
          <p:cNvPr id="25" name="Text 21"/>
          <p:cNvSpPr/>
          <p:nvPr/>
        </p:nvSpPr>
        <p:spPr>
          <a:xfrm>
            <a:off x="4095750" y="4686300"/>
            <a:ext cx="9398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3F8D8D"/>
                </a:solidFill>
                <a:latin typeface="IBM Plex Sans" pitchFamily="34" charset="0"/>
                <a:ea typeface="IBM Plex Sans" pitchFamily="34" charset="-122"/>
                <a:cs typeface="IBM Plex Sans" pitchFamily="34" charset="-120"/>
              </a:rPr>
              <a:t>Compilar</a:t>
            </a:r>
            <a:endParaRPr lang="en-US" sz="1200" dirty="0"/>
          </a:p>
        </p:txBody>
      </p:sp>
      <p:sp>
        <p:nvSpPr>
          <p:cNvPr id="26" name="Text 22"/>
          <p:cNvSpPr/>
          <p:nvPr/>
        </p:nvSpPr>
        <p:spPr>
          <a:xfrm>
            <a:off x="3092450" y="3841750"/>
            <a:ext cx="787400" cy="20826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3F8D8D"/>
                </a:solidFill>
                <a:latin typeface="IBM Plex Sans" pitchFamily="34" charset="0"/>
                <a:ea typeface="IBM Plex Sans" pitchFamily="34" charset="-122"/>
                <a:cs typeface="IBM Plex Sans" pitchFamily="34" charset="-120"/>
              </a:rPr>
              <a:t>Ejecutar</a:t>
            </a:r>
            <a:endParaRPr lang="en-US" sz="1200" dirty="0"/>
          </a:p>
        </p:txBody>
      </p:sp>
      <p:sp>
        <p:nvSpPr>
          <p:cNvPr id="27" name="Text 23"/>
          <p:cNvSpPr/>
          <p:nvPr/>
        </p:nvSpPr>
        <p:spPr>
          <a:xfrm>
            <a:off x="4032250" y="2901950"/>
            <a:ext cx="8128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3F8D8D"/>
                </a:solidFill>
                <a:latin typeface="IBM Plex Sans" pitchFamily="34" charset="0"/>
                <a:ea typeface="IBM Plex Sans" pitchFamily="34" charset="-122"/>
                <a:cs typeface="IBM Plex Sans" pitchFamily="34" charset="-120"/>
              </a:rPr>
              <a:t>Probar</a:t>
            </a:r>
            <a:endParaRPr lang="en-US" sz="1200" dirty="0"/>
          </a:p>
        </p:txBody>
      </p:sp>
      <p:sp>
        <p:nvSpPr>
          <p:cNvPr id="28" name="Text 24"/>
          <p:cNvSpPr/>
          <p:nvPr/>
        </p:nvSpPr>
        <p:spPr>
          <a:xfrm>
            <a:off x="5359400" y="3168650"/>
            <a:ext cx="7493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F8D8D"/>
                </a:solidFill>
                <a:latin typeface="IBM Plex Sans" pitchFamily="34" charset="0"/>
                <a:ea typeface="IBM Plex Sans" pitchFamily="34" charset="-122"/>
                <a:cs typeface="IBM Plex Sans" pitchFamily="34" charset="-120"/>
              </a:rPr>
              <a:t>Depurar</a:t>
            </a:r>
            <a:endParaRPr lang="en-US" sz="1200" dirty="0"/>
          </a:p>
        </p:txBody>
      </p:sp>
      <p:sp>
        <p:nvSpPr>
          <p:cNvPr id="29" name="Text 25"/>
          <p:cNvSpPr/>
          <p:nvPr/>
        </p:nvSpPr>
        <p:spPr>
          <a:xfrm>
            <a:off x="8128000" y="2095500"/>
            <a:ext cx="3348736" cy="79871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50B0"/>
                </a:solidFill>
                <a:latin typeface="IBM Plex Sans" pitchFamily="34" charset="0"/>
                <a:ea typeface="IBM Plex Sans" pitchFamily="34" charset="-122"/>
                <a:cs typeface="IBM Plex Sans" pitchFamily="34" charset="-120"/>
              </a:rPr>
              <a:t>1–6 · Loop externo agéntico.</a:t>
            </a:r>
            <a:r>
              <a:rPr lang="en-US" sz="1400" dirty="0">
                <a:solidFill>
                  <a:srgbClr val="3E577D"/>
                </a:solidFill>
                <a:latin typeface="IBM Plex Sans" pitchFamily="34" charset="0"/>
                <a:ea typeface="IBM Plex Sans" pitchFamily="34" charset="-122"/>
                <a:cs typeface="IBM Plex Sans" pitchFamily="34" charset="-120"/>
              </a:rPr>
              <a:t> Descomponer, conversar, planear, verificar, iterar.</a:t>
            </a:r>
            <a:endParaRPr lang="en-US" sz="1400" dirty="0"/>
          </a:p>
        </p:txBody>
      </p:sp>
      <p:sp>
        <p:nvSpPr>
          <p:cNvPr id="30" name="Text 26"/>
          <p:cNvSpPr/>
          <p:nvPr/>
        </p:nvSpPr>
        <p:spPr>
          <a:xfrm>
            <a:off x="8128000" y="3046611"/>
            <a:ext cx="3348736"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3F8D8D"/>
                </a:solidFill>
                <a:latin typeface="IBM Plex Sans" pitchFamily="34" charset="0"/>
                <a:ea typeface="IBM Plex Sans" pitchFamily="34" charset="-122"/>
                <a:cs typeface="IBM Plex Sans" pitchFamily="34" charset="-120"/>
              </a:rPr>
              <a:t>A–E · Inner loop tradicional</a:t>
            </a:r>
            <a:r>
              <a:rPr lang="en-US" sz="1400" dirty="0">
                <a:solidFill>
                  <a:srgbClr val="3E577D"/>
                </a:solidFill>
                <a:latin typeface="IBM Plex Sans" pitchFamily="34" charset="0"/>
                <a:ea typeface="IBM Plex Sans" pitchFamily="34" charset="-122"/>
                <a:cs typeface="IBM Plex Sans" pitchFamily="34" charset="-120"/>
              </a:rPr>
              <a:t>, embebido en el paso 4.</a:t>
            </a:r>
            <a:endParaRPr lang="en-US" sz="1400" dirty="0"/>
          </a:p>
        </p:txBody>
      </p:sp>
      <p:sp>
        <p:nvSpPr>
          <p:cNvPr id="31" name="Shape 27"/>
          <p:cNvSpPr/>
          <p:nvPr/>
        </p:nvSpPr>
        <p:spPr>
          <a:xfrm>
            <a:off x="8128000" y="3743127"/>
            <a:ext cx="3251200" cy="0"/>
          </a:xfrm>
          <a:prstGeom prst="line">
            <a:avLst/>
          </a:prstGeom>
          <a:noFill/>
          <a:ln w="6350">
            <a:solidFill>
              <a:srgbClr val="14305A">
                <a:alpha val="16000"/>
              </a:srgbClr>
            </a:solidFill>
            <a:prstDash val="solid"/>
          </a:ln>
        </p:spPr>
      </p:sp>
      <p:sp>
        <p:nvSpPr>
          <p:cNvPr id="32" name="Text 28"/>
          <p:cNvSpPr/>
          <p:nvPr/>
        </p:nvSpPr>
        <p:spPr>
          <a:xfrm>
            <a:off x="8128000" y="3924102"/>
            <a:ext cx="3348736"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305A"/>
                </a:solidFill>
                <a:latin typeface="Manrope" pitchFamily="34" charset="0"/>
                <a:ea typeface="Manrope" pitchFamily="34" charset="-122"/>
                <a:cs typeface="Manrope" pitchFamily="34" charset="-120"/>
              </a:rPr>
              <a:t>Lo que siempre hicimos cabe ahora en un solo paso</a:t>
            </a:r>
            <a:endParaRPr lang="en-US" sz="1600" dirty="0"/>
          </a:p>
        </p:txBody>
      </p:sp>
      <p:pic>
        <p:nvPicPr>
          <p:cNvPr id="33" name="Image 2" descr="preencoded.png">    </p:cNvPr>
          <p:cNvPicPr>
            <a:picLocks noChangeAspect="1"/>
          </p:cNvPicPr>
          <p:nvPr/>
        </p:nvPicPr>
        <p:blipFill>
          <a:blip r:embed="rId3">
            <a:alphaModFix amt="50000"/>
          </a:blip>
          <a:srcRect l="0" r="0" t="-676" b="-676"/>
          <a:stretch/>
        </p:blipFill>
        <p:spPr>
          <a:xfrm>
            <a:off x="11480800" y="6223000"/>
            <a:ext cx="254000" cy="254000"/>
          </a:xfrm>
          <a:prstGeom prst="rect">
            <a:avLst/>
          </a:prstGeom>
        </p:spPr>
      </p:pic>
      <p:sp>
        <p:nvSpPr>
          <p:cNvPr id="34" name="Text 29"/>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Adaptado de Kim &amp; Yegge,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IT Revolution, 2025 · pág. 177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Principios del outer loop · el rol</a:t>
            </a:r>
            <a:endParaRPr lang="en-US" sz="3600" dirty="0"/>
          </a:p>
        </p:txBody>
      </p:sp>
      <p:sp>
        <p:nvSpPr>
          <p:cNvPr id="6" name="Shape 3"/>
          <p:cNvSpPr/>
          <p:nvPr/>
        </p:nvSpPr>
        <p:spPr>
          <a:xfrm>
            <a:off x="815975" y="2499469"/>
            <a:ext cx="3414167" cy="2880072"/>
          </a:xfrm>
          <a:prstGeom prst="roundRect">
            <a:avLst>
              <a:gd name="adj" fmla="val 4299"/>
            </a:avLst>
          </a:prstGeom>
          <a:solidFill>
            <a:srgbClr val="FFFFFF">
              <a:alpha val="62000"/>
            </a:srgbClr>
          </a:solidFill>
          <a:ln w="6350">
            <a:solidFill>
              <a:srgbClr val="14305A">
                <a:alpha val="16000"/>
              </a:srgbClr>
            </a:solidFill>
            <a:prstDash val="solid"/>
          </a:ln>
        </p:spPr>
      </p:sp>
      <p:sp>
        <p:nvSpPr>
          <p:cNvPr id="7" name="Text 4"/>
          <p:cNvSpPr/>
          <p:nvPr/>
        </p:nvSpPr>
        <p:spPr>
          <a:xfrm>
            <a:off x="1073150" y="2756644"/>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01</a:t>
            </a:r>
            <a:endParaRPr lang="en-US" sz="1200" dirty="0"/>
          </a:p>
        </p:txBody>
      </p:sp>
      <p:sp>
        <p:nvSpPr>
          <p:cNvPr id="8" name="Text 5"/>
          <p:cNvSpPr/>
          <p:nvPr/>
        </p:nvSpPr>
        <p:spPr>
          <a:xfrm>
            <a:off x="1073150" y="3071564"/>
            <a:ext cx="2986811"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Asumimos el rol de orquestador</a:t>
            </a:r>
            <a:endParaRPr lang="en-US" sz="1700" dirty="0"/>
          </a:p>
        </p:txBody>
      </p:sp>
      <p:sp>
        <p:nvSpPr>
          <p:cNvPr id="9" name="Text 6"/>
          <p:cNvSpPr/>
          <p:nvPr/>
        </p:nvSpPr>
        <p:spPr>
          <a:xfrm>
            <a:off x="1073150" y="3691285"/>
            <a:ext cx="2986811" cy="963017"/>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Ya no picamos verduras: diseñamos el menú, gestionamos la cocina y aseguramos que cada plato cumpla el estándar Michelin.</a:t>
            </a:r>
            <a:endParaRPr lang="en-US" sz="1300" dirty="0"/>
          </a:p>
        </p:txBody>
      </p:sp>
      <p:sp>
        <p:nvSpPr>
          <p:cNvPr id="10" name="Shape 7"/>
          <p:cNvSpPr/>
          <p:nvPr/>
        </p:nvSpPr>
        <p:spPr>
          <a:xfrm>
            <a:off x="4388892" y="2499469"/>
            <a:ext cx="3414216" cy="2880072"/>
          </a:xfrm>
          <a:prstGeom prst="roundRect">
            <a:avLst>
              <a:gd name="adj" fmla="val 4299"/>
            </a:avLst>
          </a:prstGeom>
          <a:solidFill>
            <a:srgbClr val="FFFFFF">
              <a:alpha val="62000"/>
            </a:srgbClr>
          </a:solidFill>
          <a:ln w="6350">
            <a:solidFill>
              <a:srgbClr val="14305A">
                <a:alpha val="16000"/>
              </a:srgbClr>
            </a:solidFill>
            <a:prstDash val="solid"/>
          </a:ln>
        </p:spPr>
      </p:sp>
      <p:sp>
        <p:nvSpPr>
          <p:cNvPr id="11" name="Text 8"/>
          <p:cNvSpPr/>
          <p:nvPr/>
        </p:nvSpPr>
        <p:spPr>
          <a:xfrm>
            <a:off x="4646067" y="2756644"/>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02</a:t>
            </a:r>
            <a:endParaRPr lang="en-US" sz="1200" dirty="0"/>
          </a:p>
        </p:txBody>
      </p:sp>
      <p:sp>
        <p:nvSpPr>
          <p:cNvPr id="12" name="Text 9"/>
          <p:cNvSpPr/>
          <p:nvPr/>
        </p:nvSpPr>
        <p:spPr>
          <a:xfrm>
            <a:off x="4646067" y="3071564"/>
            <a:ext cx="2986862" cy="8025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Tratamos a la IA como compañera — rápida, incansable</a:t>
            </a:r>
            <a:endParaRPr lang="en-US" sz="1700" dirty="0"/>
          </a:p>
        </p:txBody>
      </p:sp>
      <p:sp>
        <p:nvSpPr>
          <p:cNvPr id="13" name="Text 10"/>
          <p:cNvSpPr/>
          <p:nvPr/>
        </p:nvSpPr>
        <p:spPr>
          <a:xfrm>
            <a:off x="4646067" y="3950345"/>
            <a:ext cx="2986862" cy="1197421"/>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La guiamos, iteramos con ella, le damos contexto como a un aprendiz humano. Y le pedimos rehacer el trabajo sin dudar: no tiene sentimientos que herir.</a:t>
            </a:r>
            <a:endParaRPr lang="en-US" sz="1300" dirty="0"/>
          </a:p>
        </p:txBody>
      </p:sp>
      <p:sp>
        <p:nvSpPr>
          <p:cNvPr id="14" name="Shape 11"/>
          <p:cNvSpPr/>
          <p:nvPr/>
        </p:nvSpPr>
        <p:spPr>
          <a:xfrm>
            <a:off x="7961858" y="2499469"/>
            <a:ext cx="3414167" cy="2880072"/>
          </a:xfrm>
          <a:prstGeom prst="roundRect">
            <a:avLst>
              <a:gd name="adj" fmla="val 4299"/>
            </a:avLst>
          </a:prstGeom>
          <a:solidFill>
            <a:srgbClr val="FFFFFF">
              <a:alpha val="62000"/>
            </a:srgbClr>
          </a:solidFill>
          <a:ln w="6350">
            <a:solidFill>
              <a:srgbClr val="14305A">
                <a:alpha val="16000"/>
              </a:srgbClr>
            </a:solidFill>
            <a:prstDash val="solid"/>
          </a:ln>
        </p:spPr>
      </p:sp>
      <p:sp>
        <p:nvSpPr>
          <p:cNvPr id="15" name="Text 12"/>
          <p:cNvSpPr/>
          <p:nvPr/>
        </p:nvSpPr>
        <p:spPr>
          <a:xfrm>
            <a:off x="8219033" y="2756644"/>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03</a:t>
            </a:r>
            <a:endParaRPr lang="en-US" sz="1200" dirty="0"/>
          </a:p>
        </p:txBody>
      </p:sp>
      <p:sp>
        <p:nvSpPr>
          <p:cNvPr id="16" name="Text 13"/>
          <p:cNvSpPr/>
          <p:nvPr/>
        </p:nvSpPr>
        <p:spPr>
          <a:xfrm>
            <a:off x="8219033" y="3071564"/>
            <a:ext cx="2986811"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Descomponemos sin piedad</a:t>
            </a:r>
            <a:endParaRPr lang="en-US" sz="1700" dirty="0"/>
          </a:p>
        </p:txBody>
      </p:sp>
      <p:sp>
        <p:nvSpPr>
          <p:cNvPr id="17" name="Text 14"/>
          <p:cNvSpPr/>
          <p:nvPr/>
        </p:nvSpPr>
        <p:spPr>
          <a:xfrm>
            <a:off x="8219033" y="3691285"/>
            <a:ext cx="2986811" cy="963017"/>
          </a:xfrm>
          <a:prstGeom prst="rect">
            <a:avLst/>
          </a:prstGeom>
          <a:noFill/>
          <a:ln/>
        </p:spPr>
        <p:txBody>
          <a:bodyPr wrap="square" lIns="0" tIns="0" rIns="0" bIns="0" rtlCol="0" anchor="t">
            <a:normAutofit/>
          </a:bodyPr>
          <a:lstStyle/>
          <a:p>
            <a:pPr algn="l" indent="0" marL="0">
              <a:lnSpc>
                <a:spcPts val="1846"/>
              </a:lnSpc>
              <a:buNone/>
            </a:pPr>
            <a:r>
              <a:rPr lang="en-US" sz="1300" i="1" dirty="0">
                <a:solidFill>
                  <a:srgbClr val="3E577D"/>
                </a:solidFill>
                <a:latin typeface="IBM Plex Sans" pitchFamily="34" charset="0"/>
                <a:ea typeface="IBM Plex Sans" pitchFamily="34" charset="-122"/>
                <a:cs typeface="IBM Plex Sans" pitchFamily="34" charset="-120"/>
              </a:rPr>
              <a:t>Task graphs</a:t>
            </a:r>
            <a:r>
              <a:rPr lang="en-US" sz="1300" dirty="0">
                <a:solidFill>
                  <a:srgbClr val="3E577D"/>
                </a:solidFill>
                <a:latin typeface="IBM Plex Sans" pitchFamily="34" charset="0"/>
                <a:ea typeface="IBM Plex Sans" pitchFamily="34" charset="-122"/>
                <a:cs typeface="IBM Plex Sans" pitchFamily="34" charset="-120"/>
              </a:rPr>
              <a:t> y </a:t>
            </a:r>
            <a:r>
              <a:rPr lang="en-US" sz="1300" i="1" dirty="0">
                <a:solidFill>
                  <a:srgbClr val="3E577D"/>
                </a:solidFill>
                <a:latin typeface="IBM Plex Sans" pitchFamily="34" charset="0"/>
                <a:ea typeface="IBM Plex Sans" pitchFamily="34" charset="-122"/>
                <a:cs typeface="IBM Plex Sans" pitchFamily="34" charset="-120"/>
              </a:rPr>
              <a:t>tracer bullets</a:t>
            </a:r>
            <a:r>
              <a:rPr lang="en-US" sz="1300" dirty="0">
                <a:solidFill>
                  <a:srgbClr val="3E577D"/>
                </a:solidFill>
                <a:latin typeface="IBM Plex Sans" pitchFamily="34" charset="0"/>
                <a:ea typeface="IBM Plex Sans" pitchFamily="34" charset="-122"/>
                <a:cs typeface="IBM Plex Sans" pitchFamily="34" charset="-120"/>
              </a:rPr>
              <a:t>: partimos la visión ambiciosa en trozos manejables por IA y probamos los caminos críticos temprano.</a:t>
            </a:r>
            <a:endParaRPr lang="en-US" sz="1300" dirty="0"/>
          </a:p>
        </p:txBody>
      </p:sp>
      <p:pic>
        <p:nvPicPr>
          <p:cNvPr id="18"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9" name="Text 15"/>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Adaptado de Kim &amp; Yegge,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cap. 12 — “Key practices to remember as you set out”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Principios del outer loop · la responsabilidad</a:t>
            </a:r>
            <a:endParaRPr lang="en-US" sz="3600" dirty="0"/>
          </a:p>
        </p:txBody>
      </p:sp>
      <p:sp>
        <p:nvSpPr>
          <p:cNvPr id="6" name="Shape 3"/>
          <p:cNvSpPr/>
          <p:nvPr/>
        </p:nvSpPr>
        <p:spPr>
          <a:xfrm>
            <a:off x="815975" y="2616646"/>
            <a:ext cx="3414167" cy="2645668"/>
          </a:xfrm>
          <a:prstGeom prst="roundRect">
            <a:avLst>
              <a:gd name="adj" fmla="val 4680"/>
            </a:avLst>
          </a:prstGeom>
          <a:solidFill>
            <a:srgbClr val="FFFFFF">
              <a:alpha val="62000"/>
            </a:srgbClr>
          </a:solidFill>
          <a:ln w="6350">
            <a:solidFill>
              <a:srgbClr val="14305A">
                <a:alpha val="16000"/>
              </a:srgbClr>
            </a:solidFill>
            <a:prstDash val="solid"/>
          </a:ln>
        </p:spPr>
      </p:sp>
      <p:sp>
        <p:nvSpPr>
          <p:cNvPr id="7" name="Text 4"/>
          <p:cNvSpPr/>
          <p:nvPr/>
        </p:nvSpPr>
        <p:spPr>
          <a:xfrm>
            <a:off x="1073150" y="2873821"/>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04</a:t>
            </a:r>
            <a:endParaRPr lang="en-US" sz="1200" dirty="0"/>
          </a:p>
        </p:txBody>
      </p:sp>
      <p:sp>
        <p:nvSpPr>
          <p:cNvPr id="8" name="Text 5"/>
          <p:cNvSpPr/>
          <p:nvPr/>
        </p:nvSpPr>
        <p:spPr>
          <a:xfrm>
            <a:off x="1073150" y="3188742"/>
            <a:ext cx="2986811" cy="8025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Nuestra cocina, nuestras reglas, nuestra responsabilidad</a:t>
            </a:r>
            <a:endParaRPr lang="en-US" sz="1700" dirty="0"/>
          </a:p>
        </p:txBody>
      </p:sp>
      <p:sp>
        <p:nvSpPr>
          <p:cNvPr id="9" name="Text 6"/>
          <p:cNvSpPr/>
          <p:nvPr/>
        </p:nvSpPr>
        <p:spPr>
          <a:xfrm>
            <a:off x="1073150" y="4067522"/>
            <a:ext cx="2986811" cy="963017"/>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Cada línea de código, cada bug, cada factura de un proceso de IA fuera de control cae sobre nuestro </a:t>
            </a:r>
            <a:r>
              <a:rPr lang="en-US" sz="1300" i="1" dirty="0">
                <a:solidFill>
                  <a:srgbClr val="3E577D"/>
                </a:solidFill>
                <a:latin typeface="IBM Plex Sans" pitchFamily="34" charset="0"/>
                <a:ea typeface="IBM Plex Sans" pitchFamily="34" charset="-122"/>
                <a:cs typeface="IBM Plex Sans" pitchFamily="34" charset="-120"/>
              </a:rPr>
              <a:t>toque</a:t>
            </a:r>
            <a:r>
              <a:rPr lang="en-US" sz="1300" dirty="0">
                <a:solidFill>
                  <a:srgbClr val="3E577D"/>
                </a:solidFill>
                <a:latin typeface="IBM Plex Sans" pitchFamily="34" charset="0"/>
                <a:ea typeface="IBM Plex Sans" pitchFamily="34" charset="-122"/>
                <a:cs typeface="IBM Plex Sans" pitchFamily="34" charset="-120"/>
              </a:rPr>
              <a:t>. Revisamos y validamos con rigor.</a:t>
            </a:r>
            <a:endParaRPr lang="en-US" sz="1300" dirty="0"/>
          </a:p>
        </p:txBody>
      </p:sp>
      <p:sp>
        <p:nvSpPr>
          <p:cNvPr id="10" name="Shape 7"/>
          <p:cNvSpPr/>
          <p:nvPr/>
        </p:nvSpPr>
        <p:spPr>
          <a:xfrm>
            <a:off x="4388892" y="2616646"/>
            <a:ext cx="3414216" cy="2645668"/>
          </a:xfrm>
          <a:prstGeom prst="roundRect">
            <a:avLst>
              <a:gd name="adj" fmla="val 4680"/>
            </a:avLst>
          </a:prstGeom>
          <a:solidFill>
            <a:srgbClr val="FFFFFF">
              <a:alpha val="62000"/>
            </a:srgbClr>
          </a:solidFill>
          <a:ln w="6350">
            <a:solidFill>
              <a:srgbClr val="14305A">
                <a:alpha val="16000"/>
              </a:srgbClr>
            </a:solidFill>
            <a:prstDash val="solid"/>
          </a:ln>
        </p:spPr>
      </p:sp>
      <p:sp>
        <p:nvSpPr>
          <p:cNvPr id="11" name="Text 8"/>
          <p:cNvSpPr/>
          <p:nvPr/>
        </p:nvSpPr>
        <p:spPr>
          <a:xfrm>
            <a:off x="4646067" y="2873821"/>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05</a:t>
            </a:r>
            <a:endParaRPr lang="en-US" sz="1200" dirty="0"/>
          </a:p>
        </p:txBody>
      </p:sp>
      <p:sp>
        <p:nvSpPr>
          <p:cNvPr id="12" name="Text 9"/>
          <p:cNvSpPr/>
          <p:nvPr/>
        </p:nvSpPr>
        <p:spPr>
          <a:xfrm>
            <a:off x="4646067" y="3188742"/>
            <a:ext cx="2986862"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Le exigimos a la IA todo lo que necesitamos</a:t>
            </a:r>
            <a:endParaRPr lang="en-US" sz="1700" dirty="0"/>
          </a:p>
        </p:txBody>
      </p:sp>
      <p:sp>
        <p:nvSpPr>
          <p:cNvPr id="13" name="Text 10"/>
          <p:cNvSpPr/>
          <p:nvPr/>
        </p:nvSpPr>
        <p:spPr>
          <a:xfrm>
            <a:off x="4646067" y="3808462"/>
            <a:ext cx="2986862" cy="1197421"/>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El </a:t>
            </a:r>
            <a:r>
              <a:rPr lang="en-US" sz="1300" i="1" dirty="0">
                <a:solidFill>
                  <a:srgbClr val="3E577D"/>
                </a:solidFill>
                <a:latin typeface="IBM Plex Sans" pitchFamily="34" charset="0"/>
                <a:ea typeface="IBM Plex Sans" pitchFamily="34" charset="-122"/>
                <a:cs typeface="IBM Plex Sans" pitchFamily="34" charset="-120"/>
              </a:rPr>
              <a:t>sous chef</a:t>
            </a:r>
            <a:r>
              <a:rPr lang="en-US" sz="1300" dirty="0">
                <a:solidFill>
                  <a:srgbClr val="3E577D"/>
                </a:solidFill>
                <a:latin typeface="IBM Plex Sans" pitchFamily="34" charset="0"/>
                <a:ea typeface="IBM Plex Sans" pitchFamily="34" charset="-122"/>
                <a:cs typeface="IBM Plex Sans" pitchFamily="34" charset="-120"/>
              </a:rPr>
              <a:t> prospera con el volumen. Lo usamos para explorar opciones, refactorizar a fondo y generar los tests y la documentación que nunca tuvimos tiempo de hacer.</a:t>
            </a:r>
            <a:endParaRPr lang="en-US" sz="1300" dirty="0"/>
          </a:p>
        </p:txBody>
      </p:sp>
      <p:sp>
        <p:nvSpPr>
          <p:cNvPr id="14" name="Shape 11"/>
          <p:cNvSpPr/>
          <p:nvPr/>
        </p:nvSpPr>
        <p:spPr>
          <a:xfrm>
            <a:off x="7961858" y="2616646"/>
            <a:ext cx="3414167" cy="2645668"/>
          </a:xfrm>
          <a:prstGeom prst="roundRect">
            <a:avLst>
              <a:gd name="adj" fmla="val 4680"/>
            </a:avLst>
          </a:prstGeom>
          <a:solidFill>
            <a:srgbClr val="FFFFFF">
              <a:alpha val="62000"/>
            </a:srgbClr>
          </a:solidFill>
          <a:ln w="6350">
            <a:solidFill>
              <a:srgbClr val="14305A">
                <a:alpha val="16000"/>
              </a:srgbClr>
            </a:solidFill>
            <a:prstDash val="solid"/>
          </a:ln>
        </p:spPr>
      </p:sp>
      <p:sp>
        <p:nvSpPr>
          <p:cNvPr id="15" name="Text 12"/>
          <p:cNvSpPr/>
          <p:nvPr/>
        </p:nvSpPr>
        <p:spPr>
          <a:xfrm>
            <a:off x="8219033" y="2873821"/>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06</a:t>
            </a:r>
            <a:endParaRPr lang="en-US" sz="1200" dirty="0"/>
          </a:p>
        </p:txBody>
      </p:sp>
      <p:sp>
        <p:nvSpPr>
          <p:cNvPr id="16" name="Text 13"/>
          <p:cNvSpPr/>
          <p:nvPr/>
        </p:nvSpPr>
        <p:spPr>
          <a:xfrm>
            <a:off x="8219033" y="3188742"/>
            <a:ext cx="315381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Pensamos como team lead</a:t>
            </a:r>
            <a:endParaRPr lang="en-US" sz="1700" dirty="0"/>
          </a:p>
        </p:txBody>
      </p:sp>
      <p:sp>
        <p:nvSpPr>
          <p:cNvPr id="17" name="Text 14"/>
          <p:cNvSpPr/>
          <p:nvPr/>
        </p:nvSpPr>
        <p:spPr>
          <a:xfrm>
            <a:off x="8219033" y="3549402"/>
            <a:ext cx="2986811" cy="1197421"/>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Al orquestar varios agentes a la vez adoptamos desarrollo en paralelo, integración de cambios y fijación de estándares. Ahí escala la ambición — y el FAAFO.</a:t>
            </a:r>
            <a:endParaRPr lang="en-US" sz="1300" dirty="0"/>
          </a:p>
        </p:txBody>
      </p:sp>
      <p:pic>
        <p:nvPicPr>
          <p:cNvPr id="18"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9" name="Text 15"/>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Adaptado de Kim &amp; Yegge,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cap. 12 — “Key practices to remember as you set out”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Caso Adidas · 700 desarrolladores</a:t>
            </a:r>
            <a:endParaRPr lang="en-US" sz="3600" dirty="0"/>
          </a:p>
        </p:txBody>
      </p:sp>
      <p:sp>
        <p:nvSpPr>
          <p:cNvPr id="6" name="Text 3"/>
          <p:cNvSpPr/>
          <p:nvPr/>
        </p:nvSpPr>
        <p:spPr>
          <a:xfrm>
            <a:off x="812800" y="2559695"/>
            <a:ext cx="3313836" cy="665460"/>
          </a:xfrm>
          <a:prstGeom prst="rect">
            <a:avLst/>
          </a:prstGeom>
          <a:noFill/>
          <a:ln/>
        </p:spPr>
        <p:txBody>
          <a:bodyPr wrap="none" lIns="0" tIns="0" rIns="0" bIns="0" rtlCol="0" anchor="t">
            <a:normAutofit/>
          </a:bodyPr>
          <a:lstStyle/>
          <a:p>
            <a:pPr algn="l" indent="0" marL="0">
              <a:lnSpc>
                <a:spcPts val="5040"/>
              </a:lnSpc>
              <a:buNone/>
            </a:pPr>
            <a:r>
              <a:rPr lang="en-US" sz="4800" b="1" spc="-100" kern="0" dirty="0">
                <a:solidFill>
                  <a:srgbClr val="1050B0"/>
                </a:solidFill>
                <a:latin typeface="Manrope" pitchFamily="34" charset="0"/>
                <a:ea typeface="Manrope" pitchFamily="34" charset="-122"/>
                <a:cs typeface="Manrope" pitchFamily="34" charset="-120"/>
              </a:rPr>
              <a:t>500 → 700</a:t>
            </a:r>
            <a:endParaRPr lang="en-US" sz="4800" dirty="0"/>
          </a:p>
        </p:txBody>
      </p:sp>
      <p:sp>
        <p:nvSpPr>
          <p:cNvPr id="7" name="Text 4"/>
          <p:cNvSpPr/>
          <p:nvPr/>
        </p:nvSpPr>
        <p:spPr>
          <a:xfrm>
            <a:off x="812800" y="3250555"/>
            <a:ext cx="33138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desarrolladores en un año</a:t>
            </a:r>
            <a:endParaRPr lang="en-US" sz="1600" dirty="0"/>
          </a:p>
        </p:txBody>
      </p:sp>
      <p:sp>
        <p:nvSpPr>
          <p:cNvPr id="8" name="Text 5"/>
          <p:cNvSpPr/>
          <p:nvPr/>
        </p:nvSpPr>
        <p:spPr>
          <a:xfrm>
            <a:off x="4487317" y="2559695"/>
            <a:ext cx="3313887" cy="665460"/>
          </a:xfrm>
          <a:prstGeom prst="rect">
            <a:avLst/>
          </a:prstGeom>
          <a:noFill/>
          <a:ln/>
        </p:spPr>
        <p:txBody>
          <a:bodyPr wrap="none" lIns="0" tIns="0" rIns="0" bIns="0" rtlCol="0" anchor="t">
            <a:normAutofit/>
          </a:bodyPr>
          <a:lstStyle/>
          <a:p>
            <a:pPr algn="l" indent="0" marL="0">
              <a:lnSpc>
                <a:spcPts val="5040"/>
              </a:lnSpc>
              <a:buNone/>
            </a:pPr>
            <a:r>
              <a:rPr lang="en-US" sz="4800" b="1" spc="-100" kern="0" dirty="0">
                <a:solidFill>
                  <a:srgbClr val="1050B0"/>
                </a:solidFill>
                <a:latin typeface="Manrope" pitchFamily="34" charset="0"/>
                <a:ea typeface="Manrope" pitchFamily="34" charset="-122"/>
                <a:cs typeface="Manrope" pitchFamily="34" charset="-120"/>
              </a:rPr>
              <a:t>91 %</a:t>
            </a:r>
            <a:endParaRPr lang="en-US" sz="4800" dirty="0"/>
          </a:p>
        </p:txBody>
      </p:sp>
      <p:sp>
        <p:nvSpPr>
          <p:cNvPr id="9" name="Text 6"/>
          <p:cNvSpPr/>
          <p:nvPr/>
        </p:nvSpPr>
        <p:spPr>
          <a:xfrm>
            <a:off x="4487317" y="3250555"/>
            <a:ext cx="3313887"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satisfacción</a:t>
            </a:r>
            <a:endParaRPr lang="en-US" sz="1600" dirty="0"/>
          </a:p>
        </p:txBody>
      </p:sp>
      <p:sp>
        <p:nvSpPr>
          <p:cNvPr id="10" name="Text 7"/>
          <p:cNvSpPr/>
          <p:nvPr/>
        </p:nvSpPr>
        <p:spPr>
          <a:xfrm>
            <a:off x="8161883" y="2559695"/>
            <a:ext cx="3313836" cy="665460"/>
          </a:xfrm>
          <a:prstGeom prst="rect">
            <a:avLst/>
          </a:prstGeom>
          <a:noFill/>
          <a:ln/>
        </p:spPr>
        <p:txBody>
          <a:bodyPr wrap="none" lIns="0" tIns="0" rIns="0" bIns="0" rtlCol="0" anchor="t">
            <a:normAutofit/>
          </a:bodyPr>
          <a:lstStyle/>
          <a:p>
            <a:pPr algn="l" indent="0" marL="0">
              <a:lnSpc>
                <a:spcPts val="5040"/>
              </a:lnSpc>
              <a:buNone/>
            </a:pPr>
            <a:r>
              <a:rPr lang="en-US" sz="4800" b="1" spc="-100" kern="0" dirty="0">
                <a:solidFill>
                  <a:srgbClr val="1050B0"/>
                </a:solidFill>
                <a:latin typeface="Manrope" pitchFamily="34" charset="0"/>
                <a:ea typeface="Manrope" pitchFamily="34" charset="-122"/>
                <a:cs typeface="Manrope" pitchFamily="34" charset="-120"/>
              </a:rPr>
              <a:t>82 %</a:t>
            </a:r>
            <a:endParaRPr lang="en-US" sz="4800" dirty="0"/>
          </a:p>
        </p:txBody>
      </p:sp>
      <p:sp>
        <p:nvSpPr>
          <p:cNvPr id="11" name="Text 8"/>
          <p:cNvSpPr/>
          <p:nvPr/>
        </p:nvSpPr>
        <p:spPr>
          <a:xfrm>
            <a:off x="8161883" y="3250555"/>
            <a:ext cx="33138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E577D"/>
                </a:solidFill>
                <a:latin typeface="IBM Plex Sans" pitchFamily="34" charset="0"/>
                <a:ea typeface="IBM Plex Sans" pitchFamily="34" charset="-122"/>
                <a:cs typeface="IBM Plex Sans" pitchFamily="34" charset="-120"/>
              </a:rPr>
              <a:t>engagement diario</a:t>
            </a:r>
            <a:endParaRPr lang="en-US" sz="1600" dirty="0"/>
          </a:p>
        </p:txBody>
      </p:sp>
      <p:sp>
        <p:nvSpPr>
          <p:cNvPr id="12" name="Shape 9"/>
          <p:cNvSpPr/>
          <p:nvPr/>
        </p:nvSpPr>
        <p:spPr>
          <a:xfrm>
            <a:off x="812800" y="3771850"/>
            <a:ext cx="10566400" cy="0"/>
          </a:xfrm>
          <a:prstGeom prst="line">
            <a:avLst/>
          </a:prstGeom>
          <a:noFill/>
          <a:ln w="6350">
            <a:solidFill>
              <a:srgbClr val="14305A">
                <a:alpha val="16000"/>
              </a:srgbClr>
            </a:solidFill>
            <a:prstDash val="solid"/>
          </a:ln>
        </p:spPr>
      </p:sp>
      <p:sp>
        <p:nvSpPr>
          <p:cNvPr id="13" name="Text 10"/>
          <p:cNvSpPr/>
          <p:nvPr/>
        </p:nvSpPr>
        <p:spPr>
          <a:xfrm>
            <a:off x="812800" y="4029025"/>
            <a:ext cx="10883392"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305A"/>
                </a:solidFill>
                <a:latin typeface="Manrope" pitchFamily="34" charset="0"/>
                <a:ea typeface="Manrope" pitchFamily="34" charset="-122"/>
                <a:cs typeface="Manrope" pitchFamily="34" charset="-120"/>
              </a:rPr>
              <a:t>Happy Time: 47 % → 65 % </a:t>
            </a:r>
            <a:r>
              <a:rPr lang="en-US" sz="2400" b="1" dirty="0">
                <a:solidFill>
                  <a:srgbClr val="5C7192"/>
                </a:solidFill>
                <a:latin typeface="Manrope" pitchFamily="34" charset="0"/>
                <a:ea typeface="Manrope" pitchFamily="34" charset="-122"/>
                <a:cs typeface="Manrope" pitchFamily="34" charset="-120"/>
              </a:rPr>
              <a:t>(2018 → 2024)</a:t>
            </a:r>
            <a:endParaRPr lang="en-US" sz="2400" dirty="0"/>
          </a:p>
        </p:txBody>
      </p:sp>
      <p:sp>
        <p:nvSpPr>
          <p:cNvPr id="14" name="Text 11"/>
          <p:cNvSpPr/>
          <p:nvPr/>
        </p:nvSpPr>
        <p:spPr>
          <a:xfrm>
            <a:off x="812800" y="4531916"/>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El tiempo en </a:t>
            </a:r>
            <a:r>
              <a:rPr lang="en-US" sz="1400" i="1" dirty="0">
                <a:solidFill>
                  <a:srgbClr val="3E577D"/>
                </a:solidFill>
                <a:latin typeface="IBM Plex Sans" pitchFamily="34" charset="0"/>
                <a:ea typeface="IBM Plex Sans" pitchFamily="34" charset="-122"/>
                <a:cs typeface="IBM Plex Sans" pitchFamily="34" charset="-120"/>
              </a:rPr>
              <a:t>coding, testing, analysis, design, documentation</a:t>
            </a:r>
            <a:r>
              <a:rPr lang="en-US" sz="1400" dirty="0">
                <a:solidFill>
                  <a:srgbClr val="3E577D"/>
                </a:solidFill>
                <a:latin typeface="IBM Plex Sans" pitchFamily="34" charset="0"/>
                <a:ea typeface="IBM Plex Sans" pitchFamily="34" charset="-122"/>
                <a:cs typeface="IBM Plex Sans" pitchFamily="34" charset="-120"/>
              </a:rPr>
              <a:t> — la zona — subió 18 puntos.</a:t>
            </a:r>
            <a:endParaRPr lang="en-US" sz="1400" dirty="0"/>
          </a:p>
        </p:txBody>
      </p:sp>
      <p:sp>
        <p:nvSpPr>
          <p:cNvPr id="15" name="Text 12"/>
          <p:cNvSpPr/>
          <p:nvPr/>
        </p:nvSpPr>
        <p:spPr>
          <a:xfrm>
            <a:off x="812800" y="5034806"/>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IBM Plex Sans" pitchFamily="34" charset="0"/>
                <a:ea typeface="IBM Plex Sans" pitchFamily="34" charset="-122"/>
                <a:cs typeface="IBM Plex Sans" pitchFamily="34" charset="-120"/>
              </a:rPr>
              <a:t>Pero los promedios engañan: dentro del piloto convivían dos poblaciones muy distintas.</a:t>
            </a:r>
            <a:endParaRPr lang="en-US" sz="1600" dirty="0"/>
          </a:p>
        </p:txBody>
      </p:sp>
      <p:pic>
        <p:nvPicPr>
          <p:cNvPr id="16"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7" name="Text 13"/>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Kim &amp; Yegge,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cap. 17 — “From Line Cook to Head Chef”</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29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Dos arquitecturas, dos realidades</a:t>
            </a:r>
            <a:endParaRPr lang="en-US" sz="3600" dirty="0"/>
          </a:p>
        </p:txBody>
      </p:sp>
      <p:sp>
        <p:nvSpPr>
          <p:cNvPr id="6" name="Shape 3"/>
          <p:cNvSpPr/>
          <p:nvPr/>
        </p:nvSpPr>
        <p:spPr>
          <a:xfrm>
            <a:off x="815975" y="2189510"/>
            <a:ext cx="5200650" cy="1954461"/>
          </a:xfrm>
          <a:prstGeom prst="roundRect">
            <a:avLst>
              <a:gd name="adj" fmla="val 6336"/>
            </a:avLst>
          </a:prstGeom>
          <a:solidFill>
            <a:srgbClr val="FFFFFF">
              <a:alpha val="62000"/>
            </a:srgbClr>
          </a:solidFill>
          <a:ln w="6350">
            <a:solidFill>
              <a:srgbClr val="14305A">
                <a:alpha val="16000"/>
              </a:srgbClr>
            </a:solidFill>
            <a:prstDash val="solid"/>
          </a:ln>
        </p:spPr>
      </p:sp>
      <p:sp>
        <p:nvSpPr>
          <p:cNvPr id="7" name="Text 4"/>
          <p:cNvSpPr/>
          <p:nvPr/>
        </p:nvSpPr>
        <p:spPr>
          <a:xfrm>
            <a:off x="1047750" y="2421285"/>
            <a:ext cx="48792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Arquitectura desacoplada</a:t>
            </a:r>
            <a:endParaRPr lang="en-US" sz="1800" dirty="0"/>
          </a:p>
        </p:txBody>
      </p:sp>
      <p:sp>
        <p:nvSpPr>
          <p:cNvPr id="8" name="Text 5"/>
          <p:cNvSpPr/>
          <p:nvPr/>
        </p:nvSpPr>
        <p:spPr>
          <a:xfrm>
            <a:off x="1047750" y="2797175"/>
            <a:ext cx="48792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E-commerce · </a:t>
            </a:r>
            <a:r>
              <a:rPr lang="en-US" sz="1200" i="1" dirty="0">
                <a:solidFill>
                  <a:srgbClr val="5C7192"/>
                </a:solidFill>
                <a:latin typeface="IBM Plex Sans" pitchFamily="34" charset="0"/>
                <a:ea typeface="IBM Plex Sans" pitchFamily="34" charset="-122"/>
                <a:cs typeface="IBM Plex Sans" pitchFamily="34" charset="-120"/>
              </a:rPr>
              <a:t>fast feedback loops</a:t>
            </a:r>
            <a:r>
              <a:rPr lang="en-US" sz="1200" dirty="0">
                <a:solidFill>
                  <a:srgbClr val="5C7192"/>
                </a:solidFill>
                <a:latin typeface="IBM Plex Sans" pitchFamily="34" charset="0"/>
                <a:ea typeface="IBM Plex Sans" pitchFamily="34" charset="-122"/>
                <a:cs typeface="IBM Plex Sans" pitchFamily="34" charset="-120"/>
              </a:rPr>
              <a:t> · deploys frecuentes</a:t>
            </a:r>
            <a:endParaRPr lang="en-US" sz="1200" dirty="0"/>
          </a:p>
        </p:txBody>
      </p:sp>
      <p:sp>
        <p:nvSpPr>
          <p:cNvPr id="9" name="Text 6"/>
          <p:cNvSpPr/>
          <p:nvPr/>
        </p:nvSpPr>
        <p:spPr>
          <a:xfrm>
            <a:off x="1047750" y="3112095"/>
            <a:ext cx="2029718"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050B0"/>
                </a:solidFill>
                <a:latin typeface="Manrope" pitchFamily="34" charset="0"/>
                <a:ea typeface="Manrope" pitchFamily="34" charset="-122"/>
                <a:cs typeface="Manrope" pitchFamily="34" charset="-120"/>
              </a:rPr>
              <a:t>80 %</a:t>
            </a:r>
            <a:endParaRPr lang="en-US" sz="6000" dirty="0"/>
          </a:p>
        </p:txBody>
      </p:sp>
      <p:sp>
        <p:nvSpPr>
          <p:cNvPr id="10" name="Text 7"/>
          <p:cNvSpPr/>
          <p:nvPr/>
        </p:nvSpPr>
        <p:spPr>
          <a:xfrm>
            <a:off x="3077468" y="3232745"/>
            <a:ext cx="163497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Happy Time</a:t>
            </a:r>
            <a:endParaRPr lang="en-US" sz="1400" dirty="0"/>
          </a:p>
        </p:txBody>
      </p:sp>
      <p:sp>
        <p:nvSpPr>
          <p:cNvPr id="11" name="Text 8"/>
          <p:cNvSpPr/>
          <p:nvPr/>
        </p:nvSpPr>
        <p:spPr>
          <a:xfrm>
            <a:off x="3077468" y="3507036"/>
            <a:ext cx="190101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50B0"/>
                </a:solidFill>
                <a:latin typeface="Manrope" pitchFamily="34" charset="0"/>
                <a:ea typeface="Manrope" pitchFamily="34" charset="-122"/>
                <a:cs typeface="Manrope" pitchFamily="34" charset="-120"/>
              </a:rPr>
              <a:t>FAAFO funcionó</a:t>
            </a:r>
            <a:endParaRPr lang="en-US" sz="1600" dirty="0"/>
          </a:p>
        </p:txBody>
      </p:sp>
      <p:sp>
        <p:nvSpPr>
          <p:cNvPr id="12" name="Shape 9"/>
          <p:cNvSpPr/>
          <p:nvPr/>
        </p:nvSpPr>
        <p:spPr>
          <a:xfrm>
            <a:off x="6175375" y="2189510"/>
            <a:ext cx="5200650" cy="1954461"/>
          </a:xfrm>
          <a:prstGeom prst="roundRect">
            <a:avLst>
              <a:gd name="adj" fmla="val 6336"/>
            </a:avLst>
          </a:prstGeom>
          <a:solidFill>
            <a:srgbClr val="FFFFFF">
              <a:alpha val="62000"/>
            </a:srgbClr>
          </a:solidFill>
          <a:ln w="6350">
            <a:solidFill>
              <a:srgbClr val="14305A">
                <a:alpha val="16000"/>
              </a:srgbClr>
            </a:solidFill>
            <a:prstDash val="solid"/>
          </a:ln>
        </p:spPr>
      </p:sp>
      <p:sp>
        <p:nvSpPr>
          <p:cNvPr id="13" name="Text 10"/>
          <p:cNvSpPr/>
          <p:nvPr/>
        </p:nvSpPr>
        <p:spPr>
          <a:xfrm>
            <a:off x="6407150" y="2421285"/>
            <a:ext cx="48792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5A"/>
                </a:solidFill>
                <a:latin typeface="Manrope" pitchFamily="34" charset="0"/>
                <a:ea typeface="Manrope" pitchFamily="34" charset="-122"/>
                <a:cs typeface="Manrope" pitchFamily="34" charset="-120"/>
              </a:rPr>
              <a:t>ERP legacy acoplado</a:t>
            </a:r>
            <a:endParaRPr lang="en-US" sz="1800" dirty="0"/>
          </a:p>
        </p:txBody>
      </p:sp>
      <p:sp>
        <p:nvSpPr>
          <p:cNvPr id="14" name="Text 11"/>
          <p:cNvSpPr/>
          <p:nvPr/>
        </p:nvSpPr>
        <p:spPr>
          <a:xfrm>
            <a:off x="6407150" y="2797175"/>
            <a:ext cx="48792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Deploys dos veces al año · testing que tomaba días</a:t>
            </a:r>
            <a:endParaRPr lang="en-US" sz="1200" dirty="0"/>
          </a:p>
        </p:txBody>
      </p:sp>
      <p:sp>
        <p:nvSpPr>
          <p:cNvPr id="15" name="Text 12"/>
          <p:cNvSpPr/>
          <p:nvPr/>
        </p:nvSpPr>
        <p:spPr>
          <a:xfrm>
            <a:off x="6407150" y="3112095"/>
            <a:ext cx="2005360"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B5531C"/>
                </a:solidFill>
                <a:latin typeface="Manrope" pitchFamily="34" charset="0"/>
                <a:ea typeface="Manrope" pitchFamily="34" charset="-122"/>
                <a:cs typeface="Manrope" pitchFamily="34" charset="-120"/>
              </a:rPr>
              <a:t>30 %</a:t>
            </a:r>
            <a:endParaRPr lang="en-US" sz="6000" dirty="0"/>
          </a:p>
        </p:txBody>
      </p:sp>
      <p:sp>
        <p:nvSpPr>
          <p:cNvPr id="16" name="Text 13"/>
          <p:cNvSpPr/>
          <p:nvPr/>
        </p:nvSpPr>
        <p:spPr>
          <a:xfrm>
            <a:off x="8412510" y="3232745"/>
            <a:ext cx="118407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Happy Time</a:t>
            </a:r>
            <a:endParaRPr lang="en-US" sz="1400" dirty="0"/>
          </a:p>
        </p:txBody>
      </p:sp>
      <p:sp>
        <p:nvSpPr>
          <p:cNvPr id="17" name="Text 14"/>
          <p:cNvSpPr/>
          <p:nvPr/>
        </p:nvSpPr>
        <p:spPr>
          <a:xfrm>
            <a:off x="8412510" y="3507036"/>
            <a:ext cx="13599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531C"/>
                </a:solidFill>
                <a:latin typeface="Manrope" pitchFamily="34" charset="0"/>
                <a:ea typeface="Manrope" pitchFamily="34" charset="-122"/>
                <a:cs typeface="Manrope" pitchFamily="34" charset="-120"/>
              </a:rPr>
              <a:t>FAAFO falló</a:t>
            </a:r>
            <a:endParaRPr lang="en-US" sz="1600" dirty="0"/>
          </a:p>
        </p:txBody>
      </p:sp>
      <p:sp>
        <p:nvSpPr>
          <p:cNvPr id="18" name="Text 15"/>
          <p:cNvSpPr/>
          <p:nvPr/>
        </p:nvSpPr>
        <p:spPr>
          <a:xfrm>
            <a:off x="812800" y="4350345"/>
            <a:ext cx="10883392" cy="539750"/>
          </a:xfrm>
          <a:prstGeom prst="rect">
            <a:avLst/>
          </a:prstGeom>
          <a:noFill/>
          <a:ln/>
        </p:spPr>
        <p:txBody>
          <a:bodyPr wrap="square" lIns="0" tIns="0" rIns="0" bIns="0" rtlCol="0" anchor="t">
            <a:normAutofit/>
          </a:bodyPr>
          <a:lstStyle/>
          <a:p>
            <a:pPr algn="l" indent="0" marL="0">
              <a:lnSpc>
                <a:spcPts val="2025"/>
              </a:lnSpc>
              <a:buNone/>
            </a:pPr>
            <a:r>
              <a:rPr lang="en-US" sz="1500" b="1" i="1" dirty="0">
                <a:solidFill>
                  <a:srgbClr val="14305A"/>
                </a:solidFill>
                <a:latin typeface="Manrope" pitchFamily="34" charset="0"/>
                <a:ea typeface="Manrope" pitchFamily="34" charset="-122"/>
                <a:cs typeface="Manrope" pitchFamily="34" charset="-120"/>
              </a:rPr>
              <a:t>“Si les hubiera ofrecido Copilot a esos equipos, me habrían insultado. Me habrían dicho: Fernando, ¿estás loco? Arregla el entorno, arregla el testing primero.”</a:t>
            </a:r>
            <a:endParaRPr lang="en-US" sz="1500" dirty="0"/>
          </a:p>
        </p:txBody>
      </p:sp>
      <p:sp>
        <p:nvSpPr>
          <p:cNvPr id="19" name="Text 16"/>
          <p:cNvSpPr/>
          <p:nvPr/>
        </p:nvSpPr>
        <p:spPr>
          <a:xfrm>
            <a:off x="812800" y="491549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 Fernando Cornago, VP of Software Engineering, Adidas</a:t>
            </a:r>
            <a:endParaRPr lang="en-US" sz="1200" dirty="0"/>
          </a:p>
        </p:txBody>
      </p:sp>
      <p:sp>
        <p:nvSpPr>
          <p:cNvPr id="20" name="Text 17"/>
          <p:cNvSpPr/>
          <p:nvPr/>
        </p:nvSpPr>
        <p:spPr>
          <a:xfrm>
            <a:off x="812800" y="5332016"/>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77D"/>
                </a:solidFill>
                <a:latin typeface="IBM Plex Sans" pitchFamily="34" charset="0"/>
                <a:ea typeface="IBM Plex Sans" pitchFamily="34" charset="-122"/>
                <a:cs typeface="IBM Plex Sans" pitchFamily="34" charset="-120"/>
              </a:rPr>
              <a:t>El diferenciador no fue el </a:t>
            </a:r>
            <a:r>
              <a:rPr lang="en-US" sz="1300" i="1" dirty="0">
                <a:solidFill>
                  <a:srgbClr val="3E577D"/>
                </a:solidFill>
                <a:latin typeface="IBM Plex Sans" pitchFamily="34" charset="0"/>
                <a:ea typeface="IBM Plex Sans" pitchFamily="34" charset="-122"/>
                <a:cs typeface="IBM Plex Sans" pitchFamily="34" charset="-120"/>
              </a:rPr>
              <a:t>skill</a:t>
            </a:r>
            <a:r>
              <a:rPr lang="en-US" sz="1300" dirty="0">
                <a:solidFill>
                  <a:srgbClr val="3E577D"/>
                </a:solidFill>
                <a:latin typeface="IBM Plex Sans" pitchFamily="34" charset="0"/>
                <a:ea typeface="IBM Plex Sans" pitchFamily="34" charset="-122"/>
                <a:cs typeface="IBM Plex Sans" pitchFamily="34" charset="-120"/>
              </a:rPr>
              <a:t> (capa 1) ni el </a:t>
            </a:r>
            <a:r>
              <a:rPr lang="en-US" sz="1300" i="1" dirty="0">
                <a:solidFill>
                  <a:srgbClr val="3E577D"/>
                </a:solidFill>
                <a:latin typeface="IBM Plex Sans" pitchFamily="34" charset="0"/>
                <a:ea typeface="IBM Plex Sans" pitchFamily="34" charset="-122"/>
                <a:cs typeface="IBM Plex Sans" pitchFamily="34" charset="-120"/>
              </a:rPr>
              <a:t>tooling</a:t>
            </a:r>
            <a:r>
              <a:rPr lang="en-US" sz="1300" dirty="0">
                <a:solidFill>
                  <a:srgbClr val="3E577D"/>
                </a:solidFill>
                <a:latin typeface="IBM Plex Sans" pitchFamily="34" charset="0"/>
                <a:ea typeface="IBM Plex Sans" pitchFamily="34" charset="-122"/>
                <a:cs typeface="IBM Plex Sans" pitchFamily="34" charset="-120"/>
              </a:rPr>
              <a:t> (capa 2): fue la arquitectura (capa 3). </a:t>
            </a:r>
            <a:r>
              <a:rPr lang="en-US" sz="1300" b="1" dirty="0">
                <a:solidFill>
                  <a:srgbClr val="3E577D"/>
                </a:solidFill>
                <a:latin typeface="IBM Plex Sans" pitchFamily="34" charset="0"/>
                <a:ea typeface="IBM Plex Sans" pitchFamily="34" charset="-122"/>
                <a:cs typeface="IBM Plex Sans" pitchFamily="34" charset="-120"/>
              </a:rPr>
              <a:t>Theory of Constraints</a:t>
            </a:r>
            <a:r>
              <a:rPr lang="en-US" sz="1300" dirty="0">
                <a:solidFill>
                  <a:srgbClr val="3E577D"/>
                </a:solidFill>
                <a:latin typeface="IBM Plex Sans" pitchFamily="34" charset="0"/>
                <a:ea typeface="IBM Plex Sans" pitchFamily="34" charset="-122"/>
                <a:cs typeface="IBM Plex Sans" pitchFamily="34" charset="-120"/>
              </a:rPr>
              <a:t>: toda mejora que no se hace en el cuello de botella es una ilusión.</a:t>
            </a:r>
            <a:endParaRPr lang="en-US" sz="1300" dirty="0"/>
          </a:p>
        </p:txBody>
      </p:sp>
      <p:pic>
        <p:nvPicPr>
          <p:cNvPr id="21"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Nuevas habilidades · leer, escribir, enfocar</a:t>
            </a:r>
            <a:endParaRPr lang="en-US" sz="3600" dirty="0"/>
          </a:p>
        </p:txBody>
      </p:sp>
      <p:sp>
        <p:nvSpPr>
          <p:cNvPr id="6" name="Text 3"/>
          <p:cNvSpPr/>
          <p:nvPr/>
        </p:nvSpPr>
        <p:spPr>
          <a:xfrm>
            <a:off x="812800" y="2503884"/>
            <a:ext cx="11379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Las herramientas cambian rápido. Por eso los principios tradicionales de ingeniería juegan un rol al menos tan grande — si no mayor.</a:t>
            </a:r>
            <a:endParaRPr lang="en-US" sz="1400" dirty="0"/>
          </a:p>
        </p:txBody>
      </p:sp>
      <p:sp>
        <p:nvSpPr>
          <p:cNvPr id="7" name="Shape 4"/>
          <p:cNvSpPr/>
          <p:nvPr/>
        </p:nvSpPr>
        <p:spPr>
          <a:xfrm>
            <a:off x="815975" y="3009950"/>
            <a:ext cx="3414167" cy="2361952"/>
          </a:xfrm>
          <a:prstGeom prst="roundRect">
            <a:avLst>
              <a:gd name="adj" fmla="val 5242"/>
            </a:avLst>
          </a:prstGeom>
          <a:solidFill>
            <a:srgbClr val="FFFFFF">
              <a:alpha val="62000"/>
            </a:srgbClr>
          </a:solidFill>
          <a:ln w="6350">
            <a:solidFill>
              <a:srgbClr val="14305A">
                <a:alpha val="16000"/>
              </a:srgbClr>
            </a:solidFill>
            <a:prstDash val="solid"/>
          </a:ln>
        </p:spPr>
      </p:sp>
      <p:sp>
        <p:nvSpPr>
          <p:cNvPr id="8" name="Text 5"/>
          <p:cNvSpPr/>
          <p:nvPr/>
        </p:nvSpPr>
        <p:spPr>
          <a:xfrm>
            <a:off x="1073150" y="3267125"/>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01</a:t>
            </a:r>
            <a:endParaRPr lang="en-US" sz="1200" dirty="0"/>
          </a:p>
        </p:txBody>
      </p:sp>
      <p:sp>
        <p:nvSpPr>
          <p:cNvPr id="9" name="Text 6"/>
          <p:cNvSpPr/>
          <p:nvPr/>
        </p:nvSpPr>
        <p:spPr>
          <a:xfrm>
            <a:off x="1073150" y="3582045"/>
            <a:ext cx="298681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Lectura de código</a:t>
            </a:r>
            <a:endParaRPr lang="en-US" sz="1700" dirty="0"/>
          </a:p>
        </p:txBody>
      </p:sp>
      <p:sp>
        <p:nvSpPr>
          <p:cNvPr id="10" name="Text 7"/>
          <p:cNvSpPr/>
          <p:nvPr/>
        </p:nvSpPr>
        <p:spPr>
          <a:xfrm>
            <a:off x="1073150" y="3942705"/>
            <a:ext cx="2986811" cy="1197421"/>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Cientos de cambios, miles de líneas al día. Necesitamos leer rápido, con ojo de águila para las anomalías. </a:t>
            </a:r>
            <a:r>
              <a:rPr lang="en-US" sz="1300" i="1" dirty="0">
                <a:solidFill>
                  <a:srgbClr val="3E577D"/>
                </a:solidFill>
                <a:latin typeface="IBM Plex Sans" pitchFamily="34" charset="0"/>
                <a:ea typeface="IBM Plex Sans" pitchFamily="34" charset="-122"/>
                <a:cs typeface="IBM Plex Sans" pitchFamily="34" charset="-120"/>
              </a:rPr>
              <a:t>Los humanos somos el backstop cuando la IA falla.</a:t>
            </a:r>
            <a:endParaRPr lang="en-US" sz="1300" dirty="0"/>
          </a:p>
        </p:txBody>
      </p:sp>
      <p:sp>
        <p:nvSpPr>
          <p:cNvPr id="11" name="Shape 8"/>
          <p:cNvSpPr/>
          <p:nvPr/>
        </p:nvSpPr>
        <p:spPr>
          <a:xfrm>
            <a:off x="4388892" y="3009950"/>
            <a:ext cx="3414216" cy="2361952"/>
          </a:xfrm>
          <a:prstGeom prst="roundRect">
            <a:avLst>
              <a:gd name="adj" fmla="val 5242"/>
            </a:avLst>
          </a:prstGeom>
          <a:solidFill>
            <a:srgbClr val="FFFFFF">
              <a:alpha val="62000"/>
            </a:srgbClr>
          </a:solidFill>
          <a:ln w="6350">
            <a:solidFill>
              <a:srgbClr val="14305A">
                <a:alpha val="16000"/>
              </a:srgbClr>
            </a:solidFill>
            <a:prstDash val="solid"/>
          </a:ln>
        </p:spPr>
      </p:sp>
      <p:sp>
        <p:nvSpPr>
          <p:cNvPr id="12" name="Text 9"/>
          <p:cNvSpPr/>
          <p:nvPr/>
        </p:nvSpPr>
        <p:spPr>
          <a:xfrm>
            <a:off x="4646067" y="3267125"/>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02</a:t>
            </a:r>
            <a:endParaRPr lang="en-US" sz="1200" dirty="0"/>
          </a:p>
        </p:txBody>
      </p:sp>
      <p:sp>
        <p:nvSpPr>
          <p:cNvPr id="13" name="Text 10"/>
          <p:cNvSpPr/>
          <p:nvPr/>
        </p:nvSpPr>
        <p:spPr>
          <a:xfrm>
            <a:off x="4646067" y="3582045"/>
            <a:ext cx="298686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Comunicación precisa</a:t>
            </a:r>
            <a:endParaRPr lang="en-US" sz="1700" dirty="0"/>
          </a:p>
        </p:txBody>
      </p:sp>
      <p:sp>
        <p:nvSpPr>
          <p:cNvPr id="14" name="Text 11"/>
          <p:cNvSpPr/>
          <p:nvPr/>
        </p:nvSpPr>
        <p:spPr>
          <a:xfrm>
            <a:off x="4646067" y="3942705"/>
            <a:ext cx="2986862" cy="963017"/>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Nuestro éxito depende de cómo dirigimos a la IA. Escribir claro es pensar claro. </a:t>
            </a:r>
            <a:r>
              <a:rPr lang="en-US" sz="1300" i="1" dirty="0">
                <a:solidFill>
                  <a:srgbClr val="3E577D"/>
                </a:solidFill>
                <a:latin typeface="IBM Plex Sans" pitchFamily="34" charset="0"/>
                <a:ea typeface="IBM Plex Sans" pitchFamily="34" charset="-122"/>
                <a:cs typeface="IBM Plex Sans" pitchFamily="34" charset="-120"/>
              </a:rPr>
              <a:t>“Writing is thinking.”</a:t>
            </a:r>
            <a:r>
              <a:rPr lang="en-US" sz="1300" dirty="0">
                <a:solidFill>
                  <a:srgbClr val="3E577D"/>
                </a:solidFill>
                <a:latin typeface="IBM Plex Sans" pitchFamily="34" charset="0"/>
                <a:ea typeface="IBM Plex Sans" pitchFamily="34" charset="-122"/>
                <a:cs typeface="IBM Plex Sans" pitchFamily="34" charset="-120"/>
              </a:rPr>
              <a:t> — David McCullough</a:t>
            </a:r>
            <a:endParaRPr lang="en-US" sz="1300" dirty="0"/>
          </a:p>
        </p:txBody>
      </p:sp>
      <p:sp>
        <p:nvSpPr>
          <p:cNvPr id="15" name="Shape 12"/>
          <p:cNvSpPr/>
          <p:nvPr/>
        </p:nvSpPr>
        <p:spPr>
          <a:xfrm>
            <a:off x="7961858" y="3009950"/>
            <a:ext cx="3414167" cy="2361952"/>
          </a:xfrm>
          <a:prstGeom prst="roundRect">
            <a:avLst>
              <a:gd name="adj" fmla="val 5242"/>
            </a:avLst>
          </a:prstGeom>
          <a:solidFill>
            <a:srgbClr val="FFFFFF">
              <a:alpha val="62000"/>
            </a:srgbClr>
          </a:solidFill>
          <a:ln w="6350">
            <a:solidFill>
              <a:srgbClr val="14305A">
                <a:alpha val="16000"/>
              </a:srgbClr>
            </a:solidFill>
            <a:prstDash val="solid"/>
          </a:ln>
        </p:spPr>
      </p:sp>
      <p:sp>
        <p:nvSpPr>
          <p:cNvPr id="16" name="Text 13"/>
          <p:cNvSpPr/>
          <p:nvPr/>
        </p:nvSpPr>
        <p:spPr>
          <a:xfrm>
            <a:off x="8219033" y="3267125"/>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03</a:t>
            </a:r>
            <a:endParaRPr lang="en-US" sz="1200" dirty="0"/>
          </a:p>
        </p:txBody>
      </p:sp>
      <p:sp>
        <p:nvSpPr>
          <p:cNvPr id="17" name="Text 14"/>
          <p:cNvSpPr/>
          <p:nvPr/>
        </p:nvSpPr>
        <p:spPr>
          <a:xfrm>
            <a:off x="8219033" y="3582045"/>
            <a:ext cx="298681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Concentración</a:t>
            </a:r>
            <a:endParaRPr lang="en-US" sz="1700" dirty="0"/>
          </a:p>
        </p:txBody>
      </p:sp>
      <p:sp>
        <p:nvSpPr>
          <p:cNvPr id="18" name="Text 15"/>
          <p:cNvSpPr/>
          <p:nvPr/>
        </p:nvSpPr>
        <p:spPr>
          <a:xfrm>
            <a:off x="8219033" y="3942705"/>
            <a:ext cx="2986811" cy="963017"/>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Mantener problemas cada vez más grandes — y más de ellos — en la cabeza mientras orquestamos varios agentes en paralelo.</a:t>
            </a:r>
            <a:endParaRPr lang="en-US" sz="1300" dirty="0"/>
          </a:p>
        </p:txBody>
      </p:sp>
      <p:pic>
        <p:nvPicPr>
          <p:cNvPr id="19"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20" name="Text 16"/>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Kim &amp; Yegge,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cap. 19 — “Building Standards for Human-AI Development Teams”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Nuevas habilidades · integrar, diseñar, emprender</a:t>
            </a:r>
            <a:endParaRPr lang="en-US" sz="3600" dirty="0"/>
          </a:p>
        </p:txBody>
      </p:sp>
      <p:sp>
        <p:nvSpPr>
          <p:cNvPr id="6" name="Shape 3"/>
          <p:cNvSpPr/>
          <p:nvPr/>
        </p:nvSpPr>
        <p:spPr>
          <a:xfrm>
            <a:off x="815975" y="2997646"/>
            <a:ext cx="3414167" cy="2386608"/>
          </a:xfrm>
          <a:prstGeom prst="roundRect">
            <a:avLst>
              <a:gd name="adj" fmla="val 5188"/>
            </a:avLst>
          </a:prstGeom>
          <a:solidFill>
            <a:srgbClr val="FFFFFF">
              <a:alpha val="62000"/>
            </a:srgbClr>
          </a:solidFill>
          <a:ln w="6350">
            <a:solidFill>
              <a:srgbClr val="14305A">
                <a:alpha val="16000"/>
              </a:srgbClr>
            </a:solidFill>
            <a:prstDash val="solid"/>
          </a:ln>
        </p:spPr>
      </p:sp>
      <p:sp>
        <p:nvSpPr>
          <p:cNvPr id="7" name="Text 4"/>
          <p:cNvSpPr/>
          <p:nvPr/>
        </p:nvSpPr>
        <p:spPr>
          <a:xfrm>
            <a:off x="1073150" y="3254821"/>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04</a:t>
            </a:r>
            <a:endParaRPr lang="en-US" sz="1200" dirty="0"/>
          </a:p>
        </p:txBody>
      </p:sp>
      <p:sp>
        <p:nvSpPr>
          <p:cNvPr id="8" name="Text 5"/>
          <p:cNvSpPr/>
          <p:nvPr/>
        </p:nvSpPr>
        <p:spPr>
          <a:xfrm>
            <a:off x="1073150" y="3569742"/>
            <a:ext cx="298681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Control de versiones</a:t>
            </a:r>
            <a:endParaRPr lang="en-US" sz="1700" dirty="0"/>
          </a:p>
        </p:txBody>
      </p:sp>
      <p:sp>
        <p:nvSpPr>
          <p:cNvPr id="9" name="Text 6"/>
          <p:cNvSpPr/>
          <p:nvPr/>
        </p:nvSpPr>
        <p:spPr>
          <a:xfrm>
            <a:off x="1073150" y="3930402"/>
            <a:ext cx="2986811" cy="963017"/>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Mergeamos cambios de múltiples fuentes humanas y de IA. </a:t>
            </a:r>
            <a:r>
              <a:rPr lang="en-US" sz="1300" i="1" dirty="0">
                <a:solidFill>
                  <a:srgbClr val="3E577D"/>
                </a:solidFill>
                <a:latin typeface="IBM Plex Sans" pitchFamily="34" charset="0"/>
                <a:ea typeface="IBM Plex Sans" pitchFamily="34" charset="-122"/>
                <a:cs typeface="IBM Plex Sans" pitchFamily="34" charset="-120"/>
              </a:rPr>
              <a:t>Three-way</a:t>
            </a:r>
            <a:r>
              <a:rPr lang="en-US" sz="1300" dirty="0">
                <a:solidFill>
                  <a:srgbClr val="3E577D"/>
                </a:solidFill>
                <a:latin typeface="IBM Plex Sans" pitchFamily="34" charset="0"/>
                <a:ea typeface="IBM Plex Sans" pitchFamily="34" charset="-122"/>
                <a:cs typeface="IBM Plex Sans" pitchFamily="34" charset="-120"/>
              </a:rPr>
              <a:t> y </a:t>
            </a:r>
            <a:r>
              <a:rPr lang="en-US" sz="1300" i="1" dirty="0">
                <a:solidFill>
                  <a:srgbClr val="3E577D"/>
                </a:solidFill>
                <a:latin typeface="IBM Plex Sans" pitchFamily="34" charset="0"/>
                <a:ea typeface="IBM Plex Sans" pitchFamily="34" charset="-122"/>
                <a:cs typeface="IBM Plex Sans" pitchFamily="34" charset="-120"/>
              </a:rPr>
              <a:t>N-way merges</a:t>
            </a:r>
            <a:r>
              <a:rPr lang="en-US" sz="1300" dirty="0">
                <a:solidFill>
                  <a:srgbClr val="3E577D"/>
                </a:solidFill>
                <a:latin typeface="IBM Plex Sans" pitchFamily="34" charset="0"/>
                <a:ea typeface="IBM Plex Sans" pitchFamily="34" charset="-122"/>
                <a:cs typeface="IBM Plex Sans" pitchFamily="34" charset="-120"/>
              </a:rPr>
              <a:t> requieren método, no reflejos.</a:t>
            </a:r>
            <a:endParaRPr lang="en-US" sz="1300" dirty="0"/>
          </a:p>
        </p:txBody>
      </p:sp>
      <p:sp>
        <p:nvSpPr>
          <p:cNvPr id="10" name="Shape 7"/>
          <p:cNvSpPr/>
          <p:nvPr/>
        </p:nvSpPr>
        <p:spPr>
          <a:xfrm>
            <a:off x="4388892" y="2997646"/>
            <a:ext cx="3414216" cy="2386608"/>
          </a:xfrm>
          <a:prstGeom prst="roundRect">
            <a:avLst>
              <a:gd name="adj" fmla="val 5188"/>
            </a:avLst>
          </a:prstGeom>
          <a:solidFill>
            <a:srgbClr val="FFFFFF">
              <a:alpha val="62000"/>
            </a:srgbClr>
          </a:solidFill>
          <a:ln w="6350">
            <a:solidFill>
              <a:srgbClr val="14305A">
                <a:alpha val="16000"/>
              </a:srgbClr>
            </a:solidFill>
            <a:prstDash val="solid"/>
          </a:ln>
        </p:spPr>
      </p:sp>
      <p:sp>
        <p:nvSpPr>
          <p:cNvPr id="11" name="Text 8"/>
          <p:cNvSpPr/>
          <p:nvPr/>
        </p:nvSpPr>
        <p:spPr>
          <a:xfrm>
            <a:off x="4646067" y="3254821"/>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05</a:t>
            </a:r>
            <a:endParaRPr lang="en-US" sz="1200" dirty="0"/>
          </a:p>
        </p:txBody>
      </p:sp>
      <p:sp>
        <p:nvSpPr>
          <p:cNvPr id="12" name="Text 9"/>
          <p:cNvSpPr/>
          <p:nvPr/>
        </p:nvSpPr>
        <p:spPr>
          <a:xfrm>
            <a:off x="4646067" y="3569742"/>
            <a:ext cx="2986862"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Arquitectura y modularidad</a:t>
            </a:r>
            <a:endParaRPr lang="en-US" sz="1700" dirty="0"/>
          </a:p>
        </p:txBody>
      </p:sp>
      <p:sp>
        <p:nvSpPr>
          <p:cNvPr id="13" name="Text 10"/>
          <p:cNvSpPr/>
          <p:nvPr/>
        </p:nvSpPr>
        <p:spPr>
          <a:xfrm>
            <a:off x="4646067" y="4189462"/>
            <a:ext cx="2986862" cy="963017"/>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Cómo se diseñan sistemas grandes, cómo se habilita independencia, cómo se comportan bajo carga. Más importante que memorizar sintaxis.</a:t>
            </a:r>
            <a:endParaRPr lang="en-US" sz="1300" dirty="0"/>
          </a:p>
        </p:txBody>
      </p:sp>
      <p:sp>
        <p:nvSpPr>
          <p:cNvPr id="14" name="Shape 11"/>
          <p:cNvSpPr/>
          <p:nvPr/>
        </p:nvSpPr>
        <p:spPr>
          <a:xfrm>
            <a:off x="7961858" y="2997646"/>
            <a:ext cx="3414167" cy="2386608"/>
          </a:xfrm>
          <a:prstGeom prst="roundRect">
            <a:avLst>
              <a:gd name="adj" fmla="val 5188"/>
            </a:avLst>
          </a:prstGeom>
          <a:solidFill>
            <a:srgbClr val="FFFFFF">
              <a:alpha val="62000"/>
            </a:srgbClr>
          </a:solidFill>
          <a:ln w="6350">
            <a:solidFill>
              <a:srgbClr val="14305A">
                <a:alpha val="16000"/>
              </a:srgbClr>
            </a:solidFill>
            <a:prstDash val="solid"/>
          </a:ln>
        </p:spPr>
      </p:sp>
      <p:sp>
        <p:nvSpPr>
          <p:cNvPr id="15" name="Text 12"/>
          <p:cNvSpPr/>
          <p:nvPr/>
        </p:nvSpPr>
        <p:spPr>
          <a:xfrm>
            <a:off x="8219033" y="3254821"/>
            <a:ext cx="2986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8D8D"/>
                </a:solidFill>
                <a:latin typeface="Manrope" pitchFamily="34" charset="0"/>
                <a:ea typeface="Manrope" pitchFamily="34" charset="-122"/>
                <a:cs typeface="Manrope" pitchFamily="34" charset="-120"/>
              </a:rPr>
              <a:t>06</a:t>
            </a:r>
            <a:endParaRPr lang="en-US" sz="1200" dirty="0"/>
          </a:p>
        </p:txBody>
      </p:sp>
      <p:sp>
        <p:nvSpPr>
          <p:cNvPr id="16" name="Text 13"/>
          <p:cNvSpPr/>
          <p:nvPr/>
        </p:nvSpPr>
        <p:spPr>
          <a:xfrm>
            <a:off x="8219033" y="3569742"/>
            <a:ext cx="298681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305A"/>
                </a:solidFill>
                <a:latin typeface="Manrope" pitchFamily="34" charset="0"/>
                <a:ea typeface="Manrope" pitchFamily="34" charset="-122"/>
                <a:cs typeface="Manrope" pitchFamily="34" charset="-120"/>
              </a:rPr>
              <a:t>Conciencia de negocio</a:t>
            </a:r>
            <a:endParaRPr lang="en-US" sz="1700" dirty="0"/>
          </a:p>
        </p:txBody>
      </p:sp>
      <p:sp>
        <p:nvSpPr>
          <p:cNvPr id="17" name="Text 14"/>
          <p:cNvSpPr/>
          <p:nvPr/>
        </p:nvSpPr>
        <p:spPr>
          <a:xfrm>
            <a:off x="8219033" y="3930402"/>
            <a:ext cx="2986811" cy="963017"/>
          </a:xfrm>
          <a:prstGeom prst="rect">
            <a:avLst/>
          </a:prstGeom>
          <a:noFill/>
          <a:ln/>
        </p:spPr>
        <p:txBody>
          <a:bodyPr wrap="square" lIns="0" tIns="0" rIns="0" bIns="0" rtlCol="0" anchor="t">
            <a:normAutofit/>
          </a:bodyPr>
          <a:lstStyle/>
          <a:p>
            <a:pPr algn="l" indent="0" marL="0">
              <a:lnSpc>
                <a:spcPts val="1846"/>
              </a:lnSpc>
              <a:buNone/>
            </a:pPr>
            <a:r>
              <a:rPr lang="en-US" sz="1300" dirty="0">
                <a:solidFill>
                  <a:srgbClr val="3E577D"/>
                </a:solidFill>
                <a:latin typeface="IBM Plex Sans" pitchFamily="34" charset="0"/>
                <a:ea typeface="IBM Plex Sans" pitchFamily="34" charset="-122"/>
                <a:cs typeface="IBM Plex Sans" pitchFamily="34" charset="-120"/>
              </a:rPr>
              <a:t>Equipos pequeños </a:t>
            </a:r>
            <a:r>
              <a:rPr lang="en-US" sz="1300" i="1" dirty="0">
                <a:solidFill>
                  <a:srgbClr val="3E577D"/>
                </a:solidFill>
                <a:latin typeface="IBM Plex Sans" pitchFamily="34" charset="0"/>
                <a:ea typeface="IBM Plex Sans" pitchFamily="34" charset="-122"/>
                <a:cs typeface="IBM Plex Sans" pitchFamily="34" charset="-120"/>
              </a:rPr>
              <a:t>AI-driven</a:t>
            </a:r>
            <a:r>
              <a:rPr lang="en-US" sz="1300" dirty="0">
                <a:solidFill>
                  <a:srgbClr val="3E577D"/>
                </a:solidFill>
                <a:latin typeface="IBM Plex Sans" pitchFamily="34" charset="0"/>
                <a:ea typeface="IBM Plex Sans" pitchFamily="34" charset="-122"/>
                <a:cs typeface="IBM Plex Sans" pitchFamily="34" charset="-120"/>
              </a:rPr>
              <a:t> pueden disrumpir mercados. Modelos de negocio, </a:t>
            </a:r>
            <a:r>
              <a:rPr lang="en-US" sz="1300" i="1" dirty="0">
                <a:solidFill>
                  <a:srgbClr val="3E577D"/>
                </a:solidFill>
                <a:latin typeface="IBM Plex Sans" pitchFamily="34" charset="0"/>
                <a:ea typeface="IBM Plex Sans" pitchFamily="34" charset="-122"/>
                <a:cs typeface="IBM Plex Sans" pitchFamily="34" charset="-120"/>
              </a:rPr>
              <a:t>pitch</a:t>
            </a:r>
            <a:r>
              <a:rPr lang="en-US" sz="1300" dirty="0">
                <a:solidFill>
                  <a:srgbClr val="3E577D"/>
                </a:solidFill>
                <a:latin typeface="IBM Plex Sans" pitchFamily="34" charset="0"/>
                <a:ea typeface="IBM Plex Sans" pitchFamily="34" charset="-122"/>
                <a:cs typeface="IBM Plex Sans" pitchFamily="34" charset="-120"/>
              </a:rPr>
              <a:t>, colaboración multidisciplinar.</a:t>
            </a:r>
            <a:endParaRPr lang="en-US" sz="1300" dirty="0"/>
          </a:p>
        </p:txBody>
      </p:sp>
      <p:pic>
        <p:nvPicPr>
          <p:cNvPr id="18"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9" name="Text 15"/>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Kim &amp; Yegge,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cap. 19 — “Building Standards for Human-AI Development Teams”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02918"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 · VIBE CODING COMO OFICIO</a:t>
            </a:r>
            <a:endParaRPr lang="en-US" sz="1200" dirty="0"/>
          </a:p>
        </p:txBody>
      </p:sp>
      <p:sp>
        <p:nvSpPr>
          <p:cNvPr id="4" name="Shape 1"/>
          <p:cNvSpPr/>
          <p:nvPr/>
        </p:nvSpPr>
        <p:spPr>
          <a:xfrm>
            <a:off x="4715718" y="913110"/>
            <a:ext cx="609600" cy="12700"/>
          </a:xfrm>
          <a:prstGeom prst="rect">
            <a:avLst/>
          </a:prstGeom>
          <a:solidFill>
            <a:srgbClr val="14305A">
              <a:alpha val="16000"/>
            </a:srgbClr>
          </a:solidFill>
          <a:ln/>
        </p:spPr>
      </p:sp>
      <p:sp>
        <p:nvSpPr>
          <p:cNvPr id="5" name="Text 2"/>
          <p:cNvSpPr/>
          <p:nvPr>
            <p:ph type="title"/>
          </p:nvPr>
        </p:nvSpPr>
        <p:spPr>
          <a:xfrm>
            <a:off x="812800" y="1229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Para empezar hoy</a:t>
            </a:r>
            <a:endParaRPr lang="en-US" sz="3600" dirty="0"/>
          </a:p>
        </p:txBody>
      </p:sp>
      <p:sp>
        <p:nvSpPr>
          <p:cNvPr id="6" name="Shape 3"/>
          <p:cNvSpPr/>
          <p:nvPr/>
        </p:nvSpPr>
        <p:spPr>
          <a:xfrm>
            <a:off x="815975" y="1938586"/>
            <a:ext cx="5200650" cy="1873597"/>
          </a:xfrm>
          <a:prstGeom prst="roundRect">
            <a:avLst>
              <a:gd name="adj" fmla="val 6609"/>
            </a:avLst>
          </a:prstGeom>
          <a:solidFill>
            <a:srgbClr val="FFFFFF">
              <a:alpha val="62000"/>
            </a:srgbClr>
          </a:solidFill>
          <a:ln w="6350">
            <a:solidFill>
              <a:srgbClr val="14305A">
                <a:alpha val="16000"/>
              </a:srgbClr>
            </a:solidFill>
            <a:prstDash val="solid"/>
          </a:ln>
        </p:spPr>
      </p:sp>
      <p:sp>
        <p:nvSpPr>
          <p:cNvPr id="7" name="Text 4"/>
          <p:cNvSpPr/>
          <p:nvPr/>
        </p:nvSpPr>
        <p:spPr>
          <a:xfrm>
            <a:off x="1022350" y="2144961"/>
            <a:ext cx="1430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1</a:t>
            </a:r>
            <a:endParaRPr lang="en-US" sz="1600" dirty="0"/>
          </a:p>
        </p:txBody>
      </p:sp>
      <p:sp>
        <p:nvSpPr>
          <p:cNvPr id="8" name="Text 5"/>
          <p:cNvSpPr/>
          <p:nvPr/>
        </p:nvSpPr>
        <p:spPr>
          <a:xfrm>
            <a:off x="1241623" y="2167186"/>
            <a:ext cx="463397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5A"/>
                </a:solidFill>
                <a:latin typeface="Manrope" pitchFamily="34" charset="0"/>
                <a:ea typeface="Manrope" pitchFamily="34" charset="-122"/>
                <a:cs typeface="Manrope" pitchFamily="34" charset="-120"/>
              </a:rPr>
              <a:t>Empecemos pequeño, empecemos hoy</a:t>
            </a:r>
            <a:endParaRPr lang="en-US" sz="1600" dirty="0"/>
          </a:p>
        </p:txBody>
      </p:sp>
      <p:sp>
        <p:nvSpPr>
          <p:cNvPr id="9" name="Text 6"/>
          <p:cNvSpPr/>
          <p:nvPr/>
        </p:nvSpPr>
        <p:spPr>
          <a:xfrm>
            <a:off x="1022350" y="2531021"/>
            <a:ext cx="4931537"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77D"/>
                </a:solidFill>
                <a:latin typeface="IBM Plex Sans" pitchFamily="34" charset="0"/>
                <a:ea typeface="IBM Plex Sans" pitchFamily="34" charset="-122"/>
                <a:cs typeface="IBM Plex Sans" pitchFamily="34" charset="-120"/>
              </a:rPr>
              <a:t>Démosle a la IA una tarea acotada. Veámosla tropezar, corrijámosla, tensemos el loop. Luego dupliquemos el alcance. </a:t>
            </a:r>
            <a:r>
              <a:rPr lang="en-US" sz="1300" i="1" dirty="0">
                <a:solidFill>
                  <a:srgbClr val="3E577D"/>
                </a:solidFill>
                <a:latin typeface="IBM Plex Sans" pitchFamily="34" charset="0"/>
                <a:ea typeface="IBM Plex Sans" pitchFamily="34" charset="-122"/>
                <a:cs typeface="IBM Plex Sans" pitchFamily="34" charset="-120"/>
              </a:rPr>
              <a:t>“A la décima iteración, la conversación ya no se siente como usar una herramienta — se siente como dirigir.”</a:t>
            </a:r>
            <a:endParaRPr lang="en-US" sz="1300" dirty="0"/>
          </a:p>
        </p:txBody>
      </p:sp>
      <p:sp>
        <p:nvSpPr>
          <p:cNvPr id="10" name="Shape 7"/>
          <p:cNvSpPr/>
          <p:nvPr/>
        </p:nvSpPr>
        <p:spPr>
          <a:xfrm>
            <a:off x="6175375" y="1938586"/>
            <a:ext cx="5200650" cy="1873597"/>
          </a:xfrm>
          <a:prstGeom prst="roundRect">
            <a:avLst>
              <a:gd name="adj" fmla="val 6609"/>
            </a:avLst>
          </a:prstGeom>
          <a:solidFill>
            <a:srgbClr val="FFFFFF">
              <a:alpha val="62000"/>
            </a:srgbClr>
          </a:solidFill>
          <a:ln w="6350">
            <a:solidFill>
              <a:srgbClr val="14305A">
                <a:alpha val="16000"/>
              </a:srgbClr>
            </a:solidFill>
            <a:prstDash val="solid"/>
          </a:ln>
        </p:spPr>
      </p:sp>
      <p:sp>
        <p:nvSpPr>
          <p:cNvPr id="11" name="Text 8"/>
          <p:cNvSpPr/>
          <p:nvPr/>
        </p:nvSpPr>
        <p:spPr>
          <a:xfrm>
            <a:off x="6381750" y="2144961"/>
            <a:ext cx="1735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2</a:t>
            </a:r>
            <a:endParaRPr lang="en-US" sz="1600" dirty="0"/>
          </a:p>
        </p:txBody>
      </p:sp>
      <p:sp>
        <p:nvSpPr>
          <p:cNvPr id="12" name="Text 9"/>
          <p:cNvSpPr/>
          <p:nvPr/>
        </p:nvSpPr>
        <p:spPr>
          <a:xfrm>
            <a:off x="6631484" y="2167186"/>
            <a:ext cx="454497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5A"/>
                </a:solidFill>
                <a:latin typeface="Manrope" pitchFamily="34" charset="0"/>
                <a:ea typeface="Manrope" pitchFamily="34" charset="-122"/>
                <a:cs typeface="Manrope" pitchFamily="34" charset="-120"/>
              </a:rPr>
              <a:t>Documentemos las reglas de la cocina</a:t>
            </a:r>
            <a:endParaRPr lang="en-US" sz="1600" dirty="0"/>
          </a:p>
        </p:txBody>
      </p:sp>
      <p:sp>
        <p:nvSpPr>
          <p:cNvPr id="13" name="Text 10"/>
          <p:cNvSpPr/>
          <p:nvPr/>
        </p:nvSpPr>
        <p:spPr>
          <a:xfrm>
            <a:off x="6381750" y="2531021"/>
            <a:ext cx="493153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77D"/>
                </a:solidFill>
                <a:latin typeface="IBM Plex Sans" pitchFamily="34" charset="0"/>
                <a:ea typeface="IBM Plex Sans" pitchFamily="34" charset="-122"/>
                <a:cs typeface="IBM Plex Sans" pitchFamily="34" charset="-120"/>
              </a:rPr>
              <a:t>Repositorio impecable. </a:t>
            </a:r>
            <a:r>
              <a:rPr lang="en-US" sz="1300" i="1" dirty="0">
                <a:solidFill>
                  <a:srgbClr val="3E577D"/>
                </a:solidFill>
                <a:latin typeface="IBM Plex Sans" pitchFamily="34" charset="0"/>
                <a:ea typeface="IBM Plex Sans" pitchFamily="34" charset="-122"/>
                <a:cs typeface="IBM Plex Sans" pitchFamily="34" charset="-120"/>
              </a:rPr>
              <a:t>Pager test</a:t>
            </a:r>
            <a:r>
              <a:rPr lang="en-US" sz="1300" dirty="0">
                <a:solidFill>
                  <a:srgbClr val="3E577D"/>
                </a:solidFill>
                <a:latin typeface="IBM Plex Sans" pitchFamily="34" charset="0"/>
                <a:ea typeface="IBM Plex Sans" pitchFamily="34" charset="-122"/>
                <a:cs typeface="IBM Plex Sans" pitchFamily="34" charset="-120"/>
              </a:rPr>
              <a:t>: si un commit escrito por un agente puede despertar a alguien a las 2 a.m., el nombre del dueño tiene que quedar clarísimo.</a:t>
            </a:r>
            <a:endParaRPr lang="en-US" sz="1300" dirty="0"/>
          </a:p>
        </p:txBody>
      </p:sp>
      <p:sp>
        <p:nvSpPr>
          <p:cNvPr id="14" name="Shape 11"/>
          <p:cNvSpPr/>
          <p:nvPr/>
        </p:nvSpPr>
        <p:spPr>
          <a:xfrm>
            <a:off x="815975" y="3970933"/>
            <a:ext cx="5200650" cy="1867892"/>
          </a:xfrm>
          <a:prstGeom prst="roundRect">
            <a:avLst>
              <a:gd name="adj" fmla="val 6629"/>
            </a:avLst>
          </a:prstGeom>
          <a:solidFill>
            <a:srgbClr val="FFFFFF">
              <a:alpha val="62000"/>
            </a:srgbClr>
          </a:solidFill>
          <a:ln w="6350">
            <a:solidFill>
              <a:srgbClr val="14305A">
                <a:alpha val="16000"/>
              </a:srgbClr>
            </a:solidFill>
            <a:prstDash val="solid"/>
          </a:ln>
        </p:spPr>
      </p:sp>
      <p:sp>
        <p:nvSpPr>
          <p:cNvPr id="15" name="Text 12"/>
          <p:cNvSpPr/>
          <p:nvPr/>
        </p:nvSpPr>
        <p:spPr>
          <a:xfrm>
            <a:off x="1022350" y="4177308"/>
            <a:ext cx="17090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3</a:t>
            </a:r>
            <a:endParaRPr lang="en-US" sz="1600" dirty="0"/>
          </a:p>
        </p:txBody>
      </p:sp>
      <p:sp>
        <p:nvSpPr>
          <p:cNvPr id="16" name="Text 13"/>
          <p:cNvSpPr/>
          <p:nvPr/>
        </p:nvSpPr>
        <p:spPr>
          <a:xfrm>
            <a:off x="1269454" y="4199533"/>
            <a:ext cx="31962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5A"/>
                </a:solidFill>
                <a:latin typeface="Manrope" pitchFamily="34" charset="0"/>
                <a:ea typeface="Manrope" pitchFamily="34" charset="-122"/>
                <a:cs typeface="Manrope" pitchFamily="34" charset="-120"/>
              </a:rPr>
              <a:t>Contagiemos la curiosidad</a:t>
            </a:r>
            <a:endParaRPr lang="en-US" sz="1600" dirty="0"/>
          </a:p>
        </p:txBody>
      </p:sp>
      <p:sp>
        <p:nvSpPr>
          <p:cNvPr id="17" name="Text 14"/>
          <p:cNvSpPr/>
          <p:nvPr/>
        </p:nvSpPr>
        <p:spPr>
          <a:xfrm>
            <a:off x="1022350" y="4563368"/>
            <a:ext cx="4931537" cy="71879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3E577D"/>
                </a:solidFill>
                <a:latin typeface="IBM Plex Sans" pitchFamily="34" charset="0"/>
                <a:ea typeface="IBM Plex Sans" pitchFamily="34" charset="-122"/>
                <a:cs typeface="IBM Plex Sans" pitchFamily="34" charset="-120"/>
              </a:rPr>
              <a:t>Demos</a:t>
            </a:r>
            <a:r>
              <a:rPr lang="en-US" sz="1300" dirty="0">
                <a:solidFill>
                  <a:srgbClr val="3E577D"/>
                </a:solidFill>
                <a:latin typeface="IBM Plex Sans" pitchFamily="34" charset="0"/>
                <a:ea typeface="IBM Plex Sans" pitchFamily="34" charset="-122"/>
                <a:cs typeface="IBM Plex Sans" pitchFamily="34" charset="-120"/>
              </a:rPr>
              <a:t> en el almuerzo, PRs al catálogo de prompts del equipo, tableros de consumo compartidos. La forma más rápida de subir la calidad es que la exploración se contagie.</a:t>
            </a:r>
            <a:endParaRPr lang="en-US" sz="1300" dirty="0"/>
          </a:p>
        </p:txBody>
      </p:sp>
      <p:sp>
        <p:nvSpPr>
          <p:cNvPr id="18" name="Shape 15"/>
          <p:cNvSpPr/>
          <p:nvPr/>
        </p:nvSpPr>
        <p:spPr>
          <a:xfrm>
            <a:off x="6175375" y="3970933"/>
            <a:ext cx="5200650" cy="1867892"/>
          </a:xfrm>
          <a:prstGeom prst="roundRect">
            <a:avLst>
              <a:gd name="adj" fmla="val 6629"/>
            </a:avLst>
          </a:prstGeom>
          <a:solidFill>
            <a:srgbClr val="FFFFFF">
              <a:alpha val="62000"/>
            </a:srgbClr>
          </a:solidFill>
          <a:ln w="6350">
            <a:solidFill>
              <a:srgbClr val="14305A">
                <a:alpha val="16000"/>
              </a:srgbClr>
            </a:solidFill>
            <a:prstDash val="solid"/>
          </a:ln>
        </p:spPr>
      </p:sp>
      <p:sp>
        <p:nvSpPr>
          <p:cNvPr id="19" name="Text 16"/>
          <p:cNvSpPr/>
          <p:nvPr/>
        </p:nvSpPr>
        <p:spPr>
          <a:xfrm>
            <a:off x="6381750" y="4177308"/>
            <a:ext cx="17189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4</a:t>
            </a:r>
            <a:endParaRPr lang="en-US" sz="1600" dirty="0"/>
          </a:p>
        </p:txBody>
      </p:sp>
      <p:sp>
        <p:nvSpPr>
          <p:cNvPr id="20" name="Text 17"/>
          <p:cNvSpPr/>
          <p:nvPr/>
        </p:nvSpPr>
        <p:spPr>
          <a:xfrm>
            <a:off x="6629846" y="4199533"/>
            <a:ext cx="4675998"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5A"/>
                </a:solidFill>
                <a:latin typeface="Manrope" pitchFamily="34" charset="0"/>
                <a:ea typeface="Manrope" pitchFamily="34" charset="-122"/>
                <a:cs typeface="Manrope" pitchFamily="34" charset="-120"/>
              </a:rPr>
              <a:t>Guardemos el mindset, no la matriz de features</a:t>
            </a:r>
            <a:endParaRPr lang="en-US" sz="1600" dirty="0"/>
          </a:p>
        </p:txBody>
      </p:sp>
      <p:sp>
        <p:nvSpPr>
          <p:cNvPr id="21" name="Text 18"/>
          <p:cNvSpPr/>
          <p:nvPr/>
        </p:nvSpPr>
        <p:spPr>
          <a:xfrm>
            <a:off x="6381750" y="4788793"/>
            <a:ext cx="493153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77D"/>
                </a:solidFill>
                <a:latin typeface="IBM Plex Sans" pitchFamily="34" charset="0"/>
                <a:ea typeface="IBM Plex Sans" pitchFamily="34" charset="-122"/>
                <a:cs typeface="IBM Plex Sans" pitchFamily="34" charset="-120"/>
              </a:rPr>
              <a:t>Los modelos, los contextos y las flotas de agentes van a seguir mutando. Lo que nos sostiene es la mentalidad: </a:t>
            </a:r>
            <a:r>
              <a:rPr lang="en-US" sz="1300" b="1" dirty="0">
                <a:solidFill>
                  <a:srgbClr val="3E577D"/>
                </a:solidFill>
                <a:latin typeface="IBM Plex Sans" pitchFamily="34" charset="0"/>
                <a:ea typeface="IBM Plex Sans" pitchFamily="34" charset="-122"/>
                <a:cs typeface="IBM Plex Sans" pitchFamily="34" charset="-120"/>
              </a:rPr>
              <a:t>modularidad, feedback, juicio.</a:t>
            </a:r>
            <a:endParaRPr lang="en-US" sz="1300" dirty="0"/>
          </a:p>
        </p:txBody>
      </p:sp>
      <p:pic>
        <p:nvPicPr>
          <p:cNvPr id="22"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23" name="Text 19"/>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Kim &amp; Yegge,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 Conclusión, pág. 311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C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5492640"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9DB7D9"/>
                </a:solidFill>
                <a:latin typeface="IBM Plex Sans" pitchFamily="34" charset="0"/>
                <a:ea typeface="IBM Plex Sans" pitchFamily="34" charset="-122"/>
                <a:cs typeface="IBM Plex Sans" pitchFamily="34" charset="-120"/>
              </a:rPr>
              <a:t>ACTO III · ARQUITECTURA QUE FAVORECE AL AGENTE</a:t>
            </a:r>
            <a:endParaRPr lang="en-US" sz="1200" dirty="0"/>
          </a:p>
        </p:txBody>
      </p:sp>
      <p:sp>
        <p:nvSpPr>
          <p:cNvPr id="4" name="Shape 1"/>
          <p:cNvSpPr/>
          <p:nvPr/>
        </p:nvSpPr>
        <p:spPr>
          <a:xfrm>
            <a:off x="6297861" y="913110"/>
            <a:ext cx="609600" cy="12700"/>
          </a:xfrm>
          <a:prstGeom prst="rect">
            <a:avLst/>
          </a:prstGeom>
          <a:solidFill>
            <a:srgbClr val="9DB7D9">
              <a:alpha val="32000"/>
            </a:srgbClr>
          </a:solidFill>
          <a:ln/>
        </p:spPr>
      </p:sp>
      <p:sp>
        <p:nvSpPr>
          <p:cNvPr id="5" name="Text 2"/>
          <p:cNvSpPr/>
          <p:nvPr>
            <p:ph type="title"/>
          </p:nvPr>
        </p:nvSpPr>
        <p:spPr>
          <a:xfrm>
            <a:off x="812800" y="253945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spc="-100" kern="0" dirty="0">
                <a:solidFill>
                  <a:srgbClr val="EAF2FB"/>
                </a:solidFill>
                <a:latin typeface="Manrope" pitchFamily="34" charset="0"/>
                <a:ea typeface="Manrope" pitchFamily="34" charset="-122"/>
                <a:cs typeface="Manrope" pitchFamily="34" charset="-120"/>
              </a:rPr>
              <a:t>¿Qué hacemos para vivir del lado del </a:t>
            </a:r>
            <a:r>
              <a:rPr lang="en-US" sz="4800" b="1" i="0" spc="-100" kern="0" dirty="0">
                <a:solidFill>
                  <a:srgbClr val="7FB2F0"/>
                </a:solidFill>
                <a:latin typeface="Manrope" pitchFamily="34" charset="0"/>
                <a:ea typeface="Manrope" pitchFamily="34" charset="-122"/>
                <a:cs typeface="Manrope" pitchFamily="34" charset="-120"/>
              </a:rPr>
              <a:t>Happy Time</a:t>
            </a:r>
            <a:r>
              <a:rPr lang="en-US" sz="4800" b="1" i="0" spc="-100" kern="0" dirty="0">
                <a:solidFill>
                  <a:srgbClr val="EAF2FB"/>
                </a:solidFill>
                <a:latin typeface="Manrope" pitchFamily="34" charset="0"/>
                <a:ea typeface="Manrope" pitchFamily="34" charset="-122"/>
                <a:cs typeface="Manrope" pitchFamily="34" charset="-120"/>
              </a:rPr>
              <a:t>?</a:t>
            </a:r>
            <a:endParaRPr lang="en-US" sz="4800" dirty="0"/>
          </a:p>
        </p:txBody>
      </p:sp>
      <p:sp>
        <p:nvSpPr>
          <p:cNvPr id="6" name="Text 3"/>
          <p:cNvSpPr/>
          <p:nvPr/>
        </p:nvSpPr>
        <p:spPr>
          <a:xfrm>
            <a:off x="819150" y="4268936"/>
            <a:ext cx="3318718" cy="510530"/>
          </a:xfrm>
          <a:prstGeom prst="roundRect">
            <a:avLst>
              <a:gd name="adj" fmla="val 50000"/>
            </a:avLst>
          </a:prstGeom>
          <a:noFill/>
          <a:ln w="12700">
            <a:solidFill>
              <a:srgbClr val="9DB7D9">
                <a:alpha val="45000"/>
              </a:srgbClr>
            </a:solidFill>
            <a:prstDash val="solid"/>
          </a:ln>
        </p:spPr>
        <p:txBody>
          <a:bodyPr wrap="none" lIns="0" tIns="0" rIns="0" bIns="0" rtlCol="0" anchor="ctr">
            <a:normAutofit/>
          </a:bodyPr>
          <a:lstStyle/>
          <a:p>
            <a:pPr algn="ctr" indent="0" marL="0">
              <a:lnSpc>
                <a:spcPts val="2520"/>
              </a:lnSpc>
              <a:buNone/>
            </a:pPr>
            <a:r>
              <a:rPr lang="en-US" sz="1800" b="1" dirty="0">
                <a:solidFill>
                  <a:srgbClr val="EAF2FB"/>
                </a:solidFill>
                <a:latin typeface="Manrope" pitchFamily="34" charset="0"/>
                <a:ea typeface="Manrope" pitchFamily="34" charset="-122"/>
                <a:cs typeface="Manrope" pitchFamily="34" charset="-120"/>
              </a:rPr>
              <a:t>Event-Driven Architecture</a:t>
            </a:r>
            <a:endParaRPr lang="en-US" sz="1800" dirty="0"/>
          </a:p>
        </p:txBody>
      </p:sp>
      <p:sp>
        <p:nvSpPr>
          <p:cNvPr id="7" name="Text 4"/>
          <p:cNvSpPr/>
          <p:nvPr/>
        </p:nvSpPr>
        <p:spPr>
          <a:xfrm>
            <a:off x="4277568" y="4268936"/>
            <a:ext cx="2096244" cy="510530"/>
          </a:xfrm>
          <a:prstGeom prst="roundRect">
            <a:avLst>
              <a:gd name="adj" fmla="val 50000"/>
            </a:avLst>
          </a:prstGeom>
          <a:noFill/>
          <a:ln w="12700">
            <a:solidFill>
              <a:srgbClr val="9DB7D9">
                <a:alpha val="45000"/>
              </a:srgbClr>
            </a:solidFill>
            <a:prstDash val="solid"/>
          </a:ln>
        </p:spPr>
        <p:txBody>
          <a:bodyPr wrap="none" lIns="0" tIns="0" rIns="0" bIns="0" rtlCol="0" anchor="ctr">
            <a:normAutofit/>
          </a:bodyPr>
          <a:lstStyle/>
          <a:p>
            <a:pPr algn="ctr" indent="0" marL="0">
              <a:lnSpc>
                <a:spcPts val="2520"/>
              </a:lnSpc>
              <a:buNone/>
            </a:pPr>
            <a:r>
              <a:rPr lang="en-US" sz="1800" b="1" dirty="0">
                <a:solidFill>
                  <a:srgbClr val="EAF2FB"/>
                </a:solidFill>
                <a:latin typeface="Manrope" pitchFamily="34" charset="0"/>
                <a:ea typeface="Manrope" pitchFamily="34" charset="-122"/>
                <a:cs typeface="Manrope" pitchFamily="34" charset="-120"/>
              </a:rPr>
              <a:t>Event Sourcing</a:t>
            </a:r>
            <a:endParaRPr lang="en-US" sz="1800" dirty="0"/>
          </a:p>
        </p:txBody>
      </p:sp>
      <p:sp>
        <p:nvSpPr>
          <p:cNvPr id="8" name="Text 5"/>
          <p:cNvSpPr/>
          <p:nvPr/>
        </p:nvSpPr>
        <p:spPr>
          <a:xfrm>
            <a:off x="6513513" y="4268936"/>
            <a:ext cx="1598364" cy="510530"/>
          </a:xfrm>
          <a:prstGeom prst="roundRect">
            <a:avLst>
              <a:gd name="adj" fmla="val 50000"/>
            </a:avLst>
          </a:prstGeom>
          <a:noFill/>
          <a:ln w="12700">
            <a:solidFill>
              <a:srgbClr val="9DB7D9">
                <a:alpha val="45000"/>
              </a:srgbClr>
            </a:solidFill>
            <a:prstDash val="solid"/>
          </a:ln>
        </p:spPr>
        <p:txBody>
          <a:bodyPr wrap="none" lIns="0" tIns="0" rIns="0" bIns="0" rtlCol="0" anchor="ctr">
            <a:normAutofit/>
          </a:bodyPr>
          <a:lstStyle/>
          <a:p>
            <a:pPr algn="ctr" indent="0" marL="0">
              <a:lnSpc>
                <a:spcPts val="2520"/>
              </a:lnSpc>
              <a:buNone/>
            </a:pPr>
            <a:r>
              <a:rPr lang="en-US" sz="1800" b="1" dirty="0">
                <a:solidFill>
                  <a:srgbClr val="EAF2FB"/>
                </a:solidFill>
                <a:latin typeface="Manrope" pitchFamily="34" charset="0"/>
                <a:ea typeface="Manrope" pitchFamily="34" charset="-122"/>
                <a:cs typeface="Manrope" pitchFamily="34" charset="-120"/>
              </a:rPr>
              <a:t>Serverless</a:t>
            </a:r>
            <a:endParaRPr lang="en-US" sz="1800" dirty="0"/>
          </a:p>
        </p:txBody>
      </p:sp>
      <p:sp>
        <p:nvSpPr>
          <p:cNvPr id="9" name="Text 6"/>
          <p:cNvSpPr/>
          <p:nvPr/>
        </p:nvSpPr>
        <p:spPr>
          <a:xfrm>
            <a:off x="8251577" y="4268936"/>
            <a:ext cx="2925713" cy="510530"/>
          </a:xfrm>
          <a:prstGeom prst="roundRect">
            <a:avLst>
              <a:gd name="adj" fmla="val 50000"/>
            </a:avLst>
          </a:prstGeom>
          <a:noFill/>
          <a:ln w="12700">
            <a:solidFill>
              <a:srgbClr val="9DB7D9">
                <a:alpha val="45000"/>
              </a:srgbClr>
            </a:solidFill>
            <a:prstDash val="solid"/>
          </a:ln>
        </p:spPr>
        <p:txBody>
          <a:bodyPr wrap="none" lIns="0" tIns="0" rIns="0" bIns="0" rtlCol="0" anchor="ctr">
            <a:normAutofit/>
          </a:bodyPr>
          <a:lstStyle/>
          <a:p>
            <a:pPr algn="ctr" indent="0" marL="0">
              <a:lnSpc>
                <a:spcPts val="2520"/>
              </a:lnSpc>
              <a:buNone/>
            </a:pPr>
            <a:r>
              <a:rPr lang="en-US" sz="1800" b="1" dirty="0">
                <a:solidFill>
                  <a:srgbClr val="EAF2FB"/>
                </a:solidFill>
                <a:latin typeface="Manrope" pitchFamily="34" charset="0"/>
                <a:ea typeface="Manrope" pitchFamily="34" charset="-122"/>
                <a:cs typeface="Manrope" pitchFamily="34" charset="-120"/>
              </a:rPr>
              <a:t>Infrastructure as Code</a:t>
            </a:r>
            <a:endParaRPr lang="en-US" sz="1800" dirty="0"/>
          </a:p>
        </p:txBody>
      </p:sp>
      <p:pic>
        <p:nvPicPr>
          <p:cNvPr id="10"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5492640"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III · ARQUITECTURA QUE FAVORECE AL AGENTE</a:t>
            </a:r>
            <a:endParaRPr lang="en-US" sz="1200" dirty="0"/>
          </a:p>
        </p:txBody>
      </p:sp>
      <p:sp>
        <p:nvSpPr>
          <p:cNvPr id="4" name="Shape 1"/>
          <p:cNvSpPr/>
          <p:nvPr/>
        </p:nvSpPr>
        <p:spPr>
          <a:xfrm>
            <a:off x="6297861" y="913110"/>
            <a:ext cx="609600" cy="12700"/>
          </a:xfrm>
          <a:prstGeom prst="rect">
            <a:avLst/>
          </a:prstGeom>
          <a:solidFill>
            <a:srgbClr val="14305A">
              <a:alpha val="16000"/>
            </a:srgbClr>
          </a:solidFill>
          <a:ln/>
        </p:spPr>
      </p:sp>
      <p:sp>
        <p:nvSpPr>
          <p:cNvPr id="5" name="Text 2"/>
          <p:cNvSpPr/>
          <p:nvPr/>
        </p:nvSpPr>
        <p:spPr>
          <a:xfrm>
            <a:off x="812800" y="1486495"/>
            <a:ext cx="36992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1/4</a:t>
            </a:r>
            <a:endParaRPr lang="en-US" sz="1600" dirty="0"/>
          </a:p>
        </p:txBody>
      </p:sp>
      <p:sp>
        <p:nvSpPr>
          <p:cNvPr id="6" name="Text 3"/>
          <p:cNvSpPr/>
          <p:nvPr>
            <p:ph type="title"/>
          </p:nvPr>
        </p:nvSpPr>
        <p:spPr>
          <a:xfrm>
            <a:off x="1324273" y="1280120"/>
            <a:ext cx="6803231"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Event-Driven Architecture</a:t>
            </a:r>
            <a:endParaRPr lang="en-US" sz="3600" dirty="0"/>
          </a:p>
        </p:txBody>
      </p:sp>
      <p:sp>
        <p:nvSpPr>
          <p:cNvPr id="7" name="Text 4"/>
          <p:cNvSpPr/>
          <p:nvPr/>
        </p:nvSpPr>
        <p:spPr>
          <a:xfrm>
            <a:off x="812800" y="2775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spc="-50" kern="0" dirty="0">
                <a:solidFill>
                  <a:srgbClr val="1050B0"/>
                </a:solidFill>
                <a:latin typeface="Manrope" pitchFamily="34" charset="0"/>
                <a:ea typeface="Manrope" pitchFamily="34" charset="-122"/>
                <a:cs typeface="Manrope" pitchFamily="34" charset="-120"/>
              </a:rPr>
              <a:t>El chasis del desacople</a:t>
            </a:r>
            <a:endParaRPr lang="en-US" sz="2800" dirty="0"/>
          </a:p>
        </p:txBody>
      </p:sp>
      <p:sp>
        <p:nvSpPr>
          <p:cNvPr id="8" name="Shape 5"/>
          <p:cNvSpPr/>
          <p:nvPr/>
        </p:nvSpPr>
        <p:spPr>
          <a:xfrm>
            <a:off x="822325" y="3488730"/>
            <a:ext cx="0" cy="359370"/>
          </a:xfrm>
          <a:prstGeom prst="line">
            <a:avLst/>
          </a:prstGeom>
          <a:noFill/>
          <a:ln w="19050">
            <a:solidFill>
              <a:srgbClr val="14305A">
                <a:alpha val="16000"/>
              </a:srgbClr>
            </a:solidFill>
            <a:prstDash val="solid"/>
          </a:ln>
        </p:spPr>
      </p:sp>
      <p:sp>
        <p:nvSpPr>
          <p:cNvPr id="9" name="Text 6"/>
          <p:cNvSpPr/>
          <p:nvPr/>
        </p:nvSpPr>
        <p:spPr>
          <a:xfrm>
            <a:off x="1009650" y="351413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Cambio sin coordinar con cinco equipos.</a:t>
            </a:r>
            <a:endParaRPr lang="en-US" sz="1800" dirty="0"/>
          </a:p>
        </p:txBody>
      </p:sp>
      <p:sp>
        <p:nvSpPr>
          <p:cNvPr id="10" name="Shape 7"/>
          <p:cNvSpPr/>
          <p:nvPr/>
        </p:nvSpPr>
        <p:spPr>
          <a:xfrm>
            <a:off x="822325" y="3975100"/>
            <a:ext cx="0" cy="359370"/>
          </a:xfrm>
          <a:prstGeom prst="line">
            <a:avLst/>
          </a:prstGeom>
          <a:noFill/>
          <a:ln w="19050">
            <a:solidFill>
              <a:srgbClr val="14305A">
                <a:alpha val="16000"/>
              </a:srgbClr>
            </a:solidFill>
            <a:prstDash val="solid"/>
          </a:ln>
        </p:spPr>
      </p:sp>
      <p:sp>
        <p:nvSpPr>
          <p:cNvPr id="11" name="Text 8"/>
          <p:cNvSpPr/>
          <p:nvPr/>
        </p:nvSpPr>
        <p:spPr>
          <a:xfrm>
            <a:off x="1009650" y="400050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Módulos que hablan por mensajes.</a:t>
            </a:r>
            <a:endParaRPr lang="en-US" sz="1800" dirty="0"/>
          </a:p>
        </p:txBody>
      </p:sp>
      <p:sp>
        <p:nvSpPr>
          <p:cNvPr id="12" name="Shape 9"/>
          <p:cNvSpPr/>
          <p:nvPr/>
        </p:nvSpPr>
        <p:spPr>
          <a:xfrm>
            <a:off x="822325" y="4461470"/>
            <a:ext cx="0" cy="359370"/>
          </a:xfrm>
          <a:prstGeom prst="line">
            <a:avLst/>
          </a:prstGeom>
          <a:noFill/>
          <a:ln w="19050">
            <a:solidFill>
              <a:srgbClr val="14305A">
                <a:alpha val="16000"/>
              </a:srgbClr>
            </a:solidFill>
            <a:prstDash val="solid"/>
          </a:ln>
        </p:spPr>
      </p:sp>
      <p:sp>
        <p:nvSpPr>
          <p:cNvPr id="13" name="Text 10"/>
          <p:cNvSpPr/>
          <p:nvPr/>
        </p:nvSpPr>
        <p:spPr>
          <a:xfrm>
            <a:off x="1009650" y="448687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Una parte falla sin tumbar el sistema.</a:t>
            </a:r>
            <a:endParaRPr lang="en-US" sz="1800" dirty="0"/>
          </a:p>
        </p:txBody>
      </p:sp>
      <p:sp>
        <p:nvSpPr>
          <p:cNvPr id="14" name="Shape 11"/>
          <p:cNvSpPr/>
          <p:nvPr/>
        </p:nvSpPr>
        <p:spPr>
          <a:xfrm>
            <a:off x="822325" y="4947841"/>
            <a:ext cx="0" cy="359370"/>
          </a:xfrm>
          <a:prstGeom prst="line">
            <a:avLst/>
          </a:prstGeom>
          <a:noFill/>
          <a:ln w="19050">
            <a:solidFill>
              <a:srgbClr val="14305A">
                <a:alpha val="16000"/>
              </a:srgbClr>
            </a:solidFill>
            <a:prstDash val="solid"/>
          </a:ln>
        </p:spPr>
      </p:sp>
      <p:sp>
        <p:nvSpPr>
          <p:cNvPr id="15" name="Text 12"/>
          <p:cNvSpPr/>
          <p:nvPr/>
        </p:nvSpPr>
        <p:spPr>
          <a:xfrm>
            <a:off x="1009650" y="4973241"/>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Sumar un consumidor no toca al productor.</a:t>
            </a:r>
            <a:endParaRPr lang="en-US" sz="1800" dirty="0"/>
          </a:p>
        </p:txBody>
      </p:sp>
      <p:pic>
        <p:nvPicPr>
          <p:cNvPr id="16"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5492640"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III · ARQUITECTURA QUE FAVORECE AL AGENTE</a:t>
            </a:r>
            <a:endParaRPr lang="en-US" sz="1200" dirty="0"/>
          </a:p>
        </p:txBody>
      </p:sp>
      <p:sp>
        <p:nvSpPr>
          <p:cNvPr id="4" name="Shape 1"/>
          <p:cNvSpPr/>
          <p:nvPr/>
        </p:nvSpPr>
        <p:spPr>
          <a:xfrm>
            <a:off x="6297861" y="913110"/>
            <a:ext cx="609600" cy="12700"/>
          </a:xfrm>
          <a:prstGeom prst="rect">
            <a:avLst/>
          </a:prstGeom>
          <a:solidFill>
            <a:srgbClr val="14305A">
              <a:alpha val="16000"/>
            </a:srgbClr>
          </a:solidFill>
          <a:ln/>
        </p:spPr>
      </p:sp>
      <p:sp>
        <p:nvSpPr>
          <p:cNvPr id="5" name="Text 2"/>
          <p:cNvSpPr/>
          <p:nvPr/>
        </p:nvSpPr>
        <p:spPr>
          <a:xfrm>
            <a:off x="812800" y="1486495"/>
            <a:ext cx="40653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2/4</a:t>
            </a:r>
            <a:endParaRPr lang="en-US" sz="1600" dirty="0"/>
          </a:p>
        </p:txBody>
      </p:sp>
      <p:sp>
        <p:nvSpPr>
          <p:cNvPr id="6" name="Text 3"/>
          <p:cNvSpPr/>
          <p:nvPr>
            <p:ph type="title"/>
          </p:nvPr>
        </p:nvSpPr>
        <p:spPr>
          <a:xfrm>
            <a:off x="1354782" y="1280120"/>
            <a:ext cx="3938885"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Event Sourcing</a:t>
            </a:r>
            <a:endParaRPr lang="en-US" sz="3600" dirty="0"/>
          </a:p>
        </p:txBody>
      </p:sp>
      <p:sp>
        <p:nvSpPr>
          <p:cNvPr id="7" name="Text 4"/>
          <p:cNvSpPr/>
          <p:nvPr/>
        </p:nvSpPr>
        <p:spPr>
          <a:xfrm>
            <a:off x="812800" y="2775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spc="-50" kern="0" dirty="0">
                <a:solidFill>
                  <a:srgbClr val="1050B0"/>
                </a:solidFill>
                <a:latin typeface="Manrope" pitchFamily="34" charset="0"/>
                <a:ea typeface="Manrope" pitchFamily="34" charset="-122"/>
                <a:cs typeface="Manrope" pitchFamily="34" charset="-120"/>
              </a:rPr>
              <a:t>La historia es la verdad</a:t>
            </a:r>
            <a:endParaRPr lang="en-US" sz="2800" dirty="0"/>
          </a:p>
        </p:txBody>
      </p:sp>
      <p:sp>
        <p:nvSpPr>
          <p:cNvPr id="8" name="Shape 5"/>
          <p:cNvSpPr/>
          <p:nvPr/>
        </p:nvSpPr>
        <p:spPr>
          <a:xfrm>
            <a:off x="822325" y="3488730"/>
            <a:ext cx="0" cy="359370"/>
          </a:xfrm>
          <a:prstGeom prst="line">
            <a:avLst/>
          </a:prstGeom>
          <a:noFill/>
          <a:ln w="19050">
            <a:solidFill>
              <a:srgbClr val="14305A">
                <a:alpha val="16000"/>
              </a:srgbClr>
            </a:solidFill>
            <a:prstDash val="solid"/>
          </a:ln>
        </p:spPr>
      </p:sp>
      <p:sp>
        <p:nvSpPr>
          <p:cNvPr id="9" name="Text 6"/>
          <p:cNvSpPr/>
          <p:nvPr/>
        </p:nvSpPr>
        <p:spPr>
          <a:xfrm>
            <a:off x="1009650" y="351413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Se guarda lo que pasó.</a:t>
            </a:r>
            <a:endParaRPr lang="en-US" sz="1800" dirty="0"/>
          </a:p>
        </p:txBody>
      </p:sp>
      <p:sp>
        <p:nvSpPr>
          <p:cNvPr id="10" name="Shape 7"/>
          <p:cNvSpPr/>
          <p:nvPr/>
        </p:nvSpPr>
        <p:spPr>
          <a:xfrm>
            <a:off x="822325" y="3975100"/>
            <a:ext cx="0" cy="359370"/>
          </a:xfrm>
          <a:prstGeom prst="line">
            <a:avLst/>
          </a:prstGeom>
          <a:noFill/>
          <a:ln w="19050">
            <a:solidFill>
              <a:srgbClr val="14305A">
                <a:alpha val="16000"/>
              </a:srgbClr>
            </a:solidFill>
            <a:prstDash val="solid"/>
          </a:ln>
        </p:spPr>
      </p:sp>
      <p:sp>
        <p:nvSpPr>
          <p:cNvPr id="11" name="Text 8"/>
          <p:cNvSpPr/>
          <p:nvPr/>
        </p:nvSpPr>
        <p:spPr>
          <a:xfrm>
            <a:off x="1009650" y="400050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El esquema evoluciona sin tumbar nada.</a:t>
            </a:r>
            <a:endParaRPr lang="en-US" sz="1800" dirty="0"/>
          </a:p>
        </p:txBody>
      </p:sp>
      <p:sp>
        <p:nvSpPr>
          <p:cNvPr id="12" name="Shape 9"/>
          <p:cNvSpPr/>
          <p:nvPr/>
        </p:nvSpPr>
        <p:spPr>
          <a:xfrm>
            <a:off x="822325" y="4461470"/>
            <a:ext cx="0" cy="359370"/>
          </a:xfrm>
          <a:prstGeom prst="line">
            <a:avLst/>
          </a:prstGeom>
          <a:noFill/>
          <a:ln w="19050">
            <a:solidFill>
              <a:srgbClr val="14305A">
                <a:alpha val="16000"/>
              </a:srgbClr>
            </a:solidFill>
            <a:prstDash val="solid"/>
          </a:ln>
        </p:spPr>
      </p:sp>
      <p:sp>
        <p:nvSpPr>
          <p:cNvPr id="13" name="Text 10"/>
          <p:cNvSpPr/>
          <p:nvPr/>
        </p:nvSpPr>
        <p:spPr>
          <a:xfrm>
            <a:off x="1009650" y="448687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El agente reconstruye el porqué.</a:t>
            </a:r>
            <a:endParaRPr lang="en-US" sz="1800" dirty="0"/>
          </a:p>
        </p:txBody>
      </p:sp>
      <p:sp>
        <p:nvSpPr>
          <p:cNvPr id="14" name="Shape 11"/>
          <p:cNvSpPr/>
          <p:nvPr/>
        </p:nvSpPr>
        <p:spPr>
          <a:xfrm>
            <a:off x="822325" y="4947841"/>
            <a:ext cx="0" cy="359370"/>
          </a:xfrm>
          <a:prstGeom prst="line">
            <a:avLst/>
          </a:prstGeom>
          <a:noFill/>
          <a:ln w="19050">
            <a:solidFill>
              <a:srgbClr val="14305A">
                <a:alpha val="16000"/>
              </a:srgbClr>
            </a:solidFill>
            <a:prstDash val="solid"/>
          </a:ln>
        </p:spPr>
      </p:sp>
      <p:sp>
        <p:nvSpPr>
          <p:cNvPr id="15" name="Text 12"/>
          <p:cNvSpPr/>
          <p:nvPr/>
        </p:nvSpPr>
        <p:spPr>
          <a:xfrm>
            <a:off x="1009650" y="4973241"/>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La auditoría es el sustrato.</a:t>
            </a:r>
            <a:endParaRPr lang="en-US" sz="1800" dirty="0"/>
          </a:p>
        </p:txBody>
      </p:sp>
      <p:pic>
        <p:nvPicPr>
          <p:cNvPr id="16"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5492640"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III · ARQUITECTURA QUE FAVORECE AL AGENTE</a:t>
            </a:r>
            <a:endParaRPr lang="en-US" sz="1200" dirty="0"/>
          </a:p>
        </p:txBody>
      </p:sp>
      <p:sp>
        <p:nvSpPr>
          <p:cNvPr id="4" name="Shape 1"/>
          <p:cNvSpPr/>
          <p:nvPr/>
        </p:nvSpPr>
        <p:spPr>
          <a:xfrm>
            <a:off x="6297861" y="913110"/>
            <a:ext cx="609600" cy="12700"/>
          </a:xfrm>
          <a:prstGeom prst="rect">
            <a:avLst/>
          </a:prstGeom>
          <a:solidFill>
            <a:srgbClr val="14305A">
              <a:alpha val="16000"/>
            </a:srgbClr>
          </a:solidFill>
          <a:ln/>
        </p:spPr>
      </p:sp>
      <p:sp>
        <p:nvSpPr>
          <p:cNvPr id="5" name="Text 2"/>
          <p:cNvSpPr/>
          <p:nvPr/>
        </p:nvSpPr>
        <p:spPr>
          <a:xfrm>
            <a:off x="812800" y="1486495"/>
            <a:ext cx="40332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3/4</a:t>
            </a:r>
            <a:endParaRPr lang="en-US" sz="1600" dirty="0"/>
          </a:p>
        </p:txBody>
      </p:sp>
      <p:sp>
        <p:nvSpPr>
          <p:cNvPr id="6" name="Text 3"/>
          <p:cNvSpPr/>
          <p:nvPr>
            <p:ph type="title"/>
          </p:nvPr>
        </p:nvSpPr>
        <p:spPr>
          <a:xfrm>
            <a:off x="1352104" y="1280120"/>
            <a:ext cx="2769930"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Serverless</a:t>
            </a:r>
            <a:endParaRPr lang="en-US" sz="3600" dirty="0"/>
          </a:p>
        </p:txBody>
      </p:sp>
      <p:sp>
        <p:nvSpPr>
          <p:cNvPr id="7" name="Text 4"/>
          <p:cNvSpPr/>
          <p:nvPr/>
        </p:nvSpPr>
        <p:spPr>
          <a:xfrm>
            <a:off x="812800" y="2673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spc="-50" kern="0" dirty="0">
                <a:solidFill>
                  <a:srgbClr val="1050B0"/>
                </a:solidFill>
                <a:latin typeface="Manrope" pitchFamily="34" charset="0"/>
                <a:ea typeface="Manrope" pitchFamily="34" charset="-122"/>
                <a:cs typeface="Manrope" pitchFamily="34" charset="-120"/>
              </a:rPr>
              <a:t>El código es un pasivo</a:t>
            </a:r>
            <a:endParaRPr lang="en-US" sz="2800" dirty="0"/>
          </a:p>
        </p:txBody>
      </p:sp>
      <p:sp>
        <p:nvSpPr>
          <p:cNvPr id="8" name="Shape 5"/>
          <p:cNvSpPr/>
          <p:nvPr/>
        </p:nvSpPr>
        <p:spPr>
          <a:xfrm>
            <a:off x="822325" y="3387130"/>
            <a:ext cx="0" cy="359370"/>
          </a:xfrm>
          <a:prstGeom prst="line">
            <a:avLst/>
          </a:prstGeom>
          <a:noFill/>
          <a:ln w="19050">
            <a:solidFill>
              <a:srgbClr val="14305A">
                <a:alpha val="16000"/>
              </a:srgbClr>
            </a:solidFill>
            <a:prstDash val="solid"/>
          </a:ln>
        </p:spPr>
      </p:sp>
      <p:sp>
        <p:nvSpPr>
          <p:cNvPr id="9" name="Text 6"/>
          <p:cNvSpPr/>
          <p:nvPr/>
        </p:nvSpPr>
        <p:spPr>
          <a:xfrm>
            <a:off x="1009650" y="341253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Cada línea que se escribe se mantiene, se defiende y se paga.</a:t>
            </a:r>
            <a:endParaRPr lang="en-US" sz="1800" dirty="0"/>
          </a:p>
        </p:txBody>
      </p:sp>
      <p:sp>
        <p:nvSpPr>
          <p:cNvPr id="10" name="Shape 7"/>
          <p:cNvSpPr/>
          <p:nvPr/>
        </p:nvSpPr>
        <p:spPr>
          <a:xfrm>
            <a:off x="822325" y="3873500"/>
            <a:ext cx="0" cy="359370"/>
          </a:xfrm>
          <a:prstGeom prst="line">
            <a:avLst/>
          </a:prstGeom>
          <a:noFill/>
          <a:ln w="19050">
            <a:solidFill>
              <a:srgbClr val="14305A">
                <a:alpha val="16000"/>
              </a:srgbClr>
            </a:solidFill>
            <a:prstDash val="solid"/>
          </a:ln>
        </p:spPr>
      </p:sp>
      <p:sp>
        <p:nvSpPr>
          <p:cNvPr id="11" name="Text 8"/>
          <p:cNvSpPr/>
          <p:nvPr/>
        </p:nvSpPr>
        <p:spPr>
          <a:xfrm>
            <a:off x="1009650" y="389890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El cloud opera lo que no queremos operar: servidores, parches, capacidad, escalado.</a:t>
            </a:r>
            <a:endParaRPr lang="en-US" sz="1800" dirty="0"/>
          </a:p>
        </p:txBody>
      </p:sp>
      <p:sp>
        <p:nvSpPr>
          <p:cNvPr id="12" name="Shape 9"/>
          <p:cNvSpPr/>
          <p:nvPr/>
        </p:nvSpPr>
        <p:spPr>
          <a:xfrm>
            <a:off x="822325" y="4359870"/>
            <a:ext cx="0" cy="359370"/>
          </a:xfrm>
          <a:prstGeom prst="line">
            <a:avLst/>
          </a:prstGeom>
          <a:noFill/>
          <a:ln w="19050">
            <a:solidFill>
              <a:srgbClr val="14305A">
                <a:alpha val="16000"/>
              </a:srgbClr>
            </a:solidFill>
            <a:prstDash val="solid"/>
          </a:ln>
        </p:spPr>
      </p:sp>
      <p:sp>
        <p:nvSpPr>
          <p:cNvPr id="13" name="Text 10"/>
          <p:cNvSpPr/>
          <p:nvPr/>
        </p:nvSpPr>
        <p:spPr>
          <a:xfrm>
            <a:off x="1009650" y="4385270"/>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Se paga por uso real — no por capacidad reservada.</a:t>
            </a:r>
            <a:endParaRPr lang="en-US" sz="1800" dirty="0"/>
          </a:p>
        </p:txBody>
      </p:sp>
      <p:sp>
        <p:nvSpPr>
          <p:cNvPr id="14" name="Shape 11"/>
          <p:cNvSpPr/>
          <p:nvPr/>
        </p:nvSpPr>
        <p:spPr>
          <a:xfrm>
            <a:off x="822325" y="4846241"/>
            <a:ext cx="0" cy="359370"/>
          </a:xfrm>
          <a:prstGeom prst="line">
            <a:avLst/>
          </a:prstGeom>
          <a:noFill/>
          <a:ln w="19050">
            <a:solidFill>
              <a:srgbClr val="14305A">
                <a:alpha val="16000"/>
              </a:srgbClr>
            </a:solidFill>
            <a:prstDash val="solid"/>
          </a:ln>
        </p:spPr>
      </p:sp>
      <p:sp>
        <p:nvSpPr>
          <p:cNvPr id="15" name="Text 12"/>
          <p:cNvSpPr/>
          <p:nvPr/>
        </p:nvSpPr>
        <p:spPr>
          <a:xfrm>
            <a:off x="1009650" y="4871641"/>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Menos código propio: menos bugs, menos deuda, menos riesgo.</a:t>
            </a:r>
            <a:endParaRPr lang="en-US" sz="1800" dirty="0"/>
          </a:p>
        </p:txBody>
      </p:sp>
      <p:pic>
        <p:nvPicPr>
          <p:cNvPr id="16"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7" name="Text 13"/>
          <p:cNvSpPr/>
          <p:nvPr/>
        </p:nvSpPr>
        <p:spPr>
          <a:xfrm>
            <a:off x="812800" y="6024959"/>
            <a:ext cx="102031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“Un enfoque serverless-first asegura carga operativa baja y ciclos de retroalimentación rápidos.” — Anderson, McCann, O'Reilly · </a:t>
            </a:r>
            <a:r>
              <a:rPr lang="en-US" sz="1200" i="1" dirty="0">
                <a:solidFill>
                  <a:srgbClr val="5C7192"/>
                </a:solidFill>
                <a:latin typeface="IBM Plex Sans" pitchFamily="34" charset="0"/>
                <a:ea typeface="IBM Plex Sans" pitchFamily="34" charset="-122"/>
                <a:cs typeface="IBM Plex Sans" pitchFamily="34" charset="-120"/>
              </a:rPr>
              <a:t>The Value Flywheel Effect</a:t>
            </a:r>
            <a:r>
              <a:rPr lang="en-US" sz="1200" dirty="0">
                <a:solidFill>
                  <a:srgbClr val="5C7192"/>
                </a:solidFill>
                <a:latin typeface="IBM Plex Sans" pitchFamily="34" charset="0"/>
                <a:ea typeface="IBM Plex Sans" pitchFamily="34" charset="-122"/>
                <a:cs typeface="IBM Plex Sans" pitchFamily="34" charset="-120"/>
              </a:rPr>
              <a:t>, 2022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5492640"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III · ARQUITECTURA QUE FAVORECE AL AGENTE</a:t>
            </a:r>
            <a:endParaRPr lang="en-US" sz="1200" dirty="0"/>
          </a:p>
        </p:txBody>
      </p:sp>
      <p:sp>
        <p:nvSpPr>
          <p:cNvPr id="4" name="Shape 1"/>
          <p:cNvSpPr/>
          <p:nvPr/>
        </p:nvSpPr>
        <p:spPr>
          <a:xfrm>
            <a:off x="6297861" y="913110"/>
            <a:ext cx="609600" cy="12700"/>
          </a:xfrm>
          <a:prstGeom prst="rect">
            <a:avLst/>
          </a:prstGeom>
          <a:solidFill>
            <a:srgbClr val="14305A">
              <a:alpha val="16000"/>
            </a:srgbClr>
          </a:solidFill>
          <a:ln/>
        </p:spPr>
      </p:sp>
      <p:sp>
        <p:nvSpPr>
          <p:cNvPr id="5" name="Text 2"/>
          <p:cNvSpPr/>
          <p:nvPr/>
        </p:nvSpPr>
        <p:spPr>
          <a:xfrm>
            <a:off x="812800" y="1486495"/>
            <a:ext cx="40921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F8D8D"/>
                </a:solidFill>
                <a:latin typeface="Manrope" pitchFamily="34" charset="0"/>
                <a:ea typeface="Manrope" pitchFamily="34" charset="-122"/>
                <a:cs typeface="Manrope" pitchFamily="34" charset="-120"/>
              </a:rPr>
              <a:t>4/4</a:t>
            </a:r>
            <a:endParaRPr lang="en-US" sz="1600" dirty="0"/>
          </a:p>
        </p:txBody>
      </p:sp>
      <p:sp>
        <p:nvSpPr>
          <p:cNvPr id="6" name="Text 3"/>
          <p:cNvSpPr/>
          <p:nvPr>
            <p:ph type="title"/>
          </p:nvPr>
        </p:nvSpPr>
        <p:spPr>
          <a:xfrm>
            <a:off x="1357015" y="1280120"/>
            <a:ext cx="5866448"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Infrastructure as Code</a:t>
            </a:r>
            <a:endParaRPr lang="en-US" sz="3600" dirty="0"/>
          </a:p>
        </p:txBody>
      </p:sp>
      <p:sp>
        <p:nvSpPr>
          <p:cNvPr id="7" name="Text 4"/>
          <p:cNvSpPr/>
          <p:nvPr/>
        </p:nvSpPr>
        <p:spPr>
          <a:xfrm>
            <a:off x="812800" y="3018185"/>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spc="-50" kern="0" dirty="0">
                <a:solidFill>
                  <a:srgbClr val="1050B0"/>
                </a:solidFill>
                <a:latin typeface="Manrope" pitchFamily="34" charset="0"/>
                <a:ea typeface="Manrope" pitchFamily="34" charset="-122"/>
                <a:cs typeface="Manrope" pitchFamily="34" charset="-120"/>
              </a:rPr>
              <a:t>Clickops no escala, no se automatiza</a:t>
            </a:r>
            <a:endParaRPr lang="en-US" sz="2800" dirty="0"/>
          </a:p>
        </p:txBody>
      </p:sp>
      <p:sp>
        <p:nvSpPr>
          <p:cNvPr id="8" name="Shape 5"/>
          <p:cNvSpPr/>
          <p:nvPr/>
        </p:nvSpPr>
        <p:spPr>
          <a:xfrm>
            <a:off x="822325" y="3731915"/>
            <a:ext cx="0" cy="359370"/>
          </a:xfrm>
          <a:prstGeom prst="line">
            <a:avLst/>
          </a:prstGeom>
          <a:noFill/>
          <a:ln w="19050">
            <a:solidFill>
              <a:srgbClr val="14305A">
                <a:alpha val="16000"/>
              </a:srgbClr>
            </a:solidFill>
            <a:prstDash val="solid"/>
          </a:ln>
        </p:spPr>
      </p:sp>
      <p:sp>
        <p:nvSpPr>
          <p:cNvPr id="9" name="Text 6"/>
          <p:cNvSpPr/>
          <p:nvPr/>
        </p:nvSpPr>
        <p:spPr>
          <a:xfrm>
            <a:off x="1009650" y="3757315"/>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La infraestructura se declara en código, se revisa en PR, se despliega por pipeline.</a:t>
            </a:r>
            <a:endParaRPr lang="en-US" sz="1800" dirty="0"/>
          </a:p>
        </p:txBody>
      </p:sp>
      <p:sp>
        <p:nvSpPr>
          <p:cNvPr id="10" name="Shape 7"/>
          <p:cNvSpPr/>
          <p:nvPr/>
        </p:nvSpPr>
        <p:spPr>
          <a:xfrm>
            <a:off x="822325" y="4218285"/>
            <a:ext cx="0" cy="359370"/>
          </a:xfrm>
          <a:prstGeom prst="line">
            <a:avLst/>
          </a:prstGeom>
          <a:noFill/>
          <a:ln w="19050">
            <a:solidFill>
              <a:srgbClr val="14305A">
                <a:alpha val="16000"/>
              </a:srgbClr>
            </a:solidFill>
            <a:prstDash val="solid"/>
          </a:ln>
        </p:spPr>
      </p:sp>
      <p:sp>
        <p:nvSpPr>
          <p:cNvPr id="11" name="Text 8"/>
          <p:cNvSpPr/>
          <p:nvPr/>
        </p:nvSpPr>
        <p:spPr>
          <a:xfrm>
            <a:off x="1009650" y="4243685"/>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Clickops son pasos manuales que ningún pipeline puede reproducir.</a:t>
            </a:r>
            <a:endParaRPr lang="en-US" sz="1800" dirty="0"/>
          </a:p>
        </p:txBody>
      </p:sp>
      <p:sp>
        <p:nvSpPr>
          <p:cNvPr id="12" name="Shape 9"/>
          <p:cNvSpPr/>
          <p:nvPr/>
        </p:nvSpPr>
        <p:spPr>
          <a:xfrm>
            <a:off x="822325" y="4704655"/>
            <a:ext cx="0" cy="359370"/>
          </a:xfrm>
          <a:prstGeom prst="line">
            <a:avLst/>
          </a:prstGeom>
          <a:noFill/>
          <a:ln w="19050">
            <a:solidFill>
              <a:srgbClr val="14305A">
                <a:alpha val="16000"/>
              </a:srgbClr>
            </a:solidFill>
            <a:prstDash val="solid"/>
          </a:ln>
        </p:spPr>
      </p:sp>
      <p:sp>
        <p:nvSpPr>
          <p:cNvPr id="13" name="Text 10"/>
          <p:cNvSpPr/>
          <p:nvPr/>
        </p:nvSpPr>
        <p:spPr>
          <a:xfrm>
            <a:off x="1009650" y="4730055"/>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El agente lee y modifica configuración declarativa; el portal gráfico lo deja ciego.</a:t>
            </a:r>
            <a:endParaRPr lang="en-US" sz="1800" dirty="0"/>
          </a:p>
        </p:txBody>
      </p:sp>
      <p:pic>
        <p:nvPicPr>
          <p:cNvPr id="14"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5492640"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III · ARQUITECTURA QUE FAVORECE AL AGENTE</a:t>
            </a:r>
            <a:endParaRPr lang="en-US" sz="1200" dirty="0"/>
          </a:p>
        </p:txBody>
      </p:sp>
      <p:sp>
        <p:nvSpPr>
          <p:cNvPr id="4" name="Shape 1"/>
          <p:cNvSpPr/>
          <p:nvPr/>
        </p:nvSpPr>
        <p:spPr>
          <a:xfrm>
            <a:off x="6297861"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DORA como espejo</a:t>
            </a:r>
            <a:endParaRPr lang="en-US" sz="3600" dirty="0"/>
          </a:p>
        </p:txBody>
      </p:sp>
      <p:sp>
        <p:nvSpPr>
          <p:cNvPr id="6" name="Text 3"/>
          <p:cNvSpPr/>
          <p:nvPr/>
        </p:nvSpPr>
        <p:spPr>
          <a:xfrm>
            <a:off x="812800" y="2364780"/>
            <a:ext cx="10883392" cy="37589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050B0"/>
                </a:solidFill>
                <a:latin typeface="Manrope" pitchFamily="34" charset="0"/>
                <a:ea typeface="Manrope" pitchFamily="34" charset="-122"/>
                <a:cs typeface="Manrope" pitchFamily="34" charset="-120"/>
              </a:rPr>
              <a:t>Si es Happy Time, se ve en las métricas</a:t>
            </a:r>
            <a:endParaRPr lang="en-US" sz="2400" dirty="0"/>
          </a:p>
        </p:txBody>
      </p:sp>
      <p:sp>
        <p:nvSpPr>
          <p:cNvPr id="7" name="Shape 4"/>
          <p:cNvSpPr/>
          <p:nvPr/>
        </p:nvSpPr>
        <p:spPr>
          <a:xfrm>
            <a:off x="815975" y="2972445"/>
            <a:ext cx="5200650" cy="1291530"/>
          </a:xfrm>
          <a:prstGeom prst="roundRect">
            <a:avLst>
              <a:gd name="adj" fmla="val 9587"/>
            </a:avLst>
          </a:prstGeom>
          <a:solidFill>
            <a:srgbClr val="FFFFFF">
              <a:alpha val="62000"/>
            </a:srgbClr>
          </a:solidFill>
          <a:ln w="6350">
            <a:solidFill>
              <a:srgbClr val="14305A">
                <a:alpha val="16000"/>
              </a:srgbClr>
            </a:solidFill>
            <a:prstDash val="solid"/>
          </a:ln>
        </p:spPr>
      </p:sp>
      <p:sp>
        <p:nvSpPr>
          <p:cNvPr id="8" name="Text 5"/>
          <p:cNvSpPr/>
          <p:nvPr/>
        </p:nvSpPr>
        <p:spPr>
          <a:xfrm>
            <a:off x="1073150" y="3229620"/>
            <a:ext cx="4826889"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305A"/>
                </a:solidFill>
                <a:latin typeface="Manrope" pitchFamily="34" charset="0"/>
                <a:ea typeface="Manrope" pitchFamily="34" charset="-122"/>
                <a:cs typeface="Manrope" pitchFamily="34" charset="-120"/>
              </a:rPr>
              <a:t>Lead time</a:t>
            </a:r>
            <a:endParaRPr lang="en-US" sz="2400" dirty="0"/>
          </a:p>
        </p:txBody>
      </p:sp>
      <p:sp>
        <p:nvSpPr>
          <p:cNvPr id="9" name="Text 6"/>
          <p:cNvSpPr/>
          <p:nvPr/>
        </p:nvSpPr>
        <p:spPr>
          <a:xfrm>
            <a:off x="1073150" y="3757910"/>
            <a:ext cx="48268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Qué tan rápido un cambio llega a producción</a:t>
            </a:r>
            <a:endParaRPr lang="en-US" sz="1400" dirty="0"/>
          </a:p>
        </p:txBody>
      </p:sp>
      <p:sp>
        <p:nvSpPr>
          <p:cNvPr id="10" name="Shape 7"/>
          <p:cNvSpPr/>
          <p:nvPr/>
        </p:nvSpPr>
        <p:spPr>
          <a:xfrm>
            <a:off x="6175375" y="2972445"/>
            <a:ext cx="5200650" cy="1291530"/>
          </a:xfrm>
          <a:prstGeom prst="roundRect">
            <a:avLst>
              <a:gd name="adj" fmla="val 9587"/>
            </a:avLst>
          </a:prstGeom>
          <a:solidFill>
            <a:srgbClr val="FFFFFF">
              <a:alpha val="62000"/>
            </a:srgbClr>
          </a:solidFill>
          <a:ln w="6350">
            <a:solidFill>
              <a:srgbClr val="14305A">
                <a:alpha val="16000"/>
              </a:srgbClr>
            </a:solidFill>
            <a:prstDash val="solid"/>
          </a:ln>
        </p:spPr>
      </p:sp>
      <p:sp>
        <p:nvSpPr>
          <p:cNvPr id="11" name="Text 8"/>
          <p:cNvSpPr/>
          <p:nvPr/>
        </p:nvSpPr>
        <p:spPr>
          <a:xfrm>
            <a:off x="6432550" y="3229620"/>
            <a:ext cx="4826889"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305A"/>
                </a:solidFill>
                <a:latin typeface="Manrope" pitchFamily="34" charset="0"/>
                <a:ea typeface="Manrope" pitchFamily="34" charset="-122"/>
                <a:cs typeface="Manrope" pitchFamily="34" charset="-120"/>
              </a:rPr>
              <a:t>Deploy frequency</a:t>
            </a:r>
            <a:endParaRPr lang="en-US" sz="2400" dirty="0"/>
          </a:p>
        </p:txBody>
      </p:sp>
      <p:sp>
        <p:nvSpPr>
          <p:cNvPr id="12" name="Text 9"/>
          <p:cNvSpPr/>
          <p:nvPr/>
        </p:nvSpPr>
        <p:spPr>
          <a:xfrm>
            <a:off x="6432550" y="3757910"/>
            <a:ext cx="48268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Cuántas veces por día se despliega</a:t>
            </a:r>
            <a:endParaRPr lang="en-US" sz="1400" dirty="0"/>
          </a:p>
        </p:txBody>
      </p:sp>
      <p:sp>
        <p:nvSpPr>
          <p:cNvPr id="13" name="Shape 10"/>
          <p:cNvSpPr/>
          <p:nvPr/>
        </p:nvSpPr>
        <p:spPr>
          <a:xfrm>
            <a:off x="815975" y="4422725"/>
            <a:ext cx="5200650" cy="1291530"/>
          </a:xfrm>
          <a:prstGeom prst="roundRect">
            <a:avLst>
              <a:gd name="adj" fmla="val 9587"/>
            </a:avLst>
          </a:prstGeom>
          <a:solidFill>
            <a:srgbClr val="FFFFFF">
              <a:alpha val="62000"/>
            </a:srgbClr>
          </a:solidFill>
          <a:ln w="6350">
            <a:solidFill>
              <a:srgbClr val="14305A">
                <a:alpha val="16000"/>
              </a:srgbClr>
            </a:solidFill>
            <a:prstDash val="solid"/>
          </a:ln>
        </p:spPr>
      </p:sp>
      <p:sp>
        <p:nvSpPr>
          <p:cNvPr id="14" name="Text 11"/>
          <p:cNvSpPr/>
          <p:nvPr/>
        </p:nvSpPr>
        <p:spPr>
          <a:xfrm>
            <a:off x="1073150" y="4679900"/>
            <a:ext cx="4826889"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305A"/>
                </a:solidFill>
                <a:latin typeface="Manrope" pitchFamily="34" charset="0"/>
                <a:ea typeface="Manrope" pitchFamily="34" charset="-122"/>
                <a:cs typeface="Manrope" pitchFamily="34" charset="-120"/>
              </a:rPr>
              <a:t>MTTR</a:t>
            </a:r>
            <a:endParaRPr lang="en-US" sz="2400" dirty="0"/>
          </a:p>
        </p:txBody>
      </p:sp>
      <p:sp>
        <p:nvSpPr>
          <p:cNvPr id="15" name="Text 12"/>
          <p:cNvSpPr/>
          <p:nvPr/>
        </p:nvSpPr>
        <p:spPr>
          <a:xfrm>
            <a:off x="1073150" y="5208191"/>
            <a:ext cx="48268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Cuánto se tarda en recuperarse cuando algo falla</a:t>
            </a:r>
            <a:endParaRPr lang="en-US" sz="1400" dirty="0"/>
          </a:p>
        </p:txBody>
      </p:sp>
      <p:sp>
        <p:nvSpPr>
          <p:cNvPr id="16" name="Shape 13"/>
          <p:cNvSpPr/>
          <p:nvPr/>
        </p:nvSpPr>
        <p:spPr>
          <a:xfrm>
            <a:off x="6175375" y="4422725"/>
            <a:ext cx="5200650" cy="1291530"/>
          </a:xfrm>
          <a:prstGeom prst="roundRect">
            <a:avLst>
              <a:gd name="adj" fmla="val 9587"/>
            </a:avLst>
          </a:prstGeom>
          <a:solidFill>
            <a:srgbClr val="FFFFFF">
              <a:alpha val="62000"/>
            </a:srgbClr>
          </a:solidFill>
          <a:ln w="6350">
            <a:solidFill>
              <a:srgbClr val="14305A">
                <a:alpha val="16000"/>
              </a:srgbClr>
            </a:solidFill>
            <a:prstDash val="solid"/>
          </a:ln>
        </p:spPr>
      </p:sp>
      <p:sp>
        <p:nvSpPr>
          <p:cNvPr id="17" name="Text 14"/>
          <p:cNvSpPr/>
          <p:nvPr/>
        </p:nvSpPr>
        <p:spPr>
          <a:xfrm>
            <a:off x="6432550" y="4679900"/>
            <a:ext cx="4826889"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305A"/>
                </a:solidFill>
                <a:latin typeface="Manrope" pitchFamily="34" charset="0"/>
                <a:ea typeface="Manrope" pitchFamily="34" charset="-122"/>
                <a:cs typeface="Manrope" pitchFamily="34" charset="-120"/>
              </a:rPr>
              <a:t>Change failure rate</a:t>
            </a:r>
            <a:endParaRPr lang="en-US" sz="2400" dirty="0"/>
          </a:p>
        </p:txBody>
      </p:sp>
      <p:sp>
        <p:nvSpPr>
          <p:cNvPr id="18" name="Text 15"/>
          <p:cNvSpPr/>
          <p:nvPr/>
        </p:nvSpPr>
        <p:spPr>
          <a:xfrm>
            <a:off x="6432550" y="5208191"/>
            <a:ext cx="48268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Qué porcentaje de cambios rompe producción</a:t>
            </a:r>
            <a:endParaRPr lang="en-US" sz="1400" dirty="0"/>
          </a:p>
        </p:txBody>
      </p:sp>
      <p:pic>
        <p:nvPicPr>
          <p:cNvPr id="19"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C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429669"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9DB7D9"/>
                </a:solidFill>
                <a:latin typeface="IBM Plex Sans" pitchFamily="34" charset="0"/>
                <a:ea typeface="IBM Plex Sans" pitchFamily="34" charset="-122"/>
                <a:cs typeface="IBM Plex Sans" pitchFamily="34" charset="-120"/>
              </a:rPr>
              <a:t>ACTO IV · EL MANDATO</a:t>
            </a:r>
            <a:endParaRPr lang="en-US" sz="1200" dirty="0"/>
          </a:p>
        </p:txBody>
      </p:sp>
      <p:sp>
        <p:nvSpPr>
          <p:cNvPr id="4" name="Shape 1"/>
          <p:cNvSpPr/>
          <p:nvPr/>
        </p:nvSpPr>
        <p:spPr>
          <a:xfrm>
            <a:off x="3242469" y="913110"/>
            <a:ext cx="609600" cy="12700"/>
          </a:xfrm>
          <a:prstGeom prst="rect">
            <a:avLst/>
          </a:prstGeom>
          <a:solidFill>
            <a:srgbClr val="9DB7D9">
              <a:alpha val="32000"/>
            </a:srgbClr>
          </a:solidFill>
          <a:ln/>
        </p:spPr>
      </p:sp>
      <p:sp>
        <p:nvSpPr>
          <p:cNvPr id="5" name="Text 2"/>
          <p:cNvSpPr/>
          <p:nvPr/>
        </p:nvSpPr>
        <p:spPr>
          <a:xfrm>
            <a:off x="812800" y="2689324"/>
            <a:ext cx="10883392"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9DB7D9"/>
                </a:solidFill>
                <a:latin typeface="Manrope" pitchFamily="34" charset="0"/>
                <a:ea typeface="Manrope" pitchFamily="34" charset="-122"/>
                <a:cs typeface="Manrope" pitchFamily="34" charset="-120"/>
              </a:rPr>
              <a:t>El nuevo junior</a:t>
            </a:r>
            <a:endParaRPr lang="en-US" sz="2400" dirty="0"/>
          </a:p>
        </p:txBody>
      </p:sp>
      <p:sp>
        <p:nvSpPr>
          <p:cNvPr id="6" name="Text 3"/>
          <p:cNvSpPr/>
          <p:nvPr>
            <p:ph type="title"/>
          </p:nvPr>
        </p:nvSpPr>
        <p:spPr>
          <a:xfrm>
            <a:off x="812800" y="331921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spc="-100" kern="0" dirty="0">
                <a:solidFill>
                  <a:srgbClr val="EAF2FB"/>
                </a:solidFill>
                <a:latin typeface="Manrope" pitchFamily="34" charset="0"/>
                <a:ea typeface="Manrope" pitchFamily="34" charset="-122"/>
                <a:cs typeface="Manrope" pitchFamily="34" charset="-120"/>
              </a:rPr>
              <a:t>La IA es el desarrollador junior que cada uno </a:t>
            </a:r>
            <a:r>
              <a:rPr lang="en-US" sz="4800" b="1" i="0" spc="-100" kern="0" dirty="0">
                <a:solidFill>
                  <a:srgbClr val="7FB2F0"/>
                </a:solidFill>
                <a:latin typeface="Manrope" pitchFamily="34" charset="0"/>
                <a:ea typeface="Manrope" pitchFamily="34" charset="-122"/>
                <a:cs typeface="Manrope" pitchFamily="34" charset="-120"/>
              </a:rPr>
              <a:t>acabamos de contratar</a:t>
            </a:r>
            <a:endParaRPr lang="en-US" sz="4800" dirty="0"/>
          </a:p>
        </p:txBody>
      </p:sp>
      <p:pic>
        <p:nvPicPr>
          <p:cNvPr id="7"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429669"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IV · EL MANDATO</a:t>
            </a:r>
            <a:endParaRPr lang="en-US" sz="1200" dirty="0"/>
          </a:p>
        </p:txBody>
      </p:sp>
      <p:sp>
        <p:nvSpPr>
          <p:cNvPr id="4" name="Shape 1"/>
          <p:cNvSpPr/>
          <p:nvPr/>
        </p:nvSpPr>
        <p:spPr>
          <a:xfrm>
            <a:off x="3242469"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Las tres capas del trabajo</a:t>
            </a:r>
            <a:endParaRPr lang="en-US" sz="3600" dirty="0"/>
          </a:p>
        </p:txBody>
      </p:sp>
      <p:sp>
        <p:nvSpPr>
          <p:cNvPr id="6" name="Shape 3"/>
          <p:cNvSpPr/>
          <p:nvPr/>
        </p:nvSpPr>
        <p:spPr>
          <a:xfrm>
            <a:off x="815975" y="2172345"/>
            <a:ext cx="10560050" cy="1093440"/>
          </a:xfrm>
          <a:prstGeom prst="roundRect">
            <a:avLst>
              <a:gd name="adj" fmla="val 11324"/>
            </a:avLst>
          </a:prstGeom>
          <a:solidFill>
            <a:srgbClr val="FFFFFF">
              <a:alpha val="62000"/>
            </a:srgbClr>
          </a:solidFill>
          <a:ln w="6350">
            <a:solidFill>
              <a:srgbClr val="14305A">
                <a:alpha val="16000"/>
              </a:srgbClr>
            </a:solidFill>
            <a:prstDash val="solid"/>
          </a:ln>
        </p:spPr>
      </p:sp>
      <p:sp>
        <p:nvSpPr>
          <p:cNvPr id="7" name="Text 4"/>
          <p:cNvSpPr/>
          <p:nvPr/>
        </p:nvSpPr>
        <p:spPr>
          <a:xfrm>
            <a:off x="1123950" y="2490440"/>
            <a:ext cx="25841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4305A"/>
                </a:solidFill>
                <a:latin typeface="Manrope" pitchFamily="34" charset="0"/>
                <a:ea typeface="Manrope" pitchFamily="34" charset="-122"/>
                <a:cs typeface="Manrope" pitchFamily="34" charset="-120"/>
              </a:rPr>
              <a:t>1</a:t>
            </a:r>
            <a:endParaRPr lang="en-US" sz="3600" dirty="0"/>
          </a:p>
        </p:txBody>
      </p:sp>
      <p:sp>
        <p:nvSpPr>
          <p:cNvPr id="8" name="Text 5"/>
          <p:cNvSpPr/>
          <p:nvPr/>
        </p:nvSpPr>
        <p:spPr>
          <a:xfrm>
            <a:off x="1585565" y="2404120"/>
            <a:ext cx="248173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305A"/>
                </a:solidFill>
                <a:latin typeface="Manrope" pitchFamily="34" charset="0"/>
                <a:ea typeface="Manrope" pitchFamily="34" charset="-122"/>
                <a:cs typeface="Manrope" pitchFamily="34" charset="-120"/>
              </a:rPr>
              <a:t>El trabajo mismo</a:t>
            </a:r>
            <a:endParaRPr lang="en-US" sz="2000" dirty="0"/>
          </a:p>
        </p:txBody>
      </p:sp>
      <p:sp>
        <p:nvSpPr>
          <p:cNvPr id="9" name="Text 6"/>
          <p:cNvSpPr/>
          <p:nvPr/>
        </p:nvSpPr>
        <p:spPr>
          <a:xfrm>
            <a:off x="1585565" y="2785120"/>
            <a:ext cx="213015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donde se crea valor</a:t>
            </a:r>
            <a:endParaRPr lang="en-US" sz="1400" dirty="0"/>
          </a:p>
        </p:txBody>
      </p:sp>
      <p:sp>
        <p:nvSpPr>
          <p:cNvPr id="10" name="Shape 7"/>
          <p:cNvSpPr/>
          <p:nvPr/>
        </p:nvSpPr>
        <p:spPr>
          <a:xfrm>
            <a:off x="815975" y="3399135"/>
            <a:ext cx="10560050" cy="1093440"/>
          </a:xfrm>
          <a:prstGeom prst="roundRect">
            <a:avLst>
              <a:gd name="adj" fmla="val 11324"/>
            </a:avLst>
          </a:prstGeom>
          <a:solidFill>
            <a:srgbClr val="FFFFFF">
              <a:alpha val="62000"/>
            </a:srgbClr>
          </a:solidFill>
          <a:ln w="6350">
            <a:solidFill>
              <a:srgbClr val="14305A">
                <a:alpha val="16000"/>
              </a:srgbClr>
            </a:solidFill>
            <a:prstDash val="solid"/>
          </a:ln>
        </p:spPr>
      </p:sp>
      <p:sp>
        <p:nvSpPr>
          <p:cNvPr id="11" name="Text 8"/>
          <p:cNvSpPr/>
          <p:nvPr/>
        </p:nvSpPr>
        <p:spPr>
          <a:xfrm>
            <a:off x="1123950" y="3717230"/>
            <a:ext cx="3314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4305A"/>
                </a:solidFill>
                <a:latin typeface="Manrope" pitchFamily="34" charset="0"/>
                <a:ea typeface="Manrope" pitchFamily="34" charset="-122"/>
                <a:cs typeface="Manrope" pitchFamily="34" charset="-120"/>
              </a:rPr>
              <a:t>2</a:t>
            </a:r>
            <a:endParaRPr lang="en-US" sz="3600" dirty="0"/>
          </a:p>
        </p:txBody>
      </p:sp>
      <p:sp>
        <p:nvSpPr>
          <p:cNvPr id="12" name="Text 9"/>
          <p:cNvSpPr/>
          <p:nvPr/>
        </p:nvSpPr>
        <p:spPr>
          <a:xfrm>
            <a:off x="1654125" y="3630910"/>
            <a:ext cx="259907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305A"/>
                </a:solidFill>
                <a:latin typeface="Manrope" pitchFamily="34" charset="0"/>
                <a:ea typeface="Manrope" pitchFamily="34" charset="-122"/>
                <a:cs typeface="Manrope" pitchFamily="34" charset="-120"/>
              </a:rPr>
              <a:t>Las herramientas</a:t>
            </a:r>
            <a:endParaRPr lang="en-US" sz="2000" dirty="0"/>
          </a:p>
        </p:txBody>
      </p:sp>
      <p:sp>
        <p:nvSpPr>
          <p:cNvPr id="13" name="Text 10"/>
          <p:cNvSpPr/>
          <p:nvPr/>
        </p:nvSpPr>
        <p:spPr>
          <a:xfrm>
            <a:off x="1654125" y="4011910"/>
            <a:ext cx="223087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con qué se hace</a:t>
            </a:r>
            <a:endParaRPr lang="en-US" sz="1400" dirty="0"/>
          </a:p>
        </p:txBody>
      </p:sp>
      <p:sp>
        <p:nvSpPr>
          <p:cNvPr id="14" name="Shape 11"/>
          <p:cNvSpPr/>
          <p:nvPr/>
        </p:nvSpPr>
        <p:spPr>
          <a:xfrm>
            <a:off x="812800" y="4622750"/>
            <a:ext cx="10566400" cy="1087090"/>
          </a:xfrm>
          <a:prstGeom prst="roundRect">
            <a:avLst>
              <a:gd name="adj" fmla="val 11683"/>
            </a:avLst>
          </a:prstGeom>
          <a:solidFill>
            <a:srgbClr val="1050B0"/>
          </a:solidFill>
          <a:ln/>
        </p:spPr>
      </p:sp>
      <p:sp>
        <p:nvSpPr>
          <p:cNvPr id="15" name="Text 12"/>
          <p:cNvSpPr/>
          <p:nvPr/>
        </p:nvSpPr>
        <p:spPr>
          <a:xfrm>
            <a:off x="1117600" y="4937671"/>
            <a:ext cx="32426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FFF"/>
                </a:solidFill>
                <a:latin typeface="Manrope" pitchFamily="34" charset="0"/>
                <a:ea typeface="Manrope" pitchFamily="34" charset="-122"/>
                <a:cs typeface="Manrope" pitchFamily="34" charset="-120"/>
              </a:rPr>
              <a:t>3</a:t>
            </a:r>
            <a:endParaRPr lang="en-US" sz="3600" dirty="0"/>
          </a:p>
        </p:txBody>
      </p:sp>
      <p:sp>
        <p:nvSpPr>
          <p:cNvPr id="16" name="Text 13"/>
          <p:cNvSpPr/>
          <p:nvPr/>
        </p:nvSpPr>
        <p:spPr>
          <a:xfrm>
            <a:off x="1641822" y="4851350"/>
            <a:ext cx="506914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FFFF"/>
                </a:solidFill>
                <a:latin typeface="Manrope" pitchFamily="34" charset="0"/>
                <a:ea typeface="Manrope" pitchFamily="34" charset="-122"/>
                <a:cs typeface="Manrope" pitchFamily="34" charset="-120"/>
              </a:rPr>
              <a:t>La arquitectura de la organización</a:t>
            </a:r>
            <a:endParaRPr lang="en-US" sz="2000" dirty="0"/>
          </a:p>
        </p:txBody>
      </p:sp>
      <p:sp>
        <p:nvSpPr>
          <p:cNvPr id="17" name="Text 14"/>
          <p:cNvSpPr/>
          <p:nvPr/>
        </p:nvSpPr>
        <p:spPr>
          <a:xfrm>
            <a:off x="1641822" y="5232350"/>
            <a:ext cx="435101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E5F7"/>
                </a:solidFill>
                <a:latin typeface="IBM Plex Sans" pitchFamily="34" charset="0"/>
                <a:ea typeface="IBM Plex Sans" pitchFamily="34" charset="-122"/>
                <a:cs typeface="IBM Plex Sans" pitchFamily="34" charset="-120"/>
              </a:rPr>
              <a:t>cómo todo se conecta</a:t>
            </a:r>
            <a:endParaRPr lang="en-US" sz="1400" dirty="0"/>
          </a:p>
        </p:txBody>
      </p:sp>
      <p:pic>
        <p:nvPicPr>
          <p:cNvPr id="18"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19" name="Text 15"/>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Kim &amp; Spear · </a:t>
            </a:r>
            <a:r>
              <a:rPr lang="en-US" sz="1200" i="1" dirty="0">
                <a:solidFill>
                  <a:srgbClr val="5C7192"/>
                </a:solidFill>
                <a:latin typeface="IBM Plex Sans" pitchFamily="34" charset="0"/>
                <a:ea typeface="IBM Plex Sans" pitchFamily="34" charset="-122"/>
                <a:cs typeface="IBM Plex Sans" pitchFamily="34" charset="-120"/>
              </a:rPr>
              <a:t>Wiring the Winning Organization</a:t>
            </a:r>
            <a:r>
              <a:rPr lang="en-US" sz="1200" dirty="0">
                <a:solidFill>
                  <a:srgbClr val="5C7192"/>
                </a:solidFill>
                <a:latin typeface="IBM Plex Sans" pitchFamily="34" charset="0"/>
                <a:ea typeface="IBM Plex Sans" pitchFamily="34" charset="-122"/>
                <a:cs typeface="IBM Plex Sans" pitchFamily="34" charset="-120"/>
              </a:rPr>
              <a:t>, 2023 · retomado en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cap. 17</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429669"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IV · EL MANDATO</a:t>
            </a:r>
            <a:endParaRPr lang="en-US" sz="1200" dirty="0"/>
          </a:p>
        </p:txBody>
      </p:sp>
      <p:sp>
        <p:nvSpPr>
          <p:cNvPr id="4" name="Shape 1"/>
          <p:cNvSpPr/>
          <p:nvPr/>
        </p:nvSpPr>
        <p:spPr>
          <a:xfrm>
            <a:off x="3242469"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Qué incluye la capa 3</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2455"/>
          <a:ext cx="10553700" cy="2889250"/>
        </p:xfrm>
        <a:graphic>
          <a:graphicData uri="http://schemas.openxmlformats.org/drawingml/2006/table">
            <a:tbl>
              <a:tblPr/>
              <a:tblGrid>
                <a:gridCol w="4432554"/>
                <a:gridCol w="6121146"/>
              </a:tblGrid>
              <a:tr h="412750">
                <a:tc>
                  <a:txBody>
                    <a:bodyPr/>
                    <a:lstStyle/>
                    <a:p>
                      <a:pPr indent="0" marL="0">
                        <a:lnSpc>
                          <a:spcPts val="2100"/>
                        </a:lnSpc>
                        <a:buNone/>
                      </a:pPr>
                      <a:r>
                        <a:rPr lang="en-US" sz="1500" b="1" dirty="0">
                          <a:solidFill>
                            <a:srgbClr val="3E577D"/>
                          </a:solidFill>
                          <a:latin typeface="IBM Plex Sans" pitchFamily="34" charset="0"/>
                          <a:ea typeface="IBM Plex Sans" pitchFamily="34" charset="-122"/>
                          <a:cs typeface="IBM Plex Sans" pitchFamily="34" charset="-120"/>
                        </a:rPr>
                        <a:t>Elemento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B6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6B9BB"/>
                      </a:solidFill>
                      <a:prstDash val="solid"/>
                      <a:round/>
                      <a:headEnd type="none" w="med" len="med"/>
                      <a:tailEnd type="none" w="med" len="med"/>
                    </a:lnB>
                    <a:solidFill>
                      <a:srgbClr val="E4E8EA"/>
                    </a:solidFill>
                  </a:tcPr>
                </a:tc>
                <a:tc>
                  <a:txBody>
                    <a:bodyPr/>
                    <a:lstStyle/>
                    <a:p>
                      <a:pPr indent="0" marL="0">
                        <a:lnSpc>
                          <a:spcPts val="2100"/>
                        </a:lnSpc>
                        <a:buNone/>
                      </a:pPr>
                      <a:r>
                        <a:rPr lang="en-US" sz="1500" b="1" dirty="0">
                          <a:solidFill>
                            <a:srgbClr val="3E577D"/>
                          </a:solidFill>
                          <a:latin typeface="IBM Plex Sans" pitchFamily="34" charset="0"/>
                          <a:ea typeface="IBM Plex Sans" pitchFamily="34" charset="-122"/>
                          <a:cs typeface="IBM Plex Sans" pitchFamily="34" charset="-120"/>
                        </a:rPr>
                        <a:t>Qué define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9BB"/>
                      </a:solidFill>
                      <a:prstDash val="solid"/>
                      <a:round/>
                      <a:headEnd type="none" w="med" len="med"/>
                      <a:tailEnd type="none" w="med" len="med"/>
                    </a:lnL>
                    <a:lnR w="12700" cap="flat" cmpd="sng" algn="ctr">
                      <a:solidFill>
                        <a:srgbClr val="B6B9BB"/>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B6B9BB"/>
                      </a:solidFill>
                      <a:prstDash val="solid"/>
                      <a:round/>
                      <a:headEnd type="none" w="med" len="med"/>
                      <a:tailEnd type="none" w="med" len="med"/>
                    </a:lnB>
                    <a:solidFill>
                      <a:srgbClr val="E4E8EA"/>
                    </a:solidFill>
                  </a:tcPr>
                </a:tc>
              </a:tr>
              <a:tr h="412750">
                <a:tc>
                  <a:txBody>
                    <a:bodyPr/>
                    <a:lstStyle/>
                    <a:p>
                      <a:pPr indent="0" marL="0">
                        <a:lnSpc>
                          <a:spcPts val="2100"/>
                        </a:lnSpc>
                        <a:buNone/>
                      </a:pPr>
                      <a:r>
                        <a:rPr lang="en-US" sz="1500" dirty="0">
                          <a:solidFill>
                            <a:srgbClr val="14305A"/>
                          </a:solidFill>
                          <a:latin typeface="IBM Plex Sans" pitchFamily="34" charset="0"/>
                          <a:ea typeface="IBM Plex Sans" pitchFamily="34" charset="-122"/>
                          <a:cs typeface="IBM Plex Sans" pitchFamily="34" charset="-120"/>
                        </a:rPr>
                        <a:t>Arquitectura de sistemas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6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cómo se conectan los componentes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B6B9BB"/>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305A"/>
                          </a:solidFill>
                          <a:latin typeface="IBM Plex Sans" pitchFamily="34" charset="0"/>
                          <a:ea typeface="IBM Plex Sans" pitchFamily="34" charset="-122"/>
                          <a:cs typeface="IBM Plex Sans" pitchFamily="34" charset="-120"/>
                        </a:rPr>
                        <a:t>Diseño organizacional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cómo están estructurados los equipos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305A"/>
                          </a:solidFill>
                          <a:latin typeface="IBM Plex Sans" pitchFamily="34" charset="0"/>
                          <a:ea typeface="IBM Plex Sans" pitchFamily="34" charset="-122"/>
                          <a:cs typeface="IBM Plex Sans" pitchFamily="34" charset="-120"/>
                        </a:rPr>
                        <a:t>Protocolos de comunicación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quién le habla a quién, sobre qué, con qué frecuencia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305A"/>
                          </a:solidFill>
                          <a:latin typeface="IBM Plex Sans" pitchFamily="34" charset="0"/>
                          <a:ea typeface="IBM Plex Sans" pitchFamily="34" charset="-122"/>
                          <a:cs typeface="IBM Plex Sans" pitchFamily="34" charset="-120"/>
                        </a:rPr>
                        <a:t>Flujos y procesos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cómo se mueve el trabajo de inicio a fin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305A"/>
                          </a:solidFill>
                          <a:latin typeface="IBM Plex Sans" pitchFamily="34" charset="0"/>
                          <a:ea typeface="IBM Plex Sans" pitchFamily="34" charset="-122"/>
                          <a:cs typeface="IBM Plex Sans" pitchFamily="34" charset="-120"/>
                        </a:rPr>
                        <a:t>Estándares e interfaces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las reglas acordadas entre áreas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305A"/>
                          </a:solidFill>
                          <a:latin typeface="IBM Plex Sans" pitchFamily="34" charset="0"/>
                          <a:ea typeface="IBM Plex Sans" pitchFamily="34" charset="-122"/>
                          <a:cs typeface="IBM Plex Sans" pitchFamily="34" charset="-120"/>
                        </a:rPr>
                        <a:t>Normas de liderazgo y cultura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c>
                  <a:txBody>
                    <a:bodyPr/>
                    <a:lstStyle/>
                    <a:p>
                      <a:pPr indent="0" marL="0">
                        <a:lnSpc>
                          <a:spcPts val="2100"/>
                        </a:lnSpc>
                        <a:buNone/>
                      </a:pPr>
                      <a:r>
                        <a:rPr lang="en-US" sz="1500" dirty="0">
                          <a:solidFill>
                            <a:srgbClr val="3E577D"/>
                          </a:solidFill>
                          <a:latin typeface="IBM Plex Sans" pitchFamily="34" charset="0"/>
                          <a:ea typeface="IBM Plex Sans" pitchFamily="34" charset="-122"/>
                          <a:cs typeface="IBM Plex Sans" pitchFamily="34" charset="-120"/>
                        </a:rPr>
                        <a:t>cómo actúan y reaccionan las personas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7CA"/>
                      </a:solidFill>
                      <a:prstDash val="solid"/>
                      <a:round/>
                      <a:headEnd type="none" w="med" len="med"/>
                      <a:tailEnd type="none" w="med" len="med"/>
                    </a:lnL>
                    <a:lnR w="12700" cap="flat" cmpd="sng" algn="ctr">
                      <a:solidFill>
                        <a:srgbClr val="C4C7CA"/>
                      </a:solidFill>
                      <a:prstDash val="solid"/>
                      <a:round/>
                      <a:headEnd type="none" w="med" len="med"/>
                      <a:tailEnd type="none" w="med" len="med"/>
                    </a:lnR>
                    <a:lnT w="12700" cap="flat" cmpd="sng" algn="ctr">
                      <a:solidFill>
                        <a:srgbClr val="C4C7CA"/>
                      </a:solidFill>
                      <a:prstDash val="solid"/>
                      <a:round/>
                      <a:headEnd type="none" w="med" len="med"/>
                      <a:tailEnd type="none" w="med" len="med"/>
                    </a:lnT>
                    <a:lnB w="12700" cap="flat" cmpd="sng" algn="ctr">
                      <a:solidFill>
                        <a:srgbClr val="C4C7CA"/>
                      </a:solidFill>
                      <a:prstDash val="solid"/>
                      <a:round/>
                      <a:headEnd type="none" w="med" len="med"/>
                      <a:tailEnd type="none" w="med" len="med"/>
                    </a:lnB>
                  </a:tcPr>
                </a:tc>
              </a:tr>
            </a:tbl>
          </a:graphicData>
        </a:graphic>
      </p:graphicFrame>
      <p:sp>
        <p:nvSpPr>
          <p:cNvPr id="7" name="Text 3"/>
          <p:cNvSpPr/>
          <p:nvPr/>
        </p:nvSpPr>
        <p:spPr>
          <a:xfrm>
            <a:off x="812800" y="548570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F8D8D"/>
                </a:solidFill>
                <a:latin typeface="IBM Plex Sans" pitchFamily="34" charset="0"/>
                <a:ea typeface="IBM Plex Sans" pitchFamily="34" charset="-122"/>
                <a:cs typeface="IBM Plex Sans" pitchFamily="34" charset="-120"/>
              </a:rPr>
              <a:t>Ley de Conway</a:t>
            </a:r>
            <a:r>
              <a:rPr lang="en-US" sz="1500" dirty="0">
                <a:solidFill>
                  <a:srgbClr val="3F8D8D"/>
                </a:solidFill>
                <a:latin typeface="IBM Plex Sans" pitchFamily="34" charset="0"/>
                <a:ea typeface="IBM Plex Sans" pitchFamily="34" charset="-122"/>
                <a:cs typeface="IBM Plex Sans" pitchFamily="34" charset="-120"/>
              </a:rPr>
              <a:t>: la arquitectura del software imita la estructura de comunicación del equipo.</a:t>
            </a:r>
            <a:endParaRPr lang="en-US" sz="1500" dirty="0"/>
          </a:p>
        </p:txBody>
      </p:sp>
      <p:pic>
        <p:nvPicPr>
          <p:cNvPr id="8"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429669"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IV · EL MANDATO</a:t>
            </a:r>
            <a:endParaRPr lang="en-US" sz="1200" dirty="0"/>
          </a:p>
        </p:txBody>
      </p:sp>
      <p:sp>
        <p:nvSpPr>
          <p:cNvPr id="4" name="Shape 1"/>
          <p:cNvSpPr/>
          <p:nvPr/>
        </p:nvSpPr>
        <p:spPr>
          <a:xfrm>
            <a:off x="3242469"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La tercera capa es nuestra</a:t>
            </a:r>
            <a:endParaRPr lang="en-US" sz="3600" dirty="0"/>
          </a:p>
        </p:txBody>
      </p:sp>
      <p:sp>
        <p:nvSpPr>
          <p:cNvPr id="6" name="Text 3"/>
          <p:cNvSpPr/>
          <p:nvPr/>
        </p:nvSpPr>
        <p:spPr>
          <a:xfrm>
            <a:off x="812800" y="3018185"/>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spc="-50" kern="0" dirty="0">
                <a:solidFill>
                  <a:srgbClr val="1050B0"/>
                </a:solidFill>
                <a:latin typeface="Manrope" pitchFamily="34" charset="0"/>
                <a:ea typeface="Manrope" pitchFamily="34" charset="-122"/>
                <a:cs typeface="Manrope" pitchFamily="34" charset="-120"/>
              </a:rPr>
              <a:t>La IA va a cambiar nuestras decisiones de capa 3</a:t>
            </a:r>
            <a:endParaRPr lang="en-US" sz="2800" dirty="0"/>
          </a:p>
        </p:txBody>
      </p:sp>
      <p:sp>
        <p:nvSpPr>
          <p:cNvPr id="7" name="Shape 4"/>
          <p:cNvSpPr/>
          <p:nvPr/>
        </p:nvSpPr>
        <p:spPr>
          <a:xfrm>
            <a:off x="822325" y="3731915"/>
            <a:ext cx="0" cy="359370"/>
          </a:xfrm>
          <a:prstGeom prst="line">
            <a:avLst/>
          </a:prstGeom>
          <a:noFill/>
          <a:ln w="19050">
            <a:solidFill>
              <a:srgbClr val="14305A">
                <a:alpha val="16000"/>
              </a:srgbClr>
            </a:solidFill>
            <a:prstDash val="solid"/>
          </a:ln>
        </p:spPr>
      </p:sp>
      <p:sp>
        <p:nvSpPr>
          <p:cNvPr id="8" name="Text 5"/>
          <p:cNvSpPr/>
          <p:nvPr/>
        </p:nvSpPr>
        <p:spPr>
          <a:xfrm>
            <a:off x="1009650" y="3757315"/>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Dirigir al propio agente se vuelve la capa 3 individual de cada dev.</a:t>
            </a:r>
            <a:endParaRPr lang="en-US" sz="1800" dirty="0"/>
          </a:p>
        </p:txBody>
      </p:sp>
      <p:sp>
        <p:nvSpPr>
          <p:cNvPr id="9" name="Shape 6"/>
          <p:cNvSpPr/>
          <p:nvPr/>
        </p:nvSpPr>
        <p:spPr>
          <a:xfrm>
            <a:off x="822325" y="4218285"/>
            <a:ext cx="0" cy="359370"/>
          </a:xfrm>
          <a:prstGeom prst="line">
            <a:avLst/>
          </a:prstGeom>
          <a:noFill/>
          <a:ln w="19050">
            <a:solidFill>
              <a:srgbClr val="14305A">
                <a:alpha val="16000"/>
              </a:srgbClr>
            </a:solidFill>
            <a:prstDash val="solid"/>
          </a:ln>
        </p:spPr>
      </p:sp>
      <p:sp>
        <p:nvSpPr>
          <p:cNvPr id="10" name="Text 7"/>
          <p:cNvSpPr/>
          <p:nvPr/>
        </p:nvSpPr>
        <p:spPr>
          <a:xfrm>
            <a:off x="1009650" y="4243685"/>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Coordinar a varios devs que ya coordinan agentes es un problema abierto.</a:t>
            </a:r>
            <a:endParaRPr lang="en-US" sz="1800" dirty="0"/>
          </a:p>
        </p:txBody>
      </p:sp>
      <p:sp>
        <p:nvSpPr>
          <p:cNvPr id="11" name="Shape 8"/>
          <p:cNvSpPr/>
          <p:nvPr/>
        </p:nvSpPr>
        <p:spPr>
          <a:xfrm>
            <a:off x="822325" y="4704655"/>
            <a:ext cx="0" cy="359370"/>
          </a:xfrm>
          <a:prstGeom prst="line">
            <a:avLst/>
          </a:prstGeom>
          <a:noFill/>
          <a:ln w="19050">
            <a:solidFill>
              <a:srgbClr val="14305A">
                <a:alpha val="16000"/>
              </a:srgbClr>
            </a:solidFill>
            <a:prstDash val="solid"/>
          </a:ln>
        </p:spPr>
      </p:sp>
      <p:sp>
        <p:nvSpPr>
          <p:cNvPr id="12" name="Text 9"/>
          <p:cNvSpPr/>
          <p:nvPr/>
        </p:nvSpPr>
        <p:spPr>
          <a:xfrm>
            <a:off x="1009650" y="4730055"/>
            <a:ext cx="10680637"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E577D"/>
                </a:solidFill>
                <a:latin typeface="IBM Plex Sans" pitchFamily="34" charset="0"/>
                <a:ea typeface="IBM Plex Sans" pitchFamily="34" charset="-122"/>
                <a:cs typeface="IBM Plex Sans" pitchFamily="34" charset="-120"/>
              </a:rPr>
              <a:t>Cuando codificar deja de ser el cuello de botella, la organización lo es.</a:t>
            </a:r>
            <a:endParaRPr lang="en-US" sz="1800" dirty="0"/>
          </a:p>
        </p:txBody>
      </p:sp>
      <p:pic>
        <p:nvPicPr>
          <p:cNvPr id="13"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429669"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IV · EL MANDATO</a:t>
            </a:r>
            <a:endParaRPr lang="en-US" sz="1200" dirty="0"/>
          </a:p>
        </p:txBody>
      </p:sp>
      <p:sp>
        <p:nvSpPr>
          <p:cNvPr id="4" name="Shape 1"/>
          <p:cNvSpPr/>
          <p:nvPr/>
        </p:nvSpPr>
        <p:spPr>
          <a:xfrm>
            <a:off x="3242469"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Accionables de la capa 3</a:t>
            </a:r>
            <a:endParaRPr lang="en-US" sz="3600" dirty="0"/>
          </a:p>
        </p:txBody>
      </p:sp>
      <p:sp>
        <p:nvSpPr>
          <p:cNvPr id="6" name="Text 3"/>
          <p:cNvSpPr/>
          <p:nvPr/>
        </p:nvSpPr>
        <p:spPr>
          <a:xfrm>
            <a:off x="812800" y="2388245"/>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50B0"/>
                </a:solidFill>
                <a:latin typeface="Manrope" pitchFamily="34" charset="0"/>
                <a:ea typeface="Manrope" pitchFamily="34" charset="-122"/>
                <a:cs typeface="Manrope" pitchFamily="34" charset="-120"/>
              </a:rPr>
              <a:t>Organizar agentes es organización, no tooling</a:t>
            </a:r>
            <a:endParaRPr lang="en-US" sz="2200" dirty="0"/>
          </a:p>
        </p:txBody>
      </p:sp>
      <p:sp>
        <p:nvSpPr>
          <p:cNvPr id="7" name="Shape 4"/>
          <p:cNvSpPr/>
          <p:nvPr/>
        </p:nvSpPr>
        <p:spPr>
          <a:xfrm>
            <a:off x="812800" y="3011140"/>
            <a:ext cx="10566400" cy="0"/>
          </a:xfrm>
          <a:prstGeom prst="line">
            <a:avLst/>
          </a:prstGeom>
          <a:noFill/>
          <a:ln w="6350">
            <a:solidFill>
              <a:srgbClr val="14305A">
                <a:alpha val="16000"/>
              </a:srgbClr>
            </a:solidFill>
            <a:prstDash val="solid"/>
          </a:ln>
        </p:spPr>
      </p:sp>
      <p:sp>
        <p:nvSpPr>
          <p:cNvPr id="8" name="Text 5"/>
          <p:cNvSpPr/>
          <p:nvPr/>
        </p:nvSpPr>
        <p:spPr>
          <a:xfrm>
            <a:off x="812800" y="3128615"/>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Subagentes especializados</a:t>
            </a:r>
            <a:endParaRPr lang="en-US" sz="1600" dirty="0"/>
          </a:p>
        </p:txBody>
      </p:sp>
      <p:sp>
        <p:nvSpPr>
          <p:cNvPr id="9" name="Text 6"/>
          <p:cNvSpPr/>
          <p:nvPr/>
        </p:nvSpPr>
        <p:spPr>
          <a:xfrm>
            <a:off x="4318000" y="3157190"/>
            <a:ext cx="727303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cada rol con su contexto y competencia: planner, test-writer, implementer, reviewer.</a:t>
            </a:r>
            <a:endParaRPr lang="en-US" sz="1400" dirty="0"/>
          </a:p>
        </p:txBody>
      </p:sp>
      <p:sp>
        <p:nvSpPr>
          <p:cNvPr id="10" name="Shape 7"/>
          <p:cNvSpPr/>
          <p:nvPr/>
        </p:nvSpPr>
        <p:spPr>
          <a:xfrm>
            <a:off x="812800" y="3530550"/>
            <a:ext cx="10566400" cy="0"/>
          </a:xfrm>
          <a:prstGeom prst="line">
            <a:avLst/>
          </a:prstGeom>
          <a:noFill/>
          <a:ln w="6350">
            <a:solidFill>
              <a:srgbClr val="14305A">
                <a:alpha val="16000"/>
              </a:srgbClr>
            </a:solidFill>
            <a:prstDash val="solid"/>
          </a:ln>
        </p:spPr>
      </p:sp>
      <p:sp>
        <p:nvSpPr>
          <p:cNvPr id="11" name="Text 8"/>
          <p:cNvSpPr/>
          <p:nvPr/>
        </p:nvSpPr>
        <p:spPr>
          <a:xfrm>
            <a:off x="812800" y="3648025"/>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Generadores y verificadores</a:t>
            </a:r>
            <a:endParaRPr lang="en-US" sz="1600" dirty="0"/>
          </a:p>
        </p:txBody>
      </p:sp>
      <p:sp>
        <p:nvSpPr>
          <p:cNvPr id="12" name="Text 9"/>
          <p:cNvSpPr/>
          <p:nvPr/>
        </p:nvSpPr>
        <p:spPr>
          <a:xfrm>
            <a:off x="4318000" y="3676600"/>
            <a:ext cx="727303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quien genera no verifica. TDD como sustrato.</a:t>
            </a:r>
            <a:endParaRPr lang="en-US" sz="1400" dirty="0"/>
          </a:p>
        </p:txBody>
      </p:sp>
      <p:sp>
        <p:nvSpPr>
          <p:cNvPr id="13" name="Shape 10"/>
          <p:cNvSpPr/>
          <p:nvPr/>
        </p:nvSpPr>
        <p:spPr>
          <a:xfrm>
            <a:off x="812800" y="4049961"/>
            <a:ext cx="10566400" cy="0"/>
          </a:xfrm>
          <a:prstGeom prst="line">
            <a:avLst/>
          </a:prstGeom>
          <a:noFill/>
          <a:ln w="6350">
            <a:solidFill>
              <a:srgbClr val="14305A">
                <a:alpha val="16000"/>
              </a:srgbClr>
            </a:solidFill>
            <a:prstDash val="solid"/>
          </a:ln>
        </p:spPr>
      </p:sp>
      <p:sp>
        <p:nvSpPr>
          <p:cNvPr id="14" name="Text 11"/>
          <p:cNvSpPr/>
          <p:nvPr/>
        </p:nvSpPr>
        <p:spPr>
          <a:xfrm>
            <a:off x="812800" y="4167436"/>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Documentación compartida</a:t>
            </a:r>
            <a:endParaRPr lang="en-US" sz="1600" dirty="0"/>
          </a:p>
        </p:txBody>
      </p:sp>
      <p:sp>
        <p:nvSpPr>
          <p:cNvPr id="15" name="Text 12"/>
          <p:cNvSpPr/>
          <p:nvPr/>
        </p:nvSpPr>
        <p:spPr>
          <a:xfrm>
            <a:off x="4318000" y="4196011"/>
            <a:ext cx="727303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CLAUDE.md, ADRs, bitácora. El agente lee lo que el equipo decidió.</a:t>
            </a:r>
            <a:endParaRPr lang="en-US" sz="1400" dirty="0"/>
          </a:p>
        </p:txBody>
      </p:sp>
      <p:sp>
        <p:nvSpPr>
          <p:cNvPr id="16" name="Shape 13"/>
          <p:cNvSpPr/>
          <p:nvPr/>
        </p:nvSpPr>
        <p:spPr>
          <a:xfrm>
            <a:off x="812800" y="4569371"/>
            <a:ext cx="10566400" cy="0"/>
          </a:xfrm>
          <a:prstGeom prst="line">
            <a:avLst/>
          </a:prstGeom>
          <a:noFill/>
          <a:ln w="6350">
            <a:solidFill>
              <a:srgbClr val="14305A">
                <a:alpha val="16000"/>
              </a:srgbClr>
            </a:solidFill>
            <a:prstDash val="solid"/>
          </a:ln>
        </p:spPr>
      </p:sp>
      <p:sp>
        <p:nvSpPr>
          <p:cNvPr id="17" name="Text 14"/>
          <p:cNvSpPr/>
          <p:nvPr/>
        </p:nvSpPr>
        <p:spPr>
          <a:xfrm>
            <a:off x="812800" y="4686846"/>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Paralelismo bien diseñado</a:t>
            </a:r>
            <a:endParaRPr lang="en-US" sz="1600" dirty="0"/>
          </a:p>
        </p:txBody>
      </p:sp>
      <p:sp>
        <p:nvSpPr>
          <p:cNvPr id="18" name="Text 15"/>
          <p:cNvSpPr/>
          <p:nvPr/>
        </p:nvSpPr>
        <p:spPr>
          <a:xfrm>
            <a:off x="4318000" y="4715421"/>
            <a:ext cx="727303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issues con dependencias declaradas, worktrees aislados.</a:t>
            </a:r>
            <a:endParaRPr lang="en-US" sz="1400" dirty="0"/>
          </a:p>
        </p:txBody>
      </p:sp>
      <p:sp>
        <p:nvSpPr>
          <p:cNvPr id="19" name="Shape 16"/>
          <p:cNvSpPr/>
          <p:nvPr/>
        </p:nvSpPr>
        <p:spPr>
          <a:xfrm>
            <a:off x="812800" y="5088781"/>
            <a:ext cx="10566400" cy="0"/>
          </a:xfrm>
          <a:prstGeom prst="line">
            <a:avLst/>
          </a:prstGeom>
          <a:noFill/>
          <a:ln w="6350">
            <a:solidFill>
              <a:srgbClr val="14305A">
                <a:alpha val="16000"/>
              </a:srgbClr>
            </a:solidFill>
            <a:prstDash val="solid"/>
          </a:ln>
        </p:spPr>
      </p:sp>
      <p:sp>
        <p:nvSpPr>
          <p:cNvPr id="20" name="Text 17"/>
          <p:cNvSpPr/>
          <p:nvPr/>
        </p:nvSpPr>
        <p:spPr>
          <a:xfrm>
            <a:off x="812800" y="5206256"/>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5A"/>
                </a:solidFill>
                <a:latin typeface="Manrope" pitchFamily="34" charset="0"/>
                <a:ea typeface="Manrope" pitchFamily="34" charset="-122"/>
                <a:cs typeface="Manrope" pitchFamily="34" charset="-120"/>
              </a:rPr>
              <a:t>Integración de verificación</a:t>
            </a:r>
            <a:endParaRPr lang="en-US" sz="1600" dirty="0"/>
          </a:p>
        </p:txBody>
      </p:sp>
      <p:sp>
        <p:nvSpPr>
          <p:cNvPr id="21" name="Text 18"/>
          <p:cNvSpPr/>
          <p:nvPr/>
        </p:nvSpPr>
        <p:spPr>
          <a:xfrm>
            <a:off x="4318000" y="5234831"/>
            <a:ext cx="727303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77D"/>
                </a:solidFill>
                <a:latin typeface="IBM Plex Sans" pitchFamily="34" charset="0"/>
                <a:ea typeface="IBM Plex Sans" pitchFamily="34" charset="-122"/>
                <a:cs typeface="IBM Plex Sans" pitchFamily="34" charset="-120"/>
              </a:rPr>
              <a:t>CI/CD, revisión de PR, métricas DORA.</a:t>
            </a:r>
            <a:endParaRPr lang="en-US" sz="1400" dirty="0"/>
          </a:p>
        </p:txBody>
      </p:sp>
      <p:pic>
        <p:nvPicPr>
          <p:cNvPr id="22"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
        <p:nvSpPr>
          <p:cNvPr id="23" name="Text 19"/>
          <p:cNvSpPr/>
          <p:nvPr/>
        </p:nvSpPr>
        <p:spPr>
          <a:xfrm>
            <a:off x="812800" y="6238280"/>
            <a:ext cx="10203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7192"/>
                </a:solidFill>
                <a:latin typeface="IBM Plex Sans" pitchFamily="34" charset="0"/>
                <a:ea typeface="IBM Plex Sans" pitchFamily="34" charset="-122"/>
                <a:cs typeface="IBM Plex Sans" pitchFamily="34" charset="-120"/>
              </a:rPr>
              <a:t>Kim &amp; Yegge · </a:t>
            </a:r>
            <a:r>
              <a:rPr lang="en-US" sz="1200" i="1" dirty="0">
                <a:solidFill>
                  <a:srgbClr val="5C7192"/>
                </a:solidFill>
                <a:latin typeface="IBM Plex Sans" pitchFamily="34" charset="0"/>
                <a:ea typeface="IBM Plex Sans" pitchFamily="34" charset="-122"/>
                <a:cs typeface="IBM Plex Sans" pitchFamily="34" charset="-120"/>
              </a:rPr>
              <a:t>Vibe Coding</a:t>
            </a:r>
            <a:r>
              <a:rPr lang="en-US" sz="1200" dirty="0">
                <a:solidFill>
                  <a:srgbClr val="5C7192"/>
                </a:solidFill>
                <a:latin typeface="IBM Plex Sans" pitchFamily="34" charset="0"/>
                <a:ea typeface="IBM Plex Sans" pitchFamily="34" charset="-122"/>
                <a:cs typeface="IBM Plex Sans" pitchFamily="34" charset="-120"/>
              </a:rPr>
              <a:t> · cap. 17, </a:t>
            </a:r>
            <a:r>
              <a:rPr lang="en-US" sz="1200" i="1" dirty="0">
                <a:solidFill>
                  <a:srgbClr val="5C7192"/>
                </a:solidFill>
                <a:latin typeface="IBM Plex Sans" pitchFamily="34" charset="0"/>
                <a:ea typeface="IBM Plex Sans" pitchFamily="34" charset="-122"/>
                <a:cs typeface="IBM Plex Sans" pitchFamily="34" charset="-120"/>
              </a:rPr>
              <a:t>Agent Organization Patterns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429669"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ACTO IV · EL MANDATO</a:t>
            </a:r>
            <a:endParaRPr lang="en-US" sz="1200" dirty="0"/>
          </a:p>
        </p:txBody>
      </p:sp>
      <p:sp>
        <p:nvSpPr>
          <p:cNvPr id="4" name="Shape 1"/>
          <p:cNvSpPr/>
          <p:nvPr/>
        </p:nvSpPr>
        <p:spPr>
          <a:xfrm>
            <a:off x="3242469"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Debemos abordar proyectos ambiciosos</a:t>
            </a:r>
            <a:endParaRPr lang="en-US" sz="3600" dirty="0"/>
          </a:p>
        </p:txBody>
      </p:sp>
      <p:sp>
        <p:nvSpPr>
          <p:cNvPr id="6" name="Text 3"/>
          <p:cNvSpPr/>
          <p:nvPr/>
        </p:nvSpPr>
        <p:spPr>
          <a:xfrm>
            <a:off x="812800" y="270515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50B0"/>
                </a:solidFill>
                <a:latin typeface="Manrope" pitchFamily="34" charset="0"/>
                <a:ea typeface="Manrope" pitchFamily="34" charset="-122"/>
                <a:cs typeface="Manrope" pitchFamily="34" charset="-120"/>
              </a:rPr>
              <a:t>Los agentes nos permiten emprender trabajo que antes no era viable</a:t>
            </a:r>
            <a:endParaRPr lang="en-US" sz="2200" dirty="0"/>
          </a:p>
        </p:txBody>
      </p:sp>
      <p:sp>
        <p:nvSpPr>
          <p:cNvPr id="7" name="Shape 4"/>
          <p:cNvSpPr/>
          <p:nvPr/>
        </p:nvSpPr>
        <p:spPr>
          <a:xfrm>
            <a:off x="822325" y="3294410"/>
            <a:ext cx="0" cy="325090"/>
          </a:xfrm>
          <a:prstGeom prst="line">
            <a:avLst/>
          </a:prstGeom>
          <a:noFill/>
          <a:ln w="19050">
            <a:solidFill>
              <a:srgbClr val="14305A">
                <a:alpha val="16000"/>
              </a:srgbClr>
            </a:solidFill>
            <a:prstDash val="solid"/>
          </a:ln>
        </p:spPr>
      </p:sp>
      <p:sp>
        <p:nvSpPr>
          <p:cNvPr id="8" name="Text 5"/>
          <p:cNvSpPr/>
          <p:nvPr/>
        </p:nvSpPr>
        <p:spPr>
          <a:xfrm>
            <a:off x="1009650" y="3319810"/>
            <a:ext cx="1068063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577D"/>
                </a:solidFill>
                <a:latin typeface="IBM Plex Sans" pitchFamily="34" charset="0"/>
                <a:ea typeface="IBM Plex Sans" pitchFamily="34" charset="-122"/>
                <a:cs typeface="IBM Plex Sans" pitchFamily="34" charset="-120"/>
              </a:rPr>
              <a:t>Cobertura de pruebas exhaustiva en módulos que llevan años sin test.</a:t>
            </a:r>
            <a:endParaRPr lang="en-US" sz="1600" dirty="0"/>
          </a:p>
        </p:txBody>
      </p:sp>
      <p:sp>
        <p:nvSpPr>
          <p:cNvPr id="9" name="Shape 6"/>
          <p:cNvSpPr/>
          <p:nvPr/>
        </p:nvSpPr>
        <p:spPr>
          <a:xfrm>
            <a:off x="822325" y="3733800"/>
            <a:ext cx="0" cy="325090"/>
          </a:xfrm>
          <a:prstGeom prst="line">
            <a:avLst/>
          </a:prstGeom>
          <a:noFill/>
          <a:ln w="19050">
            <a:solidFill>
              <a:srgbClr val="14305A">
                <a:alpha val="16000"/>
              </a:srgbClr>
            </a:solidFill>
            <a:prstDash val="solid"/>
          </a:ln>
        </p:spPr>
      </p:sp>
      <p:sp>
        <p:nvSpPr>
          <p:cNvPr id="10" name="Text 7"/>
          <p:cNvSpPr/>
          <p:nvPr/>
        </p:nvSpPr>
        <p:spPr>
          <a:xfrm>
            <a:off x="1009650" y="3759200"/>
            <a:ext cx="1068063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577D"/>
                </a:solidFill>
                <a:latin typeface="IBM Plex Sans" pitchFamily="34" charset="0"/>
                <a:ea typeface="IBM Plex Sans" pitchFamily="34" charset="-122"/>
                <a:cs typeface="IBM Plex Sans" pitchFamily="34" charset="-120"/>
              </a:rPr>
              <a:t>Documentación técnica y funcional viva — que a su vez alimenta al próximo agente.</a:t>
            </a:r>
            <a:endParaRPr lang="en-US" sz="1600" dirty="0"/>
          </a:p>
        </p:txBody>
      </p:sp>
      <p:sp>
        <p:nvSpPr>
          <p:cNvPr id="11" name="Shape 8"/>
          <p:cNvSpPr/>
          <p:nvPr/>
        </p:nvSpPr>
        <p:spPr>
          <a:xfrm>
            <a:off x="822325" y="4173190"/>
            <a:ext cx="0" cy="325090"/>
          </a:xfrm>
          <a:prstGeom prst="line">
            <a:avLst/>
          </a:prstGeom>
          <a:noFill/>
          <a:ln w="19050">
            <a:solidFill>
              <a:srgbClr val="14305A">
                <a:alpha val="16000"/>
              </a:srgbClr>
            </a:solidFill>
            <a:prstDash val="solid"/>
          </a:ln>
        </p:spPr>
      </p:sp>
      <p:sp>
        <p:nvSpPr>
          <p:cNvPr id="12" name="Text 9"/>
          <p:cNvSpPr/>
          <p:nvPr/>
        </p:nvSpPr>
        <p:spPr>
          <a:xfrm>
            <a:off x="1009650" y="4198590"/>
            <a:ext cx="1068063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577D"/>
                </a:solidFill>
                <a:latin typeface="IBM Plex Sans" pitchFamily="34" charset="0"/>
                <a:ea typeface="IBM Plex Sans" pitchFamily="34" charset="-122"/>
                <a:cs typeface="IBM Plex Sans" pitchFamily="34" charset="-120"/>
              </a:rPr>
              <a:t>Pruebas end-to-end automatizadas donde hoy todo se valida a mano.</a:t>
            </a:r>
            <a:endParaRPr lang="en-US" sz="1600" dirty="0"/>
          </a:p>
        </p:txBody>
      </p:sp>
      <p:sp>
        <p:nvSpPr>
          <p:cNvPr id="13" name="Shape 10"/>
          <p:cNvSpPr/>
          <p:nvPr/>
        </p:nvSpPr>
        <p:spPr>
          <a:xfrm>
            <a:off x="822325" y="4612580"/>
            <a:ext cx="0" cy="325090"/>
          </a:xfrm>
          <a:prstGeom prst="line">
            <a:avLst/>
          </a:prstGeom>
          <a:noFill/>
          <a:ln w="19050">
            <a:solidFill>
              <a:srgbClr val="14305A">
                <a:alpha val="16000"/>
              </a:srgbClr>
            </a:solidFill>
            <a:prstDash val="solid"/>
          </a:ln>
        </p:spPr>
      </p:sp>
      <p:sp>
        <p:nvSpPr>
          <p:cNvPr id="14" name="Text 11"/>
          <p:cNvSpPr/>
          <p:nvPr/>
        </p:nvSpPr>
        <p:spPr>
          <a:xfrm>
            <a:off x="1009650" y="4637980"/>
            <a:ext cx="1068063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577D"/>
                </a:solidFill>
                <a:latin typeface="IBM Plex Sans" pitchFamily="34" charset="0"/>
                <a:ea typeface="IBM Plex Sans" pitchFamily="34" charset="-122"/>
                <a:cs typeface="IBM Plex Sans" pitchFamily="34" charset="-120"/>
              </a:rPr>
              <a:t>Desacople gradual de módulos atados a stacks legacy.</a:t>
            </a:r>
            <a:endParaRPr lang="en-US" sz="1600" dirty="0"/>
          </a:p>
        </p:txBody>
      </p:sp>
      <p:sp>
        <p:nvSpPr>
          <p:cNvPr id="15" name="Shape 12"/>
          <p:cNvSpPr/>
          <p:nvPr/>
        </p:nvSpPr>
        <p:spPr>
          <a:xfrm>
            <a:off x="822325" y="5051971"/>
            <a:ext cx="0" cy="325090"/>
          </a:xfrm>
          <a:prstGeom prst="line">
            <a:avLst/>
          </a:prstGeom>
          <a:noFill/>
          <a:ln w="19050">
            <a:solidFill>
              <a:srgbClr val="14305A">
                <a:alpha val="16000"/>
              </a:srgbClr>
            </a:solidFill>
            <a:prstDash val="solid"/>
          </a:ln>
        </p:spPr>
      </p:sp>
      <p:sp>
        <p:nvSpPr>
          <p:cNvPr id="16" name="Text 13"/>
          <p:cNvSpPr/>
          <p:nvPr/>
        </p:nvSpPr>
        <p:spPr>
          <a:xfrm>
            <a:off x="1009650" y="5077371"/>
            <a:ext cx="1068063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577D"/>
                </a:solidFill>
                <a:latin typeface="IBM Plex Sans" pitchFamily="34" charset="0"/>
                <a:ea typeface="IBM Plex Sans" pitchFamily="34" charset="-122"/>
                <a:cs typeface="IBM Plex Sans" pitchFamily="34" charset="-120"/>
              </a:rPr>
              <a:t>Productos nuevos autocontenidos — explorar sin pagar el costo de antes.</a:t>
            </a:r>
            <a:endParaRPr lang="en-US" sz="1600" dirty="0"/>
          </a:p>
        </p:txBody>
      </p:sp>
      <p:pic>
        <p:nvPicPr>
          <p:cNvPr id="17"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C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429669"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9DB7D9"/>
                </a:solidFill>
                <a:latin typeface="IBM Plex Sans" pitchFamily="34" charset="0"/>
                <a:ea typeface="IBM Plex Sans" pitchFamily="34" charset="-122"/>
                <a:cs typeface="IBM Plex Sans" pitchFamily="34" charset="-120"/>
              </a:rPr>
              <a:t>ACTO IV · EL MANDATO</a:t>
            </a:r>
            <a:endParaRPr lang="en-US" sz="1200" dirty="0"/>
          </a:p>
        </p:txBody>
      </p:sp>
      <p:sp>
        <p:nvSpPr>
          <p:cNvPr id="4" name="Shape 1"/>
          <p:cNvSpPr/>
          <p:nvPr/>
        </p:nvSpPr>
        <p:spPr>
          <a:xfrm>
            <a:off x="3242469" y="913110"/>
            <a:ext cx="609600" cy="12700"/>
          </a:xfrm>
          <a:prstGeom prst="rect">
            <a:avLst/>
          </a:prstGeom>
          <a:solidFill>
            <a:srgbClr val="9DB7D9">
              <a:alpha val="32000"/>
            </a:srgbClr>
          </a:solidFill>
          <a:ln/>
        </p:spPr>
      </p:sp>
      <p:sp>
        <p:nvSpPr>
          <p:cNvPr id="5" name="Text 2"/>
          <p:cNvSpPr/>
          <p:nvPr>
            <p:ph type="title"/>
          </p:nvPr>
        </p:nvSpPr>
        <p:spPr>
          <a:xfrm>
            <a:off x="812800" y="128012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spc="-75" kern="0" dirty="0">
                <a:solidFill>
                  <a:srgbClr val="EAF2FB"/>
                </a:solidFill>
                <a:latin typeface="Manrope" pitchFamily="34" charset="0"/>
                <a:ea typeface="Manrope" pitchFamily="34" charset="-122"/>
                <a:cs typeface="Manrope" pitchFamily="34" charset="-120"/>
              </a:rPr>
              <a:t>Nuestro compromiso</a:t>
            </a:r>
            <a:endParaRPr lang="en-US" sz="4800" dirty="0"/>
          </a:p>
        </p:txBody>
      </p:sp>
      <p:sp>
        <p:nvSpPr>
          <p:cNvPr id="6" name="Shape 3"/>
          <p:cNvSpPr/>
          <p:nvPr/>
        </p:nvSpPr>
        <p:spPr>
          <a:xfrm>
            <a:off x="812800" y="2754660"/>
            <a:ext cx="10566400" cy="0"/>
          </a:xfrm>
          <a:prstGeom prst="line">
            <a:avLst/>
          </a:prstGeom>
          <a:noFill/>
          <a:ln w="6350">
            <a:solidFill>
              <a:srgbClr val="9DB7D9">
                <a:alpha val="32000"/>
              </a:srgbClr>
            </a:solidFill>
            <a:prstDash val="solid"/>
          </a:ln>
        </p:spPr>
      </p:sp>
      <p:sp>
        <p:nvSpPr>
          <p:cNvPr id="7" name="Text 4"/>
          <p:cNvSpPr/>
          <p:nvPr/>
        </p:nvSpPr>
        <p:spPr>
          <a:xfrm>
            <a:off x="812800" y="2935635"/>
            <a:ext cx="222377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FB2F0"/>
                </a:solidFill>
                <a:latin typeface="Manrope" pitchFamily="34" charset="0"/>
                <a:ea typeface="Manrope" pitchFamily="34" charset="-122"/>
                <a:cs typeface="Manrope" pitchFamily="34" charset="-120"/>
              </a:rPr>
              <a:t>Aprender</a:t>
            </a:r>
            <a:endParaRPr lang="en-US" sz="2400" dirty="0"/>
          </a:p>
        </p:txBody>
      </p:sp>
      <p:sp>
        <p:nvSpPr>
          <p:cNvPr id="8" name="Text 5"/>
          <p:cNvSpPr/>
          <p:nvPr/>
        </p:nvSpPr>
        <p:spPr>
          <a:xfrm>
            <a:off x="3276600" y="3024535"/>
            <a:ext cx="8345678"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AF2FB"/>
                </a:solidFill>
                <a:latin typeface="IBM Plex Sans" pitchFamily="34" charset="0"/>
                <a:ea typeface="IBM Plex Sans" pitchFamily="34" charset="-122"/>
                <a:cs typeface="IBM Plex Sans" pitchFamily="34" charset="-120"/>
              </a:rPr>
              <a:t>a dirigir agentes — cada uno, en su propio contexto.</a:t>
            </a:r>
            <a:endParaRPr lang="en-US" sz="1800" dirty="0"/>
          </a:p>
        </p:txBody>
      </p:sp>
      <p:sp>
        <p:nvSpPr>
          <p:cNvPr id="9" name="Shape 6"/>
          <p:cNvSpPr/>
          <p:nvPr/>
        </p:nvSpPr>
        <p:spPr>
          <a:xfrm>
            <a:off x="812800" y="3543300"/>
            <a:ext cx="10566400" cy="0"/>
          </a:xfrm>
          <a:prstGeom prst="line">
            <a:avLst/>
          </a:prstGeom>
          <a:noFill/>
          <a:ln w="6350">
            <a:solidFill>
              <a:srgbClr val="9DB7D9">
                <a:alpha val="32000"/>
              </a:srgbClr>
            </a:solidFill>
            <a:prstDash val="solid"/>
          </a:ln>
        </p:spPr>
      </p:sp>
      <p:sp>
        <p:nvSpPr>
          <p:cNvPr id="10" name="Text 7"/>
          <p:cNvSpPr/>
          <p:nvPr/>
        </p:nvSpPr>
        <p:spPr>
          <a:xfrm>
            <a:off x="812800" y="3724275"/>
            <a:ext cx="222377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FB2F0"/>
                </a:solidFill>
                <a:latin typeface="Manrope" pitchFamily="34" charset="0"/>
                <a:ea typeface="Manrope" pitchFamily="34" charset="-122"/>
                <a:cs typeface="Manrope" pitchFamily="34" charset="-120"/>
              </a:rPr>
              <a:t>Aplicar</a:t>
            </a:r>
            <a:endParaRPr lang="en-US" sz="2400" dirty="0"/>
          </a:p>
        </p:txBody>
      </p:sp>
      <p:sp>
        <p:nvSpPr>
          <p:cNvPr id="11" name="Text 8"/>
          <p:cNvSpPr/>
          <p:nvPr/>
        </p:nvSpPr>
        <p:spPr>
          <a:xfrm>
            <a:off x="3276600" y="3813175"/>
            <a:ext cx="8345678"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EAF2FB"/>
                </a:solidFill>
                <a:latin typeface="IBM Plex Sans" pitchFamily="34" charset="0"/>
                <a:ea typeface="IBM Plex Sans" pitchFamily="34" charset="-122"/>
                <a:cs typeface="IBM Plex Sans" pitchFamily="34" charset="-120"/>
              </a:rPr>
              <a:t>harness engineering</a:t>
            </a:r>
            <a:r>
              <a:rPr lang="en-US" sz="1800" dirty="0">
                <a:solidFill>
                  <a:srgbClr val="EAF2FB"/>
                </a:solidFill>
                <a:latin typeface="IBM Plex Sans" pitchFamily="34" charset="0"/>
                <a:ea typeface="IBM Plex Sans" pitchFamily="34" charset="-122"/>
                <a:cs typeface="IBM Plex Sans" pitchFamily="34" charset="-120"/>
              </a:rPr>
              <a:t> — el oficio de domar la IA para que produzca trabajo confiable.</a:t>
            </a:r>
            <a:endParaRPr lang="en-US" sz="1800" dirty="0"/>
          </a:p>
        </p:txBody>
      </p:sp>
      <p:sp>
        <p:nvSpPr>
          <p:cNvPr id="12" name="Shape 9"/>
          <p:cNvSpPr/>
          <p:nvPr/>
        </p:nvSpPr>
        <p:spPr>
          <a:xfrm>
            <a:off x="812800" y="4611291"/>
            <a:ext cx="10566400" cy="0"/>
          </a:xfrm>
          <a:prstGeom prst="line">
            <a:avLst/>
          </a:prstGeom>
          <a:noFill/>
          <a:ln w="6350">
            <a:solidFill>
              <a:srgbClr val="9DB7D9">
                <a:alpha val="32000"/>
              </a:srgbClr>
            </a:solidFill>
            <a:prstDash val="solid"/>
          </a:ln>
        </p:spPr>
      </p:sp>
      <p:sp>
        <p:nvSpPr>
          <p:cNvPr id="13" name="Text 10"/>
          <p:cNvSpPr/>
          <p:nvPr/>
        </p:nvSpPr>
        <p:spPr>
          <a:xfrm>
            <a:off x="812800" y="4792266"/>
            <a:ext cx="222377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FB2F0"/>
                </a:solidFill>
                <a:latin typeface="Manrope" pitchFamily="34" charset="0"/>
                <a:ea typeface="Manrope" pitchFamily="34" charset="-122"/>
                <a:cs typeface="Manrope" pitchFamily="34" charset="-120"/>
              </a:rPr>
              <a:t>Formalizar</a:t>
            </a:r>
            <a:endParaRPr lang="en-US" sz="2400" dirty="0"/>
          </a:p>
        </p:txBody>
      </p:sp>
      <p:sp>
        <p:nvSpPr>
          <p:cNvPr id="14" name="Text 11"/>
          <p:cNvSpPr/>
          <p:nvPr/>
        </p:nvSpPr>
        <p:spPr>
          <a:xfrm>
            <a:off x="3276600" y="4881166"/>
            <a:ext cx="8345678"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AF2FB"/>
                </a:solidFill>
                <a:latin typeface="IBM Plex Sans" pitchFamily="34" charset="0"/>
                <a:ea typeface="IBM Plex Sans" pitchFamily="34" charset="-122"/>
                <a:cs typeface="IBM Plex Sans" pitchFamily="34" charset="-120"/>
              </a:rPr>
              <a:t>la capa 3 — documentación viva, ADRs y protocolos que hagan escalable el trabajo con agentes.</a:t>
            </a:r>
            <a:endParaRPr lang="en-US" sz="1800" dirty="0"/>
          </a:p>
        </p:txBody>
      </p:sp>
      <p:pic>
        <p:nvPicPr>
          <p:cNvPr id="15"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885646"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CIERRE</a:t>
            </a:r>
            <a:endParaRPr lang="en-US" sz="1200" dirty="0"/>
          </a:p>
        </p:txBody>
      </p:sp>
      <p:sp>
        <p:nvSpPr>
          <p:cNvPr id="4" name="Shape 1"/>
          <p:cNvSpPr/>
          <p:nvPr/>
        </p:nvSpPr>
        <p:spPr>
          <a:xfrm>
            <a:off x="1703239"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Fuentes · libros y ensayos</a:t>
            </a:r>
            <a:endParaRPr lang="en-US" sz="3600" dirty="0"/>
          </a:p>
        </p:txBody>
      </p:sp>
      <p:sp>
        <p:nvSpPr>
          <p:cNvPr id="6" name="Text 3"/>
          <p:cNvSpPr/>
          <p:nvPr/>
        </p:nvSpPr>
        <p:spPr>
          <a:xfrm>
            <a:off x="812800" y="203701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LIBROS</a:t>
            </a:r>
            <a:endParaRPr lang="en-US" sz="1200" dirty="0"/>
          </a:p>
        </p:txBody>
      </p:sp>
      <p:sp>
        <p:nvSpPr>
          <p:cNvPr id="7" name="Text 4"/>
          <p:cNvSpPr/>
          <p:nvPr/>
        </p:nvSpPr>
        <p:spPr>
          <a:xfrm>
            <a:off x="812800" y="2339231"/>
            <a:ext cx="512775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Gene Kim &amp; Steve Yegge. </a:t>
            </a:r>
            <a:r>
              <a:rPr lang="en-US" sz="1200" i="1" dirty="0">
                <a:solidFill>
                  <a:srgbClr val="3E577D"/>
                </a:solidFill>
                <a:latin typeface="IBM Plex Sans" pitchFamily="34" charset="0"/>
                <a:ea typeface="IBM Plex Sans" pitchFamily="34" charset="-122"/>
                <a:cs typeface="IBM Plex Sans" pitchFamily="34" charset="-120"/>
              </a:rPr>
              <a:t>Vibe Coding: Building Production-Grade Software With GenAI, Chat, Agents, and Beyond</a:t>
            </a:r>
            <a:r>
              <a:rPr lang="en-US" sz="1200" dirty="0">
                <a:solidFill>
                  <a:srgbClr val="3E577D"/>
                </a:solidFill>
                <a:latin typeface="IBM Plex Sans" pitchFamily="34" charset="0"/>
                <a:ea typeface="IBM Plex Sans" pitchFamily="34" charset="-122"/>
                <a:cs typeface="IBM Plex Sans" pitchFamily="34" charset="-120"/>
              </a:rPr>
              <a:t>. IT Revolution, 2025. Prólogo: Dario Amodei.</a:t>
            </a:r>
            <a:endParaRPr lang="en-US" sz="1200" dirty="0"/>
          </a:p>
        </p:txBody>
      </p:sp>
      <p:sp>
        <p:nvSpPr>
          <p:cNvPr id="8" name="Text 5"/>
          <p:cNvSpPr/>
          <p:nvPr/>
        </p:nvSpPr>
        <p:spPr>
          <a:xfrm>
            <a:off x="812800" y="3068092"/>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Fred Brooks. </a:t>
            </a:r>
            <a:r>
              <a:rPr lang="en-US" sz="1200" i="1" dirty="0">
                <a:solidFill>
                  <a:srgbClr val="3E577D"/>
                </a:solidFill>
                <a:latin typeface="IBM Plex Sans" pitchFamily="34" charset="0"/>
                <a:ea typeface="IBM Plex Sans" pitchFamily="34" charset="-122"/>
                <a:cs typeface="IBM Plex Sans" pitchFamily="34" charset="-120"/>
              </a:rPr>
              <a:t>No Silver Bullet — Essence and Accident in Software Engineering</a:t>
            </a:r>
            <a:r>
              <a:rPr lang="en-US" sz="1200" dirty="0">
                <a:solidFill>
                  <a:srgbClr val="3E577D"/>
                </a:solidFill>
                <a:latin typeface="IBM Plex Sans" pitchFamily="34" charset="0"/>
                <a:ea typeface="IBM Plex Sans" pitchFamily="34" charset="-122"/>
                <a:cs typeface="IBM Plex Sans" pitchFamily="34" charset="-120"/>
              </a:rPr>
              <a:t>, 1986. En la 2ª ed. de </a:t>
            </a:r>
            <a:r>
              <a:rPr lang="en-US" sz="1200" i="1" dirty="0">
                <a:solidFill>
                  <a:srgbClr val="3E577D"/>
                </a:solidFill>
                <a:latin typeface="IBM Plex Sans" pitchFamily="34" charset="0"/>
                <a:ea typeface="IBM Plex Sans" pitchFamily="34" charset="-122"/>
                <a:cs typeface="IBM Plex Sans" pitchFamily="34" charset="-120"/>
              </a:rPr>
              <a:t>The Mythical Man-Month</a:t>
            </a:r>
            <a:r>
              <a:rPr lang="en-US" sz="1200" dirty="0">
                <a:solidFill>
                  <a:srgbClr val="3E577D"/>
                </a:solidFill>
                <a:latin typeface="IBM Plex Sans" pitchFamily="34" charset="0"/>
                <a:ea typeface="IBM Plex Sans" pitchFamily="34" charset="-122"/>
                <a:cs typeface="IBM Plex Sans" pitchFamily="34" charset="-120"/>
              </a:rPr>
              <a:t>, 1995.</a:t>
            </a:r>
            <a:endParaRPr lang="en-US" sz="1200" dirty="0"/>
          </a:p>
        </p:txBody>
      </p:sp>
      <p:sp>
        <p:nvSpPr>
          <p:cNvPr id="9" name="Text 6"/>
          <p:cNvSpPr/>
          <p:nvPr/>
        </p:nvSpPr>
        <p:spPr>
          <a:xfrm>
            <a:off x="812800" y="3583632"/>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Gene Kim &amp; Steven Spear. </a:t>
            </a:r>
            <a:r>
              <a:rPr lang="en-US" sz="1200" i="1" dirty="0">
                <a:solidFill>
                  <a:srgbClr val="3E577D"/>
                </a:solidFill>
                <a:latin typeface="IBM Plex Sans" pitchFamily="34" charset="0"/>
                <a:ea typeface="IBM Plex Sans" pitchFamily="34" charset="-122"/>
                <a:cs typeface="IBM Plex Sans" pitchFamily="34" charset="-120"/>
              </a:rPr>
              <a:t>Wiring the Winning Organization</a:t>
            </a:r>
            <a:r>
              <a:rPr lang="en-US" sz="1200" dirty="0">
                <a:solidFill>
                  <a:srgbClr val="3E577D"/>
                </a:solidFill>
                <a:latin typeface="IBM Plex Sans" pitchFamily="34" charset="0"/>
                <a:ea typeface="IBM Plex Sans" pitchFamily="34" charset="-122"/>
                <a:cs typeface="IBM Plex Sans" pitchFamily="34" charset="-120"/>
              </a:rPr>
              <a:t>. IT Revolution, 2023.</a:t>
            </a:r>
            <a:endParaRPr lang="en-US" sz="1200" dirty="0"/>
          </a:p>
        </p:txBody>
      </p:sp>
      <p:sp>
        <p:nvSpPr>
          <p:cNvPr id="10" name="Text 7"/>
          <p:cNvSpPr/>
          <p:nvPr/>
        </p:nvSpPr>
        <p:spPr>
          <a:xfrm>
            <a:off x="812800" y="4099173"/>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David Anderson, Mark McCann, Michael O'Reilly. </a:t>
            </a:r>
            <a:r>
              <a:rPr lang="en-US" sz="1200" i="1" dirty="0">
                <a:solidFill>
                  <a:srgbClr val="3E577D"/>
                </a:solidFill>
                <a:latin typeface="IBM Plex Sans" pitchFamily="34" charset="0"/>
                <a:ea typeface="IBM Plex Sans" pitchFamily="34" charset="-122"/>
                <a:cs typeface="IBM Plex Sans" pitchFamily="34" charset="-120"/>
              </a:rPr>
              <a:t>The Value Flywheel Effect</a:t>
            </a:r>
            <a:r>
              <a:rPr lang="en-US" sz="1200" dirty="0">
                <a:solidFill>
                  <a:srgbClr val="3E577D"/>
                </a:solidFill>
                <a:latin typeface="IBM Plex Sans" pitchFamily="34" charset="0"/>
                <a:ea typeface="IBM Plex Sans" pitchFamily="34" charset="-122"/>
                <a:cs typeface="IBM Plex Sans" pitchFamily="34" charset="-120"/>
              </a:rPr>
              <a:t>. IT Revolution, 2022.</a:t>
            </a:r>
            <a:endParaRPr lang="en-US" sz="1200" dirty="0"/>
          </a:p>
        </p:txBody>
      </p:sp>
      <p:sp>
        <p:nvSpPr>
          <p:cNvPr id="11" name="Text 8"/>
          <p:cNvSpPr/>
          <p:nvPr/>
        </p:nvSpPr>
        <p:spPr>
          <a:xfrm>
            <a:off x="6400800" y="203701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BLOGS Y ENSAYOS</a:t>
            </a:r>
            <a:endParaRPr lang="en-US" sz="1200" dirty="0"/>
          </a:p>
        </p:txBody>
      </p:sp>
      <p:sp>
        <p:nvSpPr>
          <p:cNvPr id="12" name="Text 9"/>
          <p:cNvSpPr/>
          <p:nvPr/>
        </p:nvSpPr>
        <p:spPr>
          <a:xfrm>
            <a:off x="6400800" y="2339231"/>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Andrej Karpathy, X/Twitter, 2 feb 2025 — definición original de vibe coding.</a:t>
            </a:r>
            <a:endParaRPr lang="en-US" sz="1200" dirty="0"/>
          </a:p>
        </p:txBody>
      </p:sp>
      <p:sp>
        <p:nvSpPr>
          <p:cNvPr id="13" name="Text 10"/>
          <p:cNvSpPr/>
          <p:nvPr/>
        </p:nvSpPr>
        <p:spPr>
          <a:xfrm>
            <a:off x="6400800" y="2854771"/>
            <a:ext cx="5127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Steve Yegge, </a:t>
            </a:r>
            <a:r>
              <a:rPr lang="en-US" sz="1200" i="1" dirty="0">
                <a:solidFill>
                  <a:srgbClr val="3E577D"/>
                </a:solidFill>
                <a:latin typeface="IBM Plex Sans" pitchFamily="34" charset="0"/>
                <a:ea typeface="IBM Plex Sans" pitchFamily="34" charset="-122"/>
                <a:cs typeface="IBM Plex Sans" pitchFamily="34" charset="-120"/>
              </a:rPr>
              <a:t>Revenge of the Junior Developer</a:t>
            </a:r>
            <a:r>
              <a:rPr lang="en-US" sz="1200" dirty="0">
                <a:solidFill>
                  <a:srgbClr val="3E577D"/>
                </a:solidFill>
                <a:latin typeface="IBM Plex Sans" pitchFamily="34" charset="0"/>
                <a:ea typeface="IBM Plex Sans" pitchFamily="34" charset="-122"/>
                <a:cs typeface="IBM Plex Sans" pitchFamily="34" charset="-120"/>
              </a:rPr>
              <a:t>, Sourcegraph, mar 2025.</a:t>
            </a:r>
            <a:endParaRPr lang="en-US" sz="1200" dirty="0"/>
          </a:p>
        </p:txBody>
      </p:sp>
      <p:sp>
        <p:nvSpPr>
          <p:cNvPr id="14" name="Text 11"/>
          <p:cNvSpPr/>
          <p:nvPr/>
        </p:nvSpPr>
        <p:spPr>
          <a:xfrm>
            <a:off x="6400800" y="3156992"/>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Steve Yegge, </a:t>
            </a:r>
            <a:r>
              <a:rPr lang="en-US" sz="1200" i="1" dirty="0">
                <a:solidFill>
                  <a:srgbClr val="3E577D"/>
                </a:solidFill>
                <a:latin typeface="IBM Plex Sans" pitchFamily="34" charset="0"/>
                <a:ea typeface="IBM Plex Sans" pitchFamily="34" charset="-122"/>
                <a:cs typeface="IBM Plex Sans" pitchFamily="34" charset="-120"/>
              </a:rPr>
              <a:t>Welcome to Gas Town</a:t>
            </a:r>
            <a:r>
              <a:rPr lang="en-US" sz="1200" dirty="0">
                <a:solidFill>
                  <a:srgbClr val="3E577D"/>
                </a:solidFill>
                <a:latin typeface="IBM Plex Sans" pitchFamily="34" charset="0"/>
                <a:ea typeface="IBM Plex Sans" pitchFamily="34" charset="-122"/>
                <a:cs typeface="IBM Plex Sans" pitchFamily="34" charset="-120"/>
              </a:rPr>
              <a:t> (ene 2026) y </a:t>
            </a:r>
            <a:r>
              <a:rPr lang="en-US" sz="1200" i="1" dirty="0">
                <a:solidFill>
                  <a:srgbClr val="3E577D"/>
                </a:solidFill>
                <a:latin typeface="IBM Plex Sans" pitchFamily="34" charset="0"/>
                <a:ea typeface="IBM Plex Sans" pitchFamily="34" charset="-122"/>
                <a:cs typeface="IBM Plex Sans" pitchFamily="34" charset="-120"/>
              </a:rPr>
              <a:t>The AI Vampire</a:t>
            </a:r>
            <a:r>
              <a:rPr lang="en-US" sz="1200" dirty="0">
                <a:solidFill>
                  <a:srgbClr val="3E577D"/>
                </a:solidFill>
                <a:latin typeface="IBM Plex Sans" pitchFamily="34" charset="0"/>
                <a:ea typeface="IBM Plex Sans" pitchFamily="34" charset="-122"/>
                <a:cs typeface="IBM Plex Sans" pitchFamily="34" charset="-120"/>
              </a:rPr>
              <a:t> (feb 2026), Medium.</a:t>
            </a:r>
            <a:endParaRPr lang="en-US" sz="1200" dirty="0"/>
          </a:p>
        </p:txBody>
      </p:sp>
      <p:sp>
        <p:nvSpPr>
          <p:cNvPr id="15" name="Text 12"/>
          <p:cNvSpPr/>
          <p:nvPr/>
        </p:nvSpPr>
        <p:spPr>
          <a:xfrm>
            <a:off x="6400800" y="3672532"/>
            <a:ext cx="5791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IT Revolution, </a:t>
            </a:r>
            <a:r>
              <a:rPr lang="en-US" sz="1200" i="1" dirty="0">
                <a:solidFill>
                  <a:srgbClr val="3E577D"/>
                </a:solidFill>
                <a:latin typeface="IBM Plex Sans" pitchFamily="34" charset="0"/>
                <a:ea typeface="IBM Plex Sans" pitchFamily="34" charset="-122"/>
                <a:cs typeface="IBM Plex Sans" pitchFamily="34" charset="-120"/>
              </a:rPr>
              <a:t>The Vibe Coding Loop</a:t>
            </a:r>
            <a:r>
              <a:rPr lang="en-US" sz="1200" dirty="0">
                <a:solidFill>
                  <a:srgbClr val="3E577D"/>
                </a:solidFill>
                <a:latin typeface="IBM Plex Sans" pitchFamily="34" charset="0"/>
                <a:ea typeface="IBM Plex Sans" pitchFamily="34" charset="-122"/>
                <a:cs typeface="IBM Plex Sans" pitchFamily="34" charset="-120"/>
              </a:rPr>
              <a:t> y </a:t>
            </a:r>
            <a:r>
              <a:rPr lang="en-US" sz="1200" i="1" dirty="0">
                <a:solidFill>
                  <a:srgbClr val="3E577D"/>
                </a:solidFill>
                <a:latin typeface="IBM Plex Sans" pitchFamily="34" charset="0"/>
                <a:ea typeface="IBM Plex Sans" pitchFamily="34" charset="-122"/>
                <a:cs typeface="IBM Plex Sans" pitchFamily="34" charset="-120"/>
              </a:rPr>
              <a:t>The Three Developer Loops</a:t>
            </a:r>
            <a:r>
              <a:rPr lang="en-US" sz="1200" dirty="0">
                <a:solidFill>
                  <a:srgbClr val="3E577D"/>
                </a:solidFill>
                <a:latin typeface="IBM Plex Sans" pitchFamily="34" charset="0"/>
                <a:ea typeface="IBM Plex Sans" pitchFamily="34" charset="-122"/>
                <a:cs typeface="IBM Plex Sans" pitchFamily="34" charset="-120"/>
              </a:rPr>
              <a:t>, 2025.</a:t>
            </a:r>
            <a:endParaRPr lang="en-US" sz="1200" dirty="0"/>
          </a:p>
        </p:txBody>
      </p:sp>
      <p:pic>
        <p:nvPicPr>
          <p:cNvPr id="16"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AF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885646" cy="23872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5C7192"/>
                </a:solidFill>
                <a:latin typeface="IBM Plex Sans" pitchFamily="34" charset="0"/>
                <a:ea typeface="IBM Plex Sans" pitchFamily="34" charset="-122"/>
                <a:cs typeface="IBM Plex Sans" pitchFamily="34" charset="-120"/>
              </a:rPr>
              <a:t>CIERRE</a:t>
            </a:r>
            <a:endParaRPr lang="en-US" sz="1200" dirty="0"/>
          </a:p>
        </p:txBody>
      </p:sp>
      <p:sp>
        <p:nvSpPr>
          <p:cNvPr id="4" name="Shape 1"/>
          <p:cNvSpPr/>
          <p:nvPr/>
        </p:nvSpPr>
        <p:spPr>
          <a:xfrm>
            <a:off x="1703239" y="913110"/>
            <a:ext cx="609600" cy="12700"/>
          </a:xfrm>
          <a:prstGeom prst="rect">
            <a:avLst/>
          </a:prstGeom>
          <a:solidFill>
            <a:srgbClr val="14305A">
              <a:alpha val="16000"/>
            </a:srgbClr>
          </a:solidFill>
          <a:ln/>
        </p:spPr>
      </p:sp>
      <p:sp>
        <p:nvSpPr>
          <p:cNvPr id="5" name="Text 2"/>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75" kern="0" dirty="0">
                <a:solidFill>
                  <a:srgbClr val="14305A"/>
                </a:solidFill>
                <a:latin typeface="Manrope" pitchFamily="34" charset="0"/>
                <a:ea typeface="Manrope" pitchFamily="34" charset="-122"/>
                <a:cs typeface="Manrope" pitchFamily="34" charset="-120"/>
              </a:rPr>
              <a:t>Fuentes · voces y estudios</a:t>
            </a:r>
            <a:endParaRPr lang="en-US" sz="3600" dirty="0"/>
          </a:p>
        </p:txBody>
      </p:sp>
      <p:sp>
        <p:nvSpPr>
          <p:cNvPr id="6" name="Text 3"/>
          <p:cNvSpPr/>
          <p:nvPr/>
        </p:nvSpPr>
        <p:spPr>
          <a:xfrm>
            <a:off x="812800" y="203701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ENTREVISTAS Y CONFERENCIAS</a:t>
            </a:r>
            <a:endParaRPr lang="en-US" sz="1200" dirty="0"/>
          </a:p>
        </p:txBody>
      </p:sp>
      <p:sp>
        <p:nvSpPr>
          <p:cNvPr id="7" name="Text 4"/>
          <p:cNvSpPr/>
          <p:nvPr/>
        </p:nvSpPr>
        <p:spPr>
          <a:xfrm>
            <a:off x="812800" y="2339231"/>
            <a:ext cx="5127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Dario Amodei, Council on Foreign Relations, 10 mar 2025.</a:t>
            </a:r>
            <a:endParaRPr lang="en-US" sz="1200" dirty="0"/>
          </a:p>
        </p:txBody>
      </p:sp>
      <p:sp>
        <p:nvSpPr>
          <p:cNvPr id="8" name="Text 5"/>
          <p:cNvSpPr/>
          <p:nvPr/>
        </p:nvSpPr>
        <p:spPr>
          <a:xfrm>
            <a:off x="812800" y="2641451"/>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Boris Cherny, </a:t>
            </a:r>
            <a:r>
              <a:rPr lang="en-US" sz="1200" i="1" dirty="0">
                <a:solidFill>
                  <a:srgbClr val="3E577D"/>
                </a:solidFill>
                <a:latin typeface="IBM Plex Sans" pitchFamily="34" charset="0"/>
                <a:ea typeface="IBM Plex Sans" pitchFamily="34" charset="-122"/>
                <a:cs typeface="IBM Plex Sans" pitchFamily="34" charset="-120"/>
              </a:rPr>
              <a:t>Head of Claude Code: What happens after coding is solved</a:t>
            </a:r>
            <a:r>
              <a:rPr lang="en-US" sz="1200" dirty="0">
                <a:solidFill>
                  <a:srgbClr val="3E577D"/>
                </a:solidFill>
                <a:latin typeface="IBM Plex Sans" pitchFamily="34" charset="0"/>
                <a:ea typeface="IBM Plex Sans" pitchFamily="34" charset="-122"/>
                <a:cs typeface="IBM Plex Sans" pitchFamily="34" charset="-120"/>
              </a:rPr>
              <a:t>, Lenny's Podcast, feb 2026 · youtu.be/We7BZVKbCVw</a:t>
            </a:r>
            <a:endParaRPr lang="en-US" sz="1200" dirty="0"/>
          </a:p>
        </p:txBody>
      </p:sp>
      <p:sp>
        <p:nvSpPr>
          <p:cNvPr id="9" name="Text 6"/>
          <p:cNvSpPr/>
          <p:nvPr/>
        </p:nvSpPr>
        <p:spPr>
          <a:xfrm>
            <a:off x="812800" y="3156992"/>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Dr. Erik Meijer — charla en YouTube, 2024 · youtube.com/watch?v=SsJqmV3Wtkg</a:t>
            </a:r>
            <a:endParaRPr lang="en-US" sz="1200" dirty="0"/>
          </a:p>
        </p:txBody>
      </p:sp>
      <p:sp>
        <p:nvSpPr>
          <p:cNvPr id="10" name="Text 7"/>
          <p:cNvSpPr/>
          <p:nvPr/>
        </p:nvSpPr>
        <p:spPr>
          <a:xfrm>
            <a:off x="812800" y="3812232"/>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VOCES CRÍTICAS</a:t>
            </a:r>
            <a:endParaRPr lang="en-US" sz="1200" dirty="0"/>
          </a:p>
        </p:txBody>
      </p:sp>
      <p:sp>
        <p:nvSpPr>
          <p:cNvPr id="11" name="Text 8"/>
          <p:cNvSpPr/>
          <p:nvPr/>
        </p:nvSpPr>
        <p:spPr>
          <a:xfrm>
            <a:off x="812800" y="4114453"/>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Jessie Young et al., </a:t>
            </a:r>
            <a:r>
              <a:rPr lang="en-US" sz="1200" i="1" dirty="0">
                <a:solidFill>
                  <a:srgbClr val="3E577D"/>
                </a:solidFill>
                <a:latin typeface="IBM Plex Sans" pitchFamily="34" charset="0"/>
                <a:ea typeface="IBM Plex Sans" pitchFamily="34" charset="-122"/>
                <a:cs typeface="IBM Plex Sans" pitchFamily="34" charset="-120"/>
              </a:rPr>
              <a:t>No Vibe Coding While I'm On Call</a:t>
            </a:r>
            <a:r>
              <a:rPr lang="en-US" sz="1200" dirty="0">
                <a:solidFill>
                  <a:srgbClr val="3E577D"/>
                </a:solidFill>
                <a:latin typeface="IBM Plex Sans" pitchFamily="34" charset="0"/>
                <a:ea typeface="IBM Plex Sans" pitchFamily="34" charset="-122"/>
                <a:cs typeface="IBM Plex Sans" pitchFamily="34" charset="-120"/>
              </a:rPr>
              <a:t>, IT Revolution — Enterprise Technology Leadership Journal, Fall 2025.</a:t>
            </a:r>
            <a:endParaRPr lang="en-US" sz="1200" dirty="0"/>
          </a:p>
        </p:txBody>
      </p:sp>
      <p:sp>
        <p:nvSpPr>
          <p:cNvPr id="12" name="Text 9"/>
          <p:cNvSpPr/>
          <p:nvPr/>
        </p:nvSpPr>
        <p:spPr>
          <a:xfrm>
            <a:off x="6400800" y="203701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3F8D8D"/>
                </a:solidFill>
                <a:latin typeface="IBM Plex Sans" pitchFamily="34" charset="0"/>
                <a:ea typeface="IBM Plex Sans" pitchFamily="34" charset="-122"/>
                <a:cs typeface="IBM Plex Sans" pitchFamily="34" charset="-120"/>
              </a:rPr>
              <a:t>ESTUDIOS</a:t>
            </a:r>
            <a:endParaRPr lang="en-US" sz="1200" dirty="0"/>
          </a:p>
        </p:txBody>
      </p:sp>
      <p:sp>
        <p:nvSpPr>
          <p:cNvPr id="13" name="Text 10"/>
          <p:cNvSpPr/>
          <p:nvPr/>
        </p:nvSpPr>
        <p:spPr>
          <a:xfrm>
            <a:off x="6400800" y="2339231"/>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DORA / Google Cloud, </a:t>
            </a:r>
            <a:r>
              <a:rPr lang="en-US" sz="1200" i="1" dirty="0">
                <a:solidFill>
                  <a:srgbClr val="3E577D"/>
                </a:solidFill>
                <a:latin typeface="IBM Plex Sans" pitchFamily="34" charset="0"/>
                <a:ea typeface="IBM Plex Sans" pitchFamily="34" charset="-122"/>
                <a:cs typeface="IBM Plex Sans" pitchFamily="34" charset="-120"/>
              </a:rPr>
              <a:t>Accelerate State of DevOps 2024</a:t>
            </a:r>
            <a:r>
              <a:rPr lang="en-US" sz="1200" dirty="0">
                <a:solidFill>
                  <a:srgbClr val="3E577D"/>
                </a:solidFill>
                <a:latin typeface="IBM Plex Sans" pitchFamily="34" charset="0"/>
                <a:ea typeface="IBM Plex Sans" pitchFamily="34" charset="-122"/>
                <a:cs typeface="IBM Plex Sans" pitchFamily="34" charset="-120"/>
              </a:rPr>
              <a:t> — GenAI Anomaly.</a:t>
            </a:r>
            <a:endParaRPr lang="en-US" sz="1200" dirty="0"/>
          </a:p>
        </p:txBody>
      </p:sp>
      <p:sp>
        <p:nvSpPr>
          <p:cNvPr id="14" name="Text 11"/>
          <p:cNvSpPr/>
          <p:nvPr/>
        </p:nvSpPr>
        <p:spPr>
          <a:xfrm>
            <a:off x="6400800" y="2854771"/>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DORA / Google Cloud, </a:t>
            </a:r>
            <a:r>
              <a:rPr lang="en-US" sz="1200" i="1" dirty="0">
                <a:solidFill>
                  <a:srgbClr val="3E577D"/>
                </a:solidFill>
                <a:latin typeface="IBM Plex Sans" pitchFamily="34" charset="0"/>
                <a:ea typeface="IBM Plex Sans" pitchFamily="34" charset="-122"/>
                <a:cs typeface="IBM Plex Sans" pitchFamily="34" charset="-120"/>
              </a:rPr>
              <a:t>Impact of Generative AI in Software Development</a:t>
            </a:r>
            <a:r>
              <a:rPr lang="en-US" sz="1200" dirty="0">
                <a:solidFill>
                  <a:srgbClr val="3E577D"/>
                </a:solidFill>
                <a:latin typeface="IBM Plex Sans" pitchFamily="34" charset="0"/>
                <a:ea typeface="IBM Plex Sans" pitchFamily="34" charset="-122"/>
                <a:cs typeface="IBM Plex Sans" pitchFamily="34" charset="-120"/>
              </a:rPr>
              <a:t>, 2024.</a:t>
            </a:r>
            <a:endParaRPr lang="en-US" sz="1200" dirty="0"/>
          </a:p>
        </p:txBody>
      </p:sp>
      <p:sp>
        <p:nvSpPr>
          <p:cNvPr id="15" name="Text 12"/>
          <p:cNvSpPr/>
          <p:nvPr/>
        </p:nvSpPr>
        <p:spPr>
          <a:xfrm>
            <a:off x="6400800" y="3370312"/>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577D"/>
                </a:solidFill>
                <a:latin typeface="IBM Plex Sans" pitchFamily="34" charset="0"/>
                <a:ea typeface="IBM Plex Sans" pitchFamily="34" charset="-122"/>
                <a:cs typeface="IBM Plex Sans" pitchFamily="34" charset="-120"/>
              </a:rPr>
              <a:t>METR, </a:t>
            </a:r>
            <a:r>
              <a:rPr lang="en-US" sz="1200" i="1" dirty="0">
                <a:solidFill>
                  <a:srgbClr val="3E577D"/>
                </a:solidFill>
                <a:latin typeface="IBM Plex Sans" pitchFamily="34" charset="0"/>
                <a:ea typeface="IBM Plex Sans" pitchFamily="34" charset="-122"/>
                <a:cs typeface="IBM Plex Sans" pitchFamily="34" charset="-120"/>
              </a:rPr>
              <a:t>Measuring the Impact of Early-2025 AI on Experienced Open-Source Developer Productivity</a:t>
            </a:r>
            <a:r>
              <a:rPr lang="en-US" sz="1200" dirty="0">
                <a:solidFill>
                  <a:srgbClr val="3E577D"/>
                </a:solidFill>
                <a:latin typeface="IBM Plex Sans" pitchFamily="34" charset="0"/>
                <a:ea typeface="IBM Plex Sans" pitchFamily="34" charset="-122"/>
                <a:cs typeface="IBM Plex Sans" pitchFamily="34" charset="-120"/>
              </a:rPr>
              <a:t>, jul 2025 · arxiv.org/abs/2507.09089</a:t>
            </a:r>
            <a:endParaRPr lang="en-US" sz="1200" dirty="0"/>
          </a:p>
        </p:txBody>
      </p:sp>
      <p:pic>
        <p:nvPicPr>
          <p:cNvPr id="16" name="Image 1" descr="preencoded.png">    </p:cNvPr>
          <p:cNvPicPr>
            <a:picLocks noChangeAspect="1"/>
          </p:cNvPicPr>
          <p:nvPr/>
        </p:nvPicPr>
        <p:blipFill>
          <a:blip r:embed="rId2">
            <a:alphaModFix amt="50000"/>
          </a:blip>
          <a:srcRect l="0" r="0" t="-676" b="-676"/>
          <a:stretch/>
        </p:blipFill>
        <p:spPr>
          <a:xfrm>
            <a:off x="11480800" y="6223000"/>
            <a:ext cx="254000" cy="254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C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ph type="title"/>
          </p:nvPr>
        </p:nvSpPr>
        <p:spPr>
          <a:xfrm>
            <a:off x="812800" y="2739380"/>
            <a:ext cx="5624830" cy="825500"/>
          </a:xfrm>
          <a:prstGeom prst="rect">
            <a:avLst/>
          </a:prstGeom>
          <a:noFill/>
          <a:ln/>
        </p:spPr>
        <p:txBody>
          <a:bodyPr wrap="square" lIns="0" tIns="0" rIns="0" bIns="0" rtlCol="0" anchor="t">
            <a:normAutofit/>
          </a:bodyPr>
          <a:lstStyle/>
          <a:p>
            <a:pPr algn="l" indent="0" marL="0">
              <a:lnSpc>
                <a:spcPts val="6300"/>
              </a:lnSpc>
              <a:buNone/>
            </a:pPr>
            <a:r>
              <a:rPr lang="en-US" sz="6000" b="1" i="0" spc="-125" kern="0" dirty="0">
                <a:solidFill>
                  <a:srgbClr val="EAF2FB"/>
                </a:solidFill>
                <a:latin typeface="Manrope" pitchFamily="34" charset="0"/>
                <a:ea typeface="Manrope" pitchFamily="34" charset="-122"/>
                <a:cs typeface="Manrope" pitchFamily="34" charset="-120"/>
              </a:rPr>
              <a:t>Gracias</a:t>
            </a:r>
            <a:endParaRPr lang="en-US" sz="6000" dirty="0"/>
          </a:p>
        </p:txBody>
      </p:sp>
      <p:sp>
        <p:nvSpPr>
          <p:cNvPr id="4" name="Text 1"/>
          <p:cNvSpPr/>
          <p:nvPr/>
        </p:nvSpPr>
        <p:spPr>
          <a:xfrm>
            <a:off x="812800" y="3691880"/>
            <a:ext cx="562483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FB2F0"/>
                </a:solidFill>
                <a:latin typeface="Manrope" pitchFamily="34" charset="0"/>
                <a:ea typeface="Manrope" pitchFamily="34" charset="-122"/>
                <a:cs typeface="Manrope" pitchFamily="34" charset="-120"/>
              </a:rPr>
              <a:t>Preguntas</a:t>
            </a:r>
            <a:endParaRPr lang="en-US" sz="2400" dirty="0"/>
          </a:p>
        </p:txBody>
      </p:sp>
      <p:pic>
        <p:nvPicPr>
          <p:cNvPr id="5" name="Image 1" descr="Cosmos">    </p:cNvPr>
          <p:cNvPicPr>
            <a:picLocks noChangeAspect="1"/>
          </p:cNvPicPr>
          <p:nvPr/>
        </p:nvPicPr>
        <p:blipFill>
          <a:blip r:embed="rId2"/>
          <a:srcRect l="0" r="0" t="-676" b="-676"/>
          <a:stretch/>
        </p:blipFill>
        <p:spPr>
          <a:xfrm>
            <a:off x="812800" y="5765800"/>
            <a:ext cx="355600" cy="355600"/>
          </a:xfrm>
          <a:prstGeom prst="rect">
            <a:avLst/>
          </a:prstGeom>
        </p:spPr>
      </p:pic>
      <p:pic>
        <p:nvPicPr>
          <p:cNvPr id="6" name="Image 2" descr="cosmos">    </p:cNvPr>
          <p:cNvPicPr>
            <a:picLocks noChangeAspect="1"/>
          </p:cNvPicPr>
          <p:nvPr/>
        </p:nvPicPr>
        <p:blipFill>
          <a:blip r:embed="rId3"/>
          <a:srcRect l="-3608" r="-3608" t="0" b="0"/>
          <a:stretch/>
        </p:blipFill>
        <p:spPr>
          <a:xfrm>
            <a:off x="1320800" y="5810250"/>
            <a:ext cx="1651000" cy="266700"/>
          </a:xfrm>
          <a:prstGeom prst="rect">
            <a:avLst/>
          </a:prstGeom>
        </p:spPr>
      </p:pic>
    </p:spTree>
  </p:cSld>
  <p:clrMapOvr>
    <a:masterClrMapping/>
  </p:clrMapOvr>
</p:sld>
</file>

<file path=ppt/theme/theme1.xml><?xml version="1.0" encoding="utf-8"?>
<a:theme xmlns:a="http://schemas.openxmlformats.org/drawingml/2006/main" name="Codificación agéntica">
  <a:themeElements>
    <a:clrScheme name="Codificación agéntica">
      <a:dk1>
        <a:srgbClr val="141413"/>
      </a:dk1>
      <a:lt1>
        <a:srgbClr val="F6FAFD"/>
      </a:lt1>
      <a:dk2>
        <a:srgbClr val="4D4E4E"/>
      </a:dk2>
      <a:lt2>
        <a:srgbClr val="DFE3E6"/>
      </a:lt2>
      <a:accent1>
        <a:srgbClr val="3E577D"/>
      </a:accent1>
      <a:accent2>
        <a:srgbClr val="14305A"/>
      </a:accent2>
      <a:accent3>
        <a:srgbClr val="5C7192"/>
      </a:accent3>
      <a:accent4>
        <a:srgbClr val="3F8D8D"/>
      </a:accent4>
      <a:accent5>
        <a:srgbClr val="1050B0"/>
      </a:accent5>
      <a:accent6>
        <a:srgbClr val="9DB7D9"/>
      </a:accent6>
      <a:hlink>
        <a:srgbClr val="0563C1"/>
      </a:hlink>
      <a:folHlink>
        <a:srgbClr val="954F72"/>
      </a:folHlink>
    </a:clrScheme>
    <a:fontScheme name="Codificación agéntica">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Codificación agéntica</dc:title>
  <dc:subject/>
  <dc:creator/>
  <cp:lastModifiedBy/>
  <cp:revision>1</cp:revision>
  <dcterms:created xsi:type="dcterms:W3CDTF">2026-10-03T15:42:24Z</dcterms:created>
  <dcterms:modified xsi:type="dcterms:W3CDTF">2026-10-03T15:42:24Z</dcterms:modified>
</cp:coreProperties>
</file>